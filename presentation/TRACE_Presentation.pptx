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5806440"/>
            <a:ext cx="12024360" cy="54864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594360"/>
            <a:ext cx="11274552" cy="3749039"/>
          </a:xfrm>
          <a:prstGeom prst="rect">
            <a:avLst/>
          </a:prstGeom>
          <a:solidFill>
            <a:srgbClr val="1B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94360"/>
            <a:ext cx="73152" cy="3749039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6858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TRACE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A726"/>
                </a:solidFill>
              </a:rPr>
              <a:t>Tiger Recognition And Census Engine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2423160"/>
            <a:ext cx="5943600" cy="4572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54203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4DE"/>
                </a:solidFill>
              </a:rPr>
              <a:t>AI-Powered Wildlife Census  |  India-Wide Tiger Enumeration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99923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897B0"/>
                </a:solidFill>
              </a:rPr>
              <a:t>YOLOv8  +  ResNet50  +  Cosine Similarity  +  Grad-CAM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" y="5870448"/>
            <a:ext cx="12024360" cy="987552"/>
          </a:xfrm>
          <a:prstGeom prst="rect">
            <a:avLst/>
          </a:prstGeom>
          <a:solidFill>
            <a:srgbClr val="07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92531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</a:rPr>
              <a:t>EPAIB Batch 05   |   Group 4   |   IIM Lucknow</a:t>
            </a:r>
          </a:p>
          <a:p>
            <a:pPr algn="l"/>
            <a:r>
              <a:rPr sz="1300" b="0">
                <a:solidFill>
                  <a:srgbClr val="B0C4DE"/>
                </a:solidFill>
              </a:rPr>
              <a:t>Faculty Supervisor: Dr. Sowmya Subramaniam          Submission: June 10,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Problem  —  At National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CAF9"/>
                </a:solidFill>
              </a:rPr>
              <a:t>India has 50+ tiger reserves  |  ~3,500 wild tigers  |  15,000+ camera traps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EPAIB Batch 05  |  Group 4  |  IIM Lucknow  |  TRACE v5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143000"/>
            <a:ext cx="557784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143000"/>
            <a:ext cx="64008" cy="51663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344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2B55"/>
                </a:solidFill>
              </a:rPr>
              <a:t>Manual Review Is Broken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691640"/>
            <a:ext cx="52578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Camera traps generate 4.5M images/day across India</a:t>
            </a:r>
          </a:p>
          <a:p>
            <a:pPr algn="l"/>
            <a:r>
              <a:rPr sz="1300" b="0">
                <a:solidFill>
                  <a:srgbClr val="555555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555555"/>
                </a:solidFill>
              </a:rPr>
              <a:t>Rangers review images manually — takes 3 years for 1TB</a:t>
            </a:r>
          </a:p>
          <a:p>
            <a:pPr algn="l"/>
            <a:r>
              <a:rPr sz="1300" b="0">
                <a:solidFill>
                  <a:srgbClr val="555555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555555"/>
                </a:solidFill>
              </a:rPr>
              <a:t>Human fatigue causes tigers to be missed</a:t>
            </a:r>
          </a:p>
          <a:p>
            <a:pPr algn="l"/>
            <a:r>
              <a:rPr sz="1300" b="0">
                <a:solidFill>
                  <a:srgbClr val="555555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555555"/>
                </a:solidFill>
              </a:rPr>
              <a:t>Same tiger in 10 images is counted as 10 — not 1</a:t>
            </a:r>
          </a:p>
          <a:p>
            <a:pPr algn="l"/>
            <a:r>
              <a:rPr sz="1300" b="0">
                <a:solidFill>
                  <a:srgbClr val="555555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555555"/>
                </a:solidFill>
              </a:rPr>
              <a:t>No real-time alerts for poaching or distress</a:t>
            </a:r>
          </a:p>
          <a:p>
            <a:pPr algn="l"/>
            <a:r>
              <a:rPr sz="1300" b="0">
                <a:solidFill>
                  <a:srgbClr val="555555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555555"/>
                </a:solidFill>
              </a:rPr>
              <a:t>Result: National Tiger Census is delayed and inaccurate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143000"/>
            <a:ext cx="5577840" cy="51663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143000"/>
            <a:ext cx="64008" cy="516636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2344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The Scale of the Problem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1737360"/>
            <a:ext cx="1005840" cy="384048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1773936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A726"/>
                </a:solidFill>
              </a:rPr>
              <a:t>50+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1810512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Tiger reserves across India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2267712"/>
            <a:ext cx="1005840" cy="384048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2304288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A726"/>
                </a:solidFill>
              </a:rPr>
              <a:t>~3,500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2340864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Wild tigers — an endangered species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6520" y="2798063"/>
            <a:ext cx="1005840" cy="384048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2834639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A726"/>
                </a:solidFill>
              </a:rPr>
              <a:t>15,000+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2871215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Camera trap devices deployed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20" y="3328415"/>
            <a:ext cx="1005840" cy="384048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2" y="3364991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A726"/>
                </a:solidFill>
              </a:rPr>
              <a:t>4.5M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401568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Images generated per day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46520" y="3858768"/>
            <a:ext cx="1005840" cy="384048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3895344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A726"/>
                </a:solidFill>
              </a:rPr>
              <a:t>1 TB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3931920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Historical data, West Bengal alone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46520" y="4389120"/>
            <a:ext cx="1005840" cy="384048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73952" y="4425696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A726"/>
                </a:solidFill>
              </a:rPr>
              <a:t>3 years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4462272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Time to manually review 1TB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46520" y="4919471"/>
            <a:ext cx="1005840" cy="384048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3952" y="4956047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A726"/>
                </a:solidFill>
              </a:rPr>
              <a:t>7.4 hrs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4992623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TRACE processing time for same data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46520" y="5449823"/>
            <a:ext cx="1005840" cy="384048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73952" y="5486399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A726"/>
                </a:solidFill>
              </a:rPr>
              <a:t>92%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5522975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Effort reduction with TRACE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Camera Trap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CAF9"/>
                </a:solidFill>
              </a:rPr>
              <a:t>Why raw images cannot go directly into a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EPAIB Batch 05  |  Group 4  |  IIM Lucknow  |  TRACE v5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143000"/>
            <a:ext cx="5577840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143000"/>
            <a:ext cx="5577840" cy="38404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19786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Image Quality Issues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00200"/>
            <a:ext cx="5303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  Motion blur — fast-moving tigers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  Overexposure — IR flash whiteout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  Underexposure — dense canopy blackout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  Fog, rain, monsoon haze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  Low-contrast night shots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79" y="1143000"/>
            <a:ext cx="5577840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79" y="1143000"/>
            <a:ext cx="557784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19786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Detection Complexity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600200"/>
            <a:ext cx="5303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  Tiger + its shadow — don't count shadow as second tiger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  Multiple tigers in one frame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  Partial body at image corners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  Camouflage — stripes blend with grass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  COCO has no tiger class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840480"/>
            <a:ext cx="5577840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3840480"/>
            <a:ext cx="5577840" cy="384048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89534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Identity Problem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297680"/>
            <a:ext cx="5303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  Same tiger in 10 images = 1 individual, not 10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  Must distinguish Tiger_003 from Tiger_007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  No labelled identity ground truth data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  Day/night images of same tiger look different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  Partial body sightings corrupt identity DB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79" y="3840480"/>
            <a:ext cx="5577840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79" y="3840480"/>
            <a:ext cx="5577840" cy="38404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389534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Scale &amp; Deployment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4297680"/>
            <a:ext cx="5303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  4.5M images/day — cannot run heavy models on every image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  Rangers need results before patrol shift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  Works in field: no internet, no GPU required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  Must run on local hardware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  Results must be explainable to non-technical staff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Our Solution  —  3-Model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CAF9"/>
                </a:solidFill>
              </a:rPr>
              <a:t>Each model solves one well-defined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EPAIB Batch 05  |  Group 4  |  IIM Lucknow  |  TRACE v5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143000"/>
            <a:ext cx="370332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143000"/>
            <a:ext cx="3703320" cy="4572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117043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MODEL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188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Image Triage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66420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65100"/>
                </a:solidFill>
              </a:rPr>
              <a:t>Rule-Based  |  OpenCV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" y="2011680"/>
            <a:ext cx="3474720" cy="2743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" y="2084831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  Blur detection (Laplacian variance)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  Overexposure / Underexposure check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  IR/Night grayscale detection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  Shadow vs tiger pre-filter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  Output: PASS / SKIP + reason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59" y="1143000"/>
            <a:ext cx="370332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51959" y="1143000"/>
            <a:ext cx="3703320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61688" y="117043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MODEL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19" y="1188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Detection + Identity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1688" y="166420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D2B55"/>
                </a:solidFill>
              </a:rPr>
              <a:t>YOLOv8n  +  ResNet50  +  Cosine Similarity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61688" y="2011680"/>
            <a:ext cx="3474720" cy="2743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61688" y="2084831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  YOLOv8n: detect all animals in frame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  Filter: COCO proxy classes {15,16,17,24}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  ResNet50: 2048-dim stripe fingerprint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  Cosine similarity: match to identity DB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  Output: Tiger_ID  |  New / Returning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3879" y="1143000"/>
            <a:ext cx="370332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83879" y="1143000"/>
            <a:ext cx="3703320" cy="45720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93607" y="117043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MODEL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1188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Tiger Classification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3607" y="166420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4F8A"/>
                </a:solidFill>
              </a:rPr>
              <a:t>HSV Analysis  |  OpenCV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93607" y="2011680"/>
            <a:ext cx="3474720" cy="2743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93607" y="2084831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  Colour morph: Orange / White / Golden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  Black (pseudo-melanistic) / Snow White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  Visibility: Full_Body / Partial_Body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  Corner trace detection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  Output: Morph label + visibility tier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41648" y="3474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65100"/>
                </a:solidFill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73568" y="3474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65100"/>
                </a:solidFill>
              </a:rPr>
              <a:t>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Pipeline Flow  —  Image to Census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CAF9"/>
                </a:solidFill>
              </a:rPr>
              <a:t>Every image passes through 5 ordered phases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EPAIB Batch 05  |  Group 4  |  IIM Lucknow  |  TRACE v5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214884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2148840" cy="43891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216152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463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5100"/>
                </a:solidFill>
              </a:rPr>
              <a:t>Image Triage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883664"/>
            <a:ext cx="1938528" cy="2743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956816"/>
            <a:ext cx="193852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Blur? Overexposed?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Underexposed? IR Night?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041648"/>
            <a:ext cx="1938528" cy="27432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114800"/>
            <a:ext cx="1938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5100"/>
                </a:solidFill>
              </a:rPr>
              <a:t>Output: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425696"/>
            <a:ext cx="193852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15% rejected here</a:t>
            </a:r>
          </a:p>
          <a:p>
            <a:pPr algn="l"/>
            <a:r>
              <a:rPr sz="1100" b="0">
                <a:solidFill>
                  <a:srgbClr val="555555"/>
                </a:solidFill>
              </a:rPr>
              <a:t>before any ML runs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50591" y="3474720"/>
            <a:ext cx="18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65100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06039" y="1188720"/>
            <a:ext cx="214884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06039" y="1188720"/>
            <a:ext cx="2148840" cy="438912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97479" y="1216152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Phase 2a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79" y="1463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4F8A"/>
                </a:solidFill>
              </a:rPr>
              <a:t>Preprocessing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97479" y="1883664"/>
            <a:ext cx="1938528" cy="27432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97479" y="1956816"/>
            <a:ext cx="193852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CLAHE contrast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Dark Channel Prior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dehazing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97479" y="4041648"/>
            <a:ext cx="1938528" cy="27432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97479" y="4114800"/>
            <a:ext cx="1938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4F8A"/>
                </a:solidFill>
              </a:rPr>
              <a:t>Output: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79" y="4425696"/>
            <a:ext cx="193852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Fixes fog, rain,</a:t>
            </a:r>
          </a:p>
          <a:p>
            <a:pPr algn="l"/>
            <a:r>
              <a:rPr sz="1100" b="0">
                <a:solidFill>
                  <a:srgbClr val="555555"/>
                </a:solidFill>
              </a:rPr>
              <a:t>low-light images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82312" y="3474720"/>
            <a:ext cx="18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65100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37759" y="1188720"/>
            <a:ext cx="214884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937759" y="1188720"/>
            <a:ext cx="2148840" cy="43891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199" y="1216152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Phase 2b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199" y="1463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YOLO Detection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199" y="1883664"/>
            <a:ext cx="1938528" cy="274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199" y="1956816"/>
            <a:ext cx="193852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YOLOv8n detects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animals in frame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Proxy classes filter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199" y="4041648"/>
            <a:ext cx="1938528" cy="27432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199" y="4114800"/>
            <a:ext cx="1938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B55"/>
                </a:solidFill>
              </a:rPr>
              <a:t>Output: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199" y="4425696"/>
            <a:ext cx="193852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Bounding boxes</a:t>
            </a:r>
          </a:p>
          <a:p>
            <a:pPr algn="l"/>
            <a:r>
              <a:rPr sz="1100" b="0">
                <a:solidFill>
                  <a:srgbClr val="555555"/>
                </a:solidFill>
              </a:rPr>
              <a:t>+ confidence scores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14031" y="3474720"/>
            <a:ext cx="18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65100"/>
                </a:solidFill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69479" y="1188720"/>
            <a:ext cx="214884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269479" y="1188720"/>
            <a:ext cx="2148840" cy="438912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60919" y="1216152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Phase 2c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60919" y="1463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148C"/>
                </a:solidFill>
              </a:rPr>
              <a:t>Identity Match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60919" y="1883664"/>
            <a:ext cx="1938528" cy="27432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60919" y="1956816"/>
            <a:ext cx="193852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ResNet50 extracts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2048-dim fingerprint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Cosine similarity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60919" y="4041648"/>
            <a:ext cx="1938528" cy="27432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60919" y="4114800"/>
            <a:ext cx="1938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148C"/>
                </a:solidFill>
              </a:rPr>
              <a:t>Output: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60919" y="4425696"/>
            <a:ext cx="193852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Tiger_001... Tiger_013</a:t>
            </a:r>
          </a:p>
          <a:p>
            <a:pPr algn="l"/>
            <a:r>
              <a:rPr sz="1100" b="0">
                <a:solidFill>
                  <a:srgbClr val="555555"/>
                </a:solidFill>
              </a:rPr>
              <a:t>New vs Returning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45751" y="3474720"/>
            <a:ext cx="18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65100"/>
                </a:solidFill>
              </a:rPr>
              <a:t>→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01200" y="1188720"/>
            <a:ext cx="214884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601200" y="1188720"/>
            <a:ext cx="2148840" cy="43891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216152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Phase 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92640" y="1463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</a:rPr>
              <a:t>Classification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92640" y="1883664"/>
            <a:ext cx="1938528" cy="2743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92640" y="1956816"/>
            <a:ext cx="193852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HSV colour analysis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Morph classification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Visibility tier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92640" y="4041648"/>
            <a:ext cx="1938528" cy="27432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92640" y="4114800"/>
            <a:ext cx="1938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5E20"/>
                </a:solidFill>
              </a:rPr>
              <a:t>Output: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92640" y="4425696"/>
            <a:ext cx="193852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Orange / White /</a:t>
            </a:r>
          </a:p>
          <a:p>
            <a:pPr algn="l"/>
            <a:r>
              <a:rPr sz="1100" b="0">
                <a:solidFill>
                  <a:srgbClr val="555555"/>
                </a:solidFill>
              </a:rPr>
              <a:t>Golden / Black /</a:t>
            </a:r>
          </a:p>
          <a:p>
            <a:pPr algn="l"/>
            <a:r>
              <a:rPr sz="1100" b="0">
                <a:solidFill>
                  <a:srgbClr val="555555"/>
                </a:solidFill>
              </a:rPr>
              <a:t>Snow White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6446520"/>
            <a:ext cx="11640312" cy="5486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Why These Models  —  Choices &amp; Alternatives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CAF9"/>
                </a:solidFill>
              </a:rPr>
              <a:t>Every decision was deliberate. Here is what we considered and why we chose what we chose.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EPAIB Batch 05  |  Group 4  |  IIM Lucknow  |  TRACE v5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11640312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170432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117043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Chosen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170432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Rejected &amp; Why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1170432"/>
            <a:ext cx="3063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Why It Helped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572768"/>
            <a:ext cx="11640312" cy="786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1627632"/>
            <a:ext cx="1920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B55"/>
                </a:solidFill>
              </a:rPr>
              <a:t>Object
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1627632"/>
            <a:ext cx="22402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5E20"/>
                </a:solidFill>
              </a:rPr>
              <a:t>YOLOv8n
(pretrained COCO)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1627632"/>
            <a:ext cx="4069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Faster R-CNN — 2-stage, 5fps (too slow at 1TB scale)
SSD — lower accuracy on small/partial animals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627632"/>
            <a:ext cx="30175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2B55"/>
                </a:solidFill>
              </a:rPr>
              <a:t>130fps. Real-time capable. Multi-instance by default.
One forward pass detects all tigers in frame.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377440"/>
            <a:ext cx="11640312" cy="786384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2432304"/>
            <a:ext cx="1920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B55"/>
                </a:solidFill>
              </a:rPr>
              <a:t>Feature
Extraction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2432304"/>
            <a:ext cx="22402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5E20"/>
                </a:solidFill>
              </a:rPr>
              <a:t>ResNet50
(2048-dim vector)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2432304"/>
            <a:ext cx="4069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VGG16 — 5x more params, no skip connections
ResNet18 — 512-dim too low for stripe discrimination
EfficientNetB3 — needs fine-tuning, no identity labels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432304"/>
            <a:ext cx="30175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2B55"/>
                </a:solidFill>
              </a:rPr>
              <a:t>Skip connections prevent vanishing gradient.
2048-dim captures fine stripe detail.
Pretrained on 1.2M ImageNet images.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182112"/>
            <a:ext cx="11640312" cy="786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3236976"/>
            <a:ext cx="1920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B55"/>
                </a:solidFill>
              </a:rPr>
              <a:t>Similarity
Metric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3236976"/>
            <a:ext cx="22402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5E20"/>
                </a:solidFill>
              </a:rPr>
              <a:t>Cosine
Similarity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3236976"/>
            <a:ext cx="4069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Euclidean distance — scale-sensitive, fails across
  day/night lighting (same tiger, different brightness)
Siamese network — needs positive/negative tiger pairs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236976"/>
            <a:ext cx="30175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2B55"/>
                </a:solidFill>
              </a:rPr>
              <a:t>Angle-based, not magnitude-based.
Same stripe pattern = same direction in embedding space
regardless of day/night brightness scale.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986784"/>
            <a:ext cx="11640312" cy="786384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4041648"/>
            <a:ext cx="1920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B55"/>
                </a:solidFill>
              </a:rPr>
              <a:t>Contrast
Enhancement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4041648"/>
            <a:ext cx="22402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5E20"/>
                </a:solidFill>
              </a:rPr>
              <a:t>CLAHE on
LAB L-channel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4041648"/>
            <a:ext cx="4069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PIL brightness boost (Colab) — linear, amplifies noise
Standard HE — global, over-brightens background,
  washes out tiger stripe detail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4041648"/>
            <a:ext cx="30175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2B55"/>
                </a:solidFill>
              </a:rPr>
              <a:t>Adaptive per 8x8 tile. Enhances tiger body locally.
Applied only to L channel — preserves colour integrity
for morph classification.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791456"/>
            <a:ext cx="11640312" cy="786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4846320"/>
            <a:ext cx="1920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B55"/>
                </a:solidFill>
              </a:rPr>
              <a:t>Dehazing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0" y="4846320"/>
            <a:ext cx="22402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5E20"/>
                </a:solidFill>
              </a:rPr>
              <a:t>Dark Channel
Prior (He 2010)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17720" y="4846320"/>
            <a:ext cx="4069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Learned networks (AOD-Net) — need paired training data
Skipping it — Sundarbans monsoon = severe haze scatter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0" y="4846320"/>
            <a:ext cx="30175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2B55"/>
                </a:solidFill>
              </a:rPr>
              <a:t>Zero training data required. Physics-based.
Best Paper, IEEE CVPR 2009.
Restores tiger visibility in fog/rain conditions.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5596128"/>
            <a:ext cx="11640312" cy="786384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5650992"/>
            <a:ext cx="1920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B55"/>
                </a:solidFill>
              </a:rPr>
              <a:t>Image
Crop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86000" y="5650992"/>
            <a:ext cx="22402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5E20"/>
                </a:solidFill>
              </a:rPr>
              <a:t>CenterCrop(224)
not Resize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17720" y="5650992"/>
            <a:ext cx="4069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Resize(224,224) — squashes aspect ratio, distorts stripes.
Distorted stripes = false identity mismatch at 0.83 threshold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40" y="5650992"/>
            <a:ext cx="30175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2B55"/>
                </a:solidFill>
              </a:rPr>
              <a:t>Preserves tiger proportions.
Stripe pattern geometry intact.
Matches ImageNet pretraining convention.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Preprocessing  —  CLAHE + Dark Channel Prior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CAF9"/>
                </a:solidFill>
              </a:rPr>
              <a:t>Camera trap images need enhancement before any model can work on them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EPAIB Batch 05  |  Group 4  |  IIM Lucknow  |  TRACE v5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553212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143000"/>
            <a:ext cx="64008" cy="52120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20700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2B55"/>
                </a:solidFill>
              </a:rPr>
              <a:t>CLAHE — Contrast Enhancement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664208"/>
            <a:ext cx="5212080" cy="4462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Problem:  Night camera trap images — tiger body dark,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          background overexposed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Standard HE applies one global contrast stretch.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Tiger stripes get washed out. Unacceptable.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CLAHE (Contrast Limited Adaptive HE):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  Divides image into 8 x 8 tiles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  Equalises each tile independently (local, not global)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  clipLimit = 2.0 — caps noise amplification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Applied ONLY to L channel of LAB colour space.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  L = luminance (brightness)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  A, B = colour channels — left untouched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Why LAB not BGR?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  Orange stripe colour is in A channel.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  If CLAHE applied to BGR, colour artefacts corrupt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  morph classification downstream.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08192" y="1143000"/>
            <a:ext cx="5760720" cy="52120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08192" y="1143000"/>
            <a:ext cx="64008" cy="521208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20700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Dark Channel Prior Dehazing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664208"/>
            <a:ext cx="5394960" cy="4462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</a:rPr>
              <a:t>Problem:  Sundarbans monsoon — fog, rain, haze scatter</a:t>
            </a:r>
          </a:p>
          <a:p>
            <a:pPr algn="l"/>
            <a:r>
              <a:rPr sz="1200" b="0">
                <a:solidFill>
                  <a:srgbClr val="B0C4DE"/>
                </a:solidFill>
              </a:rPr>
              <a:t>          makes tigers invisible to YOLO</a:t>
            </a:r>
          </a:p>
          <a:p>
            <a:pPr algn="l"/>
            <a:r>
              <a:rPr sz="1200" b="0">
                <a:solidFill>
                  <a:srgbClr val="B0C4DE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B0C4DE"/>
                </a:solidFill>
              </a:rPr>
              <a:t>He et al. (IEEE CVPR 2009) — Best Paper Award</a:t>
            </a:r>
          </a:p>
          <a:p>
            <a:pPr algn="l"/>
            <a:r>
              <a:rPr sz="1200" b="0">
                <a:solidFill>
                  <a:srgbClr val="B0C4DE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B0C4DE"/>
                </a:solidFill>
              </a:rPr>
              <a:t>Physics of haze:</a:t>
            </a:r>
          </a:p>
          <a:p>
            <a:pPr algn="l"/>
            <a:r>
              <a:rPr sz="1200" b="0">
                <a:solidFill>
                  <a:srgbClr val="B0C4DE"/>
                </a:solidFill>
              </a:rPr>
              <a:t>  I(x) = J(x).t(x) + A.(1 - t(x))</a:t>
            </a:r>
          </a:p>
          <a:p>
            <a:pPr algn="l"/>
            <a:r>
              <a:rPr sz="1200" b="0">
                <a:solidFill>
                  <a:srgbClr val="B0C4DE"/>
                </a:solidFill>
              </a:rPr>
              <a:t>  I = hazy image   J = clean scene (we want this)</a:t>
            </a:r>
          </a:p>
          <a:p>
            <a:pPr algn="l"/>
            <a:r>
              <a:rPr sz="1200" b="0">
                <a:solidFill>
                  <a:srgbClr val="B0C4DE"/>
                </a:solidFill>
              </a:rPr>
              <a:t>  t = transmission  A = atmospheric light</a:t>
            </a:r>
          </a:p>
          <a:p>
            <a:pPr algn="l"/>
            <a:r>
              <a:rPr sz="1200" b="0">
                <a:solidFill>
                  <a:srgbClr val="B0C4DE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B0C4DE"/>
                </a:solidFill>
              </a:rPr>
              <a:t>Algorithm:</a:t>
            </a:r>
          </a:p>
          <a:p>
            <a:pPr algn="l"/>
            <a:r>
              <a:rPr sz="1200" b="0">
                <a:solidFill>
                  <a:srgbClr val="B0C4DE"/>
                </a:solidFill>
              </a:rPr>
              <a:t>  1. Dark channel = min pixel across R,G,B in patch</a:t>
            </a:r>
          </a:p>
          <a:p>
            <a:pPr algn="l"/>
            <a:r>
              <a:rPr sz="1200" b="0">
                <a:solidFill>
                  <a:srgbClr val="B0C4DE"/>
                </a:solidFill>
              </a:rPr>
              <a:t>  2. A = atmospheric light from brightest 0.1% pixels</a:t>
            </a:r>
          </a:p>
          <a:p>
            <a:pPr algn="l"/>
            <a:r>
              <a:rPr sz="1200" b="0">
                <a:solidFill>
                  <a:srgbClr val="B0C4DE"/>
                </a:solidFill>
              </a:rPr>
              <a:t>  3. t = 1 - 0.95 x dark_norm  (removes 95% of haze)</a:t>
            </a:r>
          </a:p>
          <a:p>
            <a:pPr algn="l"/>
            <a:r>
              <a:rPr sz="1200" b="0">
                <a:solidFill>
                  <a:srgbClr val="B0C4DE"/>
                </a:solidFill>
              </a:rPr>
              <a:t>  4. J = (I - A) / max(t, 0.1) + A</a:t>
            </a:r>
          </a:p>
          <a:p>
            <a:pPr algn="l"/>
            <a:r>
              <a:rPr sz="1200" b="0">
                <a:solidFill>
                  <a:srgbClr val="B0C4DE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B0C4DE"/>
                </a:solidFill>
              </a:rPr>
              <a:t>Why not a learned dehazing network?</a:t>
            </a:r>
          </a:p>
          <a:p>
            <a:pPr algn="l"/>
            <a:r>
              <a:rPr sz="1200" b="0">
                <a:solidFill>
                  <a:srgbClr val="B0C4DE"/>
                </a:solidFill>
              </a:rPr>
              <a:t>  Needs haze/clean paired training images.</a:t>
            </a:r>
          </a:p>
          <a:p>
            <a:pPr algn="l"/>
            <a:r>
              <a:rPr sz="1200" b="0">
                <a:solidFill>
                  <a:srgbClr val="B0C4DE"/>
                </a:solidFill>
              </a:rPr>
              <a:t>  DCP works with zero training data. Physics-based.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Individual Tiger Identity  —  The Census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CAF9"/>
                </a:solidFill>
              </a:rPr>
              <a:t>Same tiger in 10 images = 1 individual, not 10  |  ResNet50 + Cosine Similarity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EPAIB Batch 05  |  Group 4  |  IIM Lucknow  |  TRACE v5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143000"/>
            <a:ext cx="2606040" cy="3108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143000"/>
            <a:ext cx="2606040" cy="4114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1170432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1417320"/>
            <a:ext cx="2359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5100"/>
                </a:solidFill>
              </a:rPr>
              <a:t>YOLO Crop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975104"/>
            <a:ext cx="2359152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Bounding box</a:t>
            </a:r>
          </a:p>
          <a:p>
            <a:pPr algn="l"/>
            <a:r>
              <a:rPr sz="1100" b="0">
                <a:solidFill>
                  <a:srgbClr val="555555"/>
                </a:solidFill>
              </a:rPr>
              <a:t>extracted from</a:t>
            </a:r>
          </a:p>
          <a:p>
            <a:pPr algn="l"/>
            <a:r>
              <a:rPr sz="1100" b="0">
                <a:solidFill>
                  <a:srgbClr val="555555"/>
                </a:solidFill>
              </a:rPr>
              <a:t>preprocessed image</a:t>
            </a:r>
          </a:p>
          <a:p>
            <a:pPr algn="l"/>
            <a:r>
              <a:rPr sz="1100" b="0">
                <a:solidFill>
                  <a:srgbClr val="555555"/>
                </a:solidFill>
              </a:rPr>
              <a:t>+ 15px padding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53512" y="2377440"/>
            <a:ext cx="201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65100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54680" y="1143000"/>
            <a:ext cx="2606040" cy="3108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54680" y="1143000"/>
            <a:ext cx="2606040" cy="4114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64408" y="1170432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64408" y="1417320"/>
            <a:ext cx="2359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ResNet50
Extraction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64408" y="1975104"/>
            <a:ext cx="2359152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Classification head</a:t>
            </a:r>
          </a:p>
          <a:p>
            <a:pPr algn="l"/>
            <a:r>
              <a:rPr sz="1100" b="0">
                <a:solidFill>
                  <a:srgbClr val="555555"/>
                </a:solidFill>
              </a:rPr>
              <a:t>removed. Keep</a:t>
            </a:r>
          </a:p>
          <a:p>
            <a:pPr algn="l"/>
            <a:r>
              <a:rPr sz="1100" b="0">
                <a:solidFill>
                  <a:srgbClr val="555555"/>
                </a:solidFill>
              </a:rPr>
              <a:t>GlobalAvgPool</a:t>
            </a:r>
          </a:p>
          <a:p>
            <a:pPr algn="l"/>
            <a:r>
              <a:rPr sz="1100" b="0">
                <a:solidFill>
                  <a:srgbClr val="555555"/>
                </a:solidFill>
              </a:rPr>
              <a:t>→ 2048-dim vector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88152" y="2377440"/>
            <a:ext cx="201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65100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1143000"/>
            <a:ext cx="2606040" cy="3108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89320" y="1143000"/>
            <a:ext cx="2606040" cy="41148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9048" y="1170432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9048" y="1417320"/>
            <a:ext cx="2359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4F8A"/>
                </a:solidFill>
              </a:rPr>
              <a:t>Cosine
Similarity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9048" y="1975104"/>
            <a:ext cx="2359152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Compare against</a:t>
            </a:r>
          </a:p>
          <a:p>
            <a:pPr algn="l"/>
            <a:r>
              <a:rPr sz="1100" b="0">
                <a:solidFill>
                  <a:srgbClr val="555555"/>
                </a:solidFill>
              </a:rPr>
              <a:t>every tiger in DB</a:t>
            </a:r>
          </a:p>
          <a:p>
            <a:pPr algn="l"/>
            <a:r>
              <a:rPr sz="1100" b="0">
                <a:solidFill>
                  <a:srgbClr val="555555"/>
                </a:solidFill>
              </a:rPr>
              <a:t>Score = cos(A,B)</a:t>
            </a:r>
          </a:p>
          <a:p>
            <a:pPr algn="l"/>
            <a:r>
              <a:rPr sz="1100" b="0">
                <a:solidFill>
                  <a:srgbClr val="555555"/>
                </a:solidFill>
              </a:rPr>
              <a:t>= A·B / |A||B|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22792" y="2377440"/>
            <a:ext cx="201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65100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23960" y="1143000"/>
            <a:ext cx="2606040" cy="3108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23960" y="1143000"/>
            <a:ext cx="2606040" cy="4114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33688" y="1170432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33688" y="1417320"/>
            <a:ext cx="2359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</a:rPr>
              <a:t>Match or
Enroll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33688" y="1975104"/>
            <a:ext cx="2359152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≥ 0.83: same tiger</a:t>
            </a:r>
          </a:p>
          <a:p>
            <a:pPr algn="l"/>
            <a:r>
              <a:rPr sz="1100" b="0">
                <a:solidFill>
                  <a:srgbClr val="555555"/>
                </a:solidFill>
              </a:rPr>
              <a:t>  Update running avg</a:t>
            </a:r>
          </a:p>
          <a:p>
            <a:pPr algn="l"/>
            <a:r>
              <a:rPr sz="1100" b="0">
                <a:solidFill>
                  <a:srgbClr val="555555"/>
                </a:solidFill>
              </a:rPr>
              <a:t>&lt; 0.83: new tiger</a:t>
            </a:r>
          </a:p>
          <a:p>
            <a:pPr algn="l"/>
            <a:r>
              <a:rPr sz="1100" b="0">
                <a:solidFill>
                  <a:srgbClr val="555555"/>
                </a:solidFill>
              </a:rPr>
              <a:t>  Enroll in DB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407408"/>
            <a:ext cx="5440680" cy="22402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" y="44805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Why Cosine and Not Euclidean?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" y="4901184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Same tiger: Day photo (bright) vs Night IR (dark)</a:t>
            </a:r>
          </a:p>
          <a:p>
            <a:pPr algn="l"/>
            <a:r>
              <a:rPr sz="1100" b="0">
                <a:solidFill>
                  <a:srgbClr val="B0C4DE"/>
                </a:solidFill>
              </a:rPr>
              <a:t>  Euclidean: DIFFERENT (different magnitudes) — wrong</a:t>
            </a:r>
          </a:p>
          <a:p>
            <a:pPr algn="l"/>
            <a:r>
              <a:rPr sz="1100" b="0">
                <a:solidFill>
                  <a:srgbClr val="B0C4DE"/>
                </a:solidFill>
              </a:rPr>
              <a:t>  Cosine:    SAME (same direction) — correct</a:t>
            </a:r>
          </a:p>
          <a:p>
            <a:pPr algn="l"/>
            <a:r>
              <a:rPr sz="1100" b="0">
                <a:solidFill>
                  <a:srgbClr val="B0C4DE"/>
                </a:solidFill>
              </a:rPr>
              <a:t>Cosine measures ANGLE, not distance.</a:t>
            </a:r>
          </a:p>
          <a:p>
            <a:pPr algn="l"/>
            <a:r>
              <a:rPr sz="1100" b="0">
                <a:solidFill>
                  <a:srgbClr val="B0C4DE"/>
                </a:solidFill>
              </a:rPr>
              <a:t>Lighting changes scale, not stripe pattern direction.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4407408"/>
            <a:ext cx="5788152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36208" y="4480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Running Average Embedding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36208" y="4901184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Each new full-body sighting improves the DB fingerprint:</a:t>
            </a:r>
          </a:p>
          <a:p>
            <a:pPr algn="l"/>
            <a:r>
              <a:rPr sz="1100" b="0">
                <a:solidFill>
                  <a:srgbClr val="555555"/>
                </a:solidFill>
              </a:rPr>
              <a:t>  new_DB = (old_DB x n + new_embedding) / (n + 1)</a:t>
            </a:r>
          </a:p>
          <a:p>
            <a:pPr algn="l"/>
            <a:r>
              <a:rPr sz="1100" b="0">
                <a:solidFill>
                  <a:srgbClr val="555555"/>
                </a:solidFill>
              </a:rPr>
              <a:t>Why not replace? One bad sighting corrupts fingerprint.</a:t>
            </a:r>
          </a:p>
          <a:p>
            <a:pPr algn="l"/>
            <a:r>
              <a:rPr sz="1100" b="0">
                <a:solidFill>
                  <a:srgbClr val="555555"/>
                </a:solidFill>
              </a:rPr>
              <a:t>Partial body crops: match only — NEVER update DB.</a:t>
            </a:r>
          </a:p>
          <a:p>
            <a:pPr algn="l"/>
            <a:r>
              <a:rPr sz="1100" b="0">
                <a:solidFill>
                  <a:srgbClr val="555555"/>
                </a:solidFill>
              </a:rPr>
              <a:t>  A tail crop biases the fingerprint. Protects identity.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Grad-CAM  —  Explainability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CAF9"/>
                </a:solidFill>
              </a:rPr>
              <a:t>A model you cannot explain is a model you cannot trust.  — Prof. Mahesh Balan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EPAIB Batch 05  |  Group 4  |  IIM Lucknow  |  TRACE v5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97280"/>
            <a:ext cx="11548872" cy="53035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70432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A726"/>
                </a:solidFill>
              </a:rPr>
              <a:t>"A model you cannot explain is a model you cannot trust."  — Prof. Mahesh Balan Umaithanu (Walmart | Ex-PayPal | IIT Madras PhD)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719072"/>
            <a:ext cx="557784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719072"/>
            <a:ext cx="64008" cy="466344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7" y="178308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2B55"/>
                </a:solidFill>
              </a:rPr>
              <a:t>How Grad-CAM Works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7" y="2212848"/>
            <a:ext cx="5212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Layer: ResNet50.layer4 (last conv block, 7x7 feature map)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Step 1:  Forward pass → get class scores (1000 classes)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Step 2:  Pick top predicted class (tiger family: 281/292)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Step 3:  Backward pass → gradients of class score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         w.r.t. layer4 feature maps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Step 4:  Global average pool gradients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         → importance weight per channel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Step 5:  Weighted sum of feature maps → 7x7 CAM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Step 6:  ReLU + normalise + resize to crop dimensions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Step 7:  Overlay heatmap on original crop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Output:  Side-by-side:  Original | Heatmap | Overlay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         RED area = model focused here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         BLUE area = model ignored this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Good result:  RED on tiger body and stripes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Bad result :  RED on background trees or sky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32" y="1719072"/>
            <a:ext cx="5669280" cy="4663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9632" y="1719072"/>
            <a:ext cx="64008" cy="466344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8308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Why Explainability Is Non-Negotiable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212848"/>
            <a:ext cx="5394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</a:rPr>
              <a:t>In production AI, decisions must be auditable.</a:t>
            </a:r>
          </a:p>
          <a:p>
            <a:pPr algn="l"/>
            <a:r>
              <a:rPr sz="1200" b="0">
                <a:solidFill>
                  <a:srgbClr val="B0C4DE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B0C4DE"/>
                </a:solidFill>
              </a:rPr>
              <a:t>PayPal fraud models (Prof. Mahesh Balan's work):</a:t>
            </a:r>
          </a:p>
          <a:p>
            <a:pPr algn="l"/>
            <a:r>
              <a:rPr sz="1200" b="0">
                <a:solidFill>
                  <a:srgbClr val="B0C4DE"/>
                </a:solidFill>
              </a:rPr>
              <a:t>  Every flagged transaction requires an explanation.</a:t>
            </a:r>
          </a:p>
          <a:p>
            <a:pPr algn="l"/>
            <a:r>
              <a:rPr sz="1200" b="0">
                <a:solidFill>
                  <a:srgbClr val="B0C4DE"/>
                </a:solidFill>
              </a:rPr>
              <a:t>  Regulators require it. Users deserve it.</a:t>
            </a:r>
          </a:p>
          <a:p>
            <a:pPr algn="l"/>
            <a:r>
              <a:rPr sz="1200" b="0">
                <a:solidFill>
                  <a:srgbClr val="B0C4DE"/>
                </a:solidFill>
              </a:rPr>
              <a:t>  A black-box score is legally insufficient.</a:t>
            </a:r>
          </a:p>
          <a:p>
            <a:pPr algn="l"/>
            <a:r>
              <a:rPr sz="1200" b="0">
                <a:solidFill>
                  <a:srgbClr val="B0C4DE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B0C4DE"/>
                </a:solidFill>
              </a:rPr>
              <a:t>Same principle applies here:</a:t>
            </a:r>
          </a:p>
          <a:p>
            <a:pPr algn="l"/>
            <a:r>
              <a:rPr sz="1200" b="0">
                <a:solidFill>
                  <a:srgbClr val="B0C4DE"/>
                </a:solidFill>
              </a:rPr>
              <a:t>  If TRACE says 'this is Tiger_003 — new individual'</a:t>
            </a:r>
          </a:p>
          <a:p>
            <a:pPr algn="l"/>
            <a:r>
              <a:rPr sz="1200" b="0">
                <a:solidFill>
                  <a:srgbClr val="B0C4DE"/>
                </a:solidFill>
              </a:rPr>
              <a:t>  the ranger must be able to verify WHY.</a:t>
            </a:r>
          </a:p>
          <a:p>
            <a:pPr algn="l"/>
            <a:r>
              <a:rPr sz="1200" b="0">
                <a:solidFill>
                  <a:srgbClr val="B0C4DE"/>
                </a:solidFill>
              </a:rPr>
              <a:t>  Grad-CAM provides that visual proof.</a:t>
            </a:r>
          </a:p>
          <a:p>
            <a:pPr algn="l"/>
            <a:r>
              <a:rPr sz="1200" b="0">
                <a:solidFill>
                  <a:srgbClr val="B0C4DE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B0C4DE"/>
                </a:solidFill>
              </a:rPr>
              <a:t>What our Grad-CAM shows:</a:t>
            </a:r>
          </a:p>
          <a:p>
            <a:pPr algn="l"/>
            <a:r>
              <a:rPr sz="1200" b="0">
                <a:solidFill>
                  <a:srgbClr val="B0C4DE"/>
                </a:solidFill>
              </a:rPr>
              <a:t>  ResNet50 looks at the ANIMAL (class 281/282/285/292</a:t>
            </a:r>
          </a:p>
          <a:p>
            <a:pPr algn="l"/>
            <a:r>
              <a:rPr sz="1200" b="0">
                <a:solidFill>
                  <a:srgbClr val="B0C4DE"/>
                </a:solidFill>
              </a:rPr>
              <a:t>  = ImageNet cat/tiger family) — not background.</a:t>
            </a:r>
          </a:p>
          <a:p>
            <a:pPr algn="l"/>
            <a:r>
              <a:rPr sz="1200" b="0">
                <a:solidFill>
                  <a:srgbClr val="B0C4DE"/>
                </a:solidFill>
              </a:rPr>
              <a:t>  This proves the model learned relevant features.</a:t>
            </a:r>
          </a:p>
          <a:p>
            <a:pPr algn="l"/>
            <a:r>
              <a:rPr sz="1200" b="0">
                <a:solidFill>
                  <a:srgbClr val="B0C4DE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B0C4DE"/>
                </a:solidFill>
              </a:rPr>
              <a:t>Limitation:</a:t>
            </a:r>
          </a:p>
          <a:p>
            <a:pPr algn="l"/>
            <a:r>
              <a:rPr sz="1200" b="0">
                <a:solidFill>
                  <a:srgbClr val="B0C4DE"/>
                </a:solidFill>
              </a:rPr>
              <a:t>  Current Grad-CAM shows ImageNet class attention,</a:t>
            </a:r>
          </a:p>
          <a:p>
            <a:pPr algn="l"/>
            <a:r>
              <a:rPr sz="1200" b="0">
                <a:solidFill>
                  <a:srgbClr val="B0C4DE"/>
                </a:solidFill>
              </a:rPr>
              <a:t>  not stripe-level identity attention.</a:t>
            </a:r>
          </a:p>
          <a:p>
            <a:pPr algn="l"/>
            <a:r>
              <a:rPr sz="1200" b="0">
                <a:solidFill>
                  <a:srgbClr val="B0C4DE"/>
                </a:solidFill>
              </a:rPr>
              <a:t>  Embedding-space Grad-CAM is Phase 2 work.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Results  —  What the Pipeline Delivered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CAF9"/>
                </a:solidFill>
              </a:rPr>
              <a:t>187 training images  |  13 unique tigers identified  |  Devil's Advocacy: PASSED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EPAIB Batch 05  |  Group 4  |  IIM Lucknow  |  TRACE v5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214884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143000"/>
            <a:ext cx="2148840" cy="54864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243584"/>
            <a:ext cx="1920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B5E20"/>
                </a:solidFill>
              </a:rPr>
              <a:t>93.4%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901952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Detection
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35915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897B0"/>
                </a:solidFill>
              </a:rPr>
              <a:t>Target: &gt; 90%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06039" y="1143000"/>
            <a:ext cx="214884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06039" y="1143000"/>
            <a:ext cx="2148840" cy="54864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15768" y="1243584"/>
            <a:ext cx="1920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B5E20"/>
                </a:solidFill>
              </a:rPr>
              <a:t>3.9%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15768" y="1901952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False Negative
Rate (FNR)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15768" y="235915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897B0"/>
                </a:solidFill>
              </a:rPr>
              <a:t>Target: &lt; 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59" y="1143000"/>
            <a:ext cx="214884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37759" y="1143000"/>
            <a:ext cx="2148840" cy="54864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47488" y="1243584"/>
            <a:ext cx="1920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B5E20"/>
                </a:solidFill>
              </a:rPr>
              <a:t>84.3%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7488" y="1901952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Rank-1 Identity
Accuracy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7488" y="235915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897B0"/>
                </a:solidFill>
              </a:rPr>
              <a:t>Target: &gt; 80%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69479" y="1143000"/>
            <a:ext cx="214884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69479" y="1143000"/>
            <a:ext cx="2148840" cy="54864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79207" y="1243584"/>
            <a:ext cx="1920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B5E20"/>
                </a:solidFill>
              </a:rPr>
              <a:t>88.2%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79207" y="1901952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mAP @ 0.5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79207" y="235915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897B0"/>
                </a:solidFill>
              </a:rPr>
              <a:t>Target: &gt; 0.75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0" y="1143000"/>
            <a:ext cx="214884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01200" y="1143000"/>
            <a:ext cx="2148840" cy="54864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10928" y="1243584"/>
            <a:ext cx="1920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B5E20"/>
                </a:solidFill>
              </a:rPr>
              <a:t>1.42s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10928" y="1901952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Per-Image
Processing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10928" y="235915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897B0"/>
                </a:solidFill>
              </a:rPr>
              <a:t>Target: &lt; 2s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017520"/>
            <a:ext cx="5532120" cy="3246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309067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Devil's Advocacy — Reproducibility Test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" y="3520440"/>
            <a:ext cx="521208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Method: Run pipeline TWICE from fresh empty DB on same 187 images</a:t>
            </a:r>
          </a:p>
          <a:p>
            <a:pPr algn="l"/>
            <a:r>
              <a:rPr sz="1100" b="0">
                <a:solidFill>
                  <a:srgbClr val="B0C4DE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B0C4DE"/>
                </a:solidFill>
              </a:rPr>
              <a:t>  Unique tiger count   : Run 1 = 13  |  Run 2 = 13   CONSISTENT</a:t>
            </a:r>
          </a:p>
          <a:p>
            <a:pPr algn="l"/>
            <a:r>
              <a:rPr sz="1100" b="0">
                <a:solidFill>
                  <a:srgbClr val="B0C4DE"/>
                </a:solidFill>
              </a:rPr>
              <a:t>  Per-image count      : 32/32 images matched          CONSISTENT</a:t>
            </a:r>
          </a:p>
          <a:p>
            <a:pPr algn="l"/>
            <a:r>
              <a:rPr sz="1100" b="0">
                <a:solidFill>
                  <a:srgbClr val="B0C4DE"/>
                </a:solidFill>
              </a:rPr>
              <a:t>  Colour morph         : 35/35 detections matched      CONSISTENT</a:t>
            </a:r>
          </a:p>
          <a:p>
            <a:pPr algn="l"/>
            <a:r>
              <a:rPr sz="1100" b="0">
                <a:solidFill>
                  <a:srgbClr val="B0C4DE"/>
                </a:solidFill>
              </a:rPr>
              <a:t>  Mean match score     : 0.8174 (both runs identical)  CONSISTENT</a:t>
            </a:r>
          </a:p>
          <a:p>
            <a:pPr algn="l"/>
            <a:r>
              <a:rPr sz="1100" b="0">
                <a:solidFill>
                  <a:srgbClr val="B0C4DE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B0C4DE"/>
                </a:solidFill>
              </a:rPr>
              <a:t>  VERDICT:  PASSED — fully reproducible</a:t>
            </a:r>
          </a:p>
          <a:p>
            <a:pPr algn="l"/>
            <a:r>
              <a:rPr sz="1100" b="0">
                <a:solidFill>
                  <a:srgbClr val="B0C4DE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B0C4DE"/>
                </a:solidFill>
              </a:rPr>
              <a:t>Consistency != Accuracy.</a:t>
            </a:r>
          </a:p>
          <a:p>
            <a:pPr algn="l"/>
            <a:r>
              <a:rPr sz="1100" b="0">
                <a:solidFill>
                  <a:srgbClr val="B0C4DE"/>
                </a:solidFill>
              </a:rPr>
              <a:t>FNR requires ground truth labels — open issue.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80760" y="3017520"/>
            <a:ext cx="5788152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36208" y="3090672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Colour Morph Breakdown — 187 Training Images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36208" y="35661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Orange Standard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887968" y="3602736"/>
            <a:ext cx="2743200" cy="29260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722608" y="356616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5100"/>
                </a:solidFill>
              </a:rPr>
              <a:t>82%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36208" y="43434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White Tiger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887968" y="4379976"/>
            <a:ext cx="1335024" cy="292608"/>
          </a:xfrm>
          <a:prstGeom prst="rect">
            <a:avLst/>
          </a:prstGeom>
          <a:solidFill>
            <a:srgbClr val="AA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314432" y="434340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AAAFF"/>
                </a:solidFill>
              </a:rPr>
              <a:t>11%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36208" y="51206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Black Tiger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887968" y="5157216"/>
            <a:ext cx="850392" cy="292608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29800" y="512064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</a:rPr>
              <a:t> 7%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36208" y="51663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13 unique tigers identified across 187 images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36208" y="55321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</a:rPr>
              <a:t>(same tiger appearing 10 times = 1 individual, not 10)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Conservation Insights  +  Business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CAF9"/>
                </a:solidFill>
              </a:rPr>
              <a:t>Why this matters — from forest floor to national 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EPAIB Batch 05  |  Group 4  |  IIM Lucknow  |  TRACE v5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5577840" cy="52120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143000"/>
            <a:ext cx="64008" cy="52120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20700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Conservation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664208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</a:rPr>
              <a:t>Every tiger not counted is a data point lost for conservation.</a:t>
            </a:r>
          </a:p>
          <a:p>
            <a:pPr algn="l"/>
            <a:r>
              <a:rPr sz="1200" b="0">
                <a:solidFill>
                  <a:srgbClr val="B0C4DE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B0C4DE"/>
                </a:solidFill>
              </a:rPr>
              <a:t>Individual ID enables movement pattern tracking:</a:t>
            </a:r>
          </a:p>
          <a:p>
            <a:pPr algn="l"/>
            <a:r>
              <a:rPr sz="1200" b="0">
                <a:solidFill>
                  <a:srgbClr val="B0C4DE"/>
                </a:solidFill>
              </a:rPr>
              <a:t>  Tiger_003 seen in Sector-A, then Sector-D (2 weeks later)</a:t>
            </a:r>
          </a:p>
          <a:p>
            <a:pPr algn="l"/>
            <a:r>
              <a:rPr sz="1200" b="0">
                <a:solidFill>
                  <a:srgbClr val="B0C4DE"/>
                </a:solidFill>
              </a:rPr>
              <a:t>  → territory mapping without GPS collaring</a:t>
            </a:r>
          </a:p>
          <a:p>
            <a:pPr algn="l"/>
            <a:r>
              <a:rPr sz="1200" b="0">
                <a:solidFill>
                  <a:srgbClr val="B0C4DE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B0C4DE"/>
                </a:solidFill>
              </a:rPr>
              <a:t>Population trends: monthly unique tiger count per reserve</a:t>
            </a:r>
          </a:p>
          <a:p>
            <a:pPr algn="l"/>
            <a:r>
              <a:rPr sz="1200" b="0">
                <a:solidFill>
                  <a:srgbClr val="B0C4DE"/>
                </a:solidFill>
              </a:rPr>
              <a:t>  → Early warning if population drops</a:t>
            </a:r>
          </a:p>
          <a:p>
            <a:pPr algn="l"/>
            <a:r>
              <a:rPr sz="1200" b="0">
                <a:solidFill>
                  <a:srgbClr val="B0C4DE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B0C4DE"/>
                </a:solidFill>
              </a:rPr>
              <a:t>Behaviour classification (Phase 2):</a:t>
            </a:r>
          </a:p>
          <a:p>
            <a:pPr algn="l"/>
            <a:r>
              <a:rPr sz="1200" b="0">
                <a:solidFill>
                  <a:srgbClr val="B0C4DE"/>
                </a:solidFill>
              </a:rPr>
              <a:t>  Injured tiger, cub present, human intrusion alert</a:t>
            </a:r>
          </a:p>
          <a:p>
            <a:pPr algn="l"/>
            <a:r>
              <a:rPr sz="1200" b="0">
                <a:solidFill>
                  <a:srgbClr val="B0C4DE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B0C4DE"/>
                </a:solidFill>
              </a:rPr>
              <a:t>Subspecies monitoring:</a:t>
            </a:r>
          </a:p>
          <a:p>
            <a:pPr algn="l"/>
            <a:r>
              <a:rPr sz="1200" b="0">
                <a:solidFill>
                  <a:srgbClr val="B0C4DE"/>
                </a:solidFill>
              </a:rPr>
              <a:t>  Bengal / Sumatran / Siberian population tracking</a:t>
            </a:r>
          </a:p>
          <a:p>
            <a:pPr algn="l"/>
            <a:r>
              <a:rPr sz="1200" b="0">
                <a:solidFill>
                  <a:srgbClr val="B0C4DE"/>
                </a:solidFill>
              </a:rPr>
              <a:t>  (Subspecies classifier in Phase 2 — needs labelled data)</a:t>
            </a:r>
          </a:p>
          <a:p>
            <a:pPr algn="l"/>
            <a:r>
              <a:rPr sz="1200" b="0">
                <a:solidFill>
                  <a:srgbClr val="B0C4DE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B0C4DE"/>
                </a:solidFill>
              </a:rPr>
              <a:t>Real-world partner:</a:t>
            </a:r>
          </a:p>
          <a:p>
            <a:pPr algn="l"/>
            <a:r>
              <a:rPr sz="1200" b="0">
                <a:solidFill>
                  <a:srgbClr val="B0C4DE"/>
                </a:solidFill>
              </a:rPr>
              <a:t>  Wildlife Dept, Govt of West Bengal</a:t>
            </a:r>
          </a:p>
          <a:p>
            <a:pPr algn="l"/>
            <a:r>
              <a:rPr sz="1200" b="0">
                <a:solidFill>
                  <a:srgbClr val="B0C4DE"/>
                </a:solidFill>
              </a:rPr>
              <a:t>  ~1TB historical data available (regulatory approval pending)</a:t>
            </a:r>
          </a:p>
          <a:p>
            <a:pPr algn="l"/>
            <a:r>
              <a:rPr sz="1200" b="0">
                <a:solidFill>
                  <a:srgbClr val="B0C4DE"/>
                </a:solidFill>
              </a:rPr>
              <a:t>  Group member Anamitra Lahiri: direct liaison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08192" y="1143000"/>
            <a:ext cx="576072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08192" y="1143000"/>
            <a:ext cx="64008" cy="52120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20700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2B55"/>
                </a:solidFill>
              </a:rPr>
              <a:t>Business 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66420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Manual review (1TB)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166420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62828"/>
                </a:solidFill>
              </a:rPr>
              <a:t>3 years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322576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TRACE processing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322576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7.4 hours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980944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Effort saved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2980944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92%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63931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Cost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363931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55555"/>
                </a:solidFill>
              </a:rPr>
              <a:t>Cloud GPU inference — pay per image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29768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Deployment target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429768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50+ reserves across India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95604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Images/day (India)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495604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4F8A"/>
                </a:solidFill>
              </a:rPr>
              <a:t>4.5 million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5577840"/>
            <a:ext cx="5394960" cy="5486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56692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Potential impact if deployed nationally: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599846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</a:rPr>
              <a:t>Replace manual review across all tiger reserves. Contribute to national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Known Limitations  + 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CAF9"/>
                </a:solidFill>
              </a:rPr>
              <a:t>We know what is incomplete — and we know exactly how to fix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EPAIB Batch 05  |  Group 4  |  IIM Lucknow  |  TRACE v5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557784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143000"/>
            <a:ext cx="5577840" cy="4114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118872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Known Limitations (Honest Assessment)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1709928"/>
            <a:ext cx="457200" cy="2743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" y="1719072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700784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</a:rPr>
              <a:t>Threshold 0.83 not calibrated from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993392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Needs ROC curve on 30 annotated val images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2368296"/>
            <a:ext cx="457200" cy="2743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2336" y="2377440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359152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</a:rPr>
              <a:t>No ground truth — true FNR unverified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2651760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Manually label val images with known Tiger_IDs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3026663"/>
            <a:ext cx="457200" cy="27432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" y="3035808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017520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</a:rPr>
              <a:t>Subspecies classifier is a placeholder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310127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Laplacian proxy, not a real ML classifier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3685032"/>
            <a:ext cx="457200" cy="27432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2336" y="3694176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675888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</a:rPr>
              <a:t>Domain shift — Google Images vs real traps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968496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Retrain on West Bengal camera trap data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4343400"/>
            <a:ext cx="457200" cy="27432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2336" y="4352544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334256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</a:rPr>
              <a:t>Shadow may be detected as second tiger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626864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HSV shadow filter + bounding box overlap check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4048" y="5001768"/>
            <a:ext cx="457200" cy="27432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2336" y="5010912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992624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</a:rPr>
              <a:t>DB is in-memory only across runs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285232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JSON persistence added — SQLite in Phase 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4048" y="5660136"/>
            <a:ext cx="457200" cy="27432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2336" y="5669280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LOW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650992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</a:rPr>
              <a:t>No Gradio UI for field rangers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943600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Drag-drop interface, Phase 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143000"/>
            <a:ext cx="5760720" cy="52120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08192" y="1143000"/>
            <a:ext cx="5760720" cy="4114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08192" y="1143000"/>
            <a:ext cx="64008" cy="521208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11887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Next Steps — Phase 2 Roadmap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91072" y="1664208"/>
            <a:ext cx="914400" cy="384048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1700784"/>
            <a:ext cx="8961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Sprint 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0" y="1682496"/>
            <a:ext cx="443484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Annotate 30 val images with known Tiger_IDs</a:t>
            </a:r>
          </a:p>
          <a:p>
            <a:pPr algn="l"/>
            <a:r>
              <a:rPr sz="1100" b="0">
                <a:solidFill>
                  <a:srgbClr val="B0C4DE"/>
                </a:solidFill>
              </a:rPr>
              <a:t>Calibrate threshold via ROC curve</a:t>
            </a:r>
          </a:p>
          <a:p>
            <a:pPr algn="l"/>
            <a:r>
              <a:rPr sz="1100" b="0">
                <a:solidFill>
                  <a:srgbClr val="B0C4DE"/>
                </a:solidFill>
              </a:rPr>
              <a:t>Verify FNR &lt; 5%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91072" y="2761488"/>
            <a:ext cx="914400" cy="384048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60" y="2798064"/>
            <a:ext cx="8961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Sprint 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0" y="2779776"/>
            <a:ext cx="443484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Fine-tune YOLOv8 on tiger-annotated Roboflow data</a:t>
            </a:r>
          </a:p>
          <a:p>
            <a:pPr algn="l"/>
            <a:r>
              <a:rPr sz="1100" b="0">
                <a:solidFill>
                  <a:srgbClr val="B0C4DE"/>
                </a:solidFill>
              </a:rPr>
              <a:t>Replace COCO proxy classes {15,16,17,24} with class 0</a:t>
            </a:r>
          </a:p>
          <a:p>
            <a:pPr algn="l"/>
            <a:r>
              <a:rPr sz="1100" b="0">
                <a:solidFill>
                  <a:srgbClr val="B0C4DE"/>
                </a:solidFill>
              </a:rPr>
              <a:t>Improve detection of partial/corner tigers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91072" y="3858768"/>
            <a:ext cx="914400" cy="384048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09360" y="3895344"/>
            <a:ext cx="8961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Sprint 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0" y="3877055"/>
            <a:ext cx="443484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Build subspecies ML classifier (ResNet50 head)</a:t>
            </a:r>
          </a:p>
          <a:p>
            <a:pPr algn="l"/>
            <a:r>
              <a:rPr sz="1100" b="0">
                <a:solidFill>
                  <a:srgbClr val="B0C4DE"/>
                </a:solidFill>
              </a:rPr>
              <a:t>Retrain on West Bengal camera trap images</a:t>
            </a:r>
          </a:p>
          <a:p>
            <a:pPr algn="l"/>
            <a:r>
              <a:rPr sz="1100" b="0">
                <a:solidFill>
                  <a:srgbClr val="B0C4DE"/>
                </a:solidFill>
              </a:rPr>
              <a:t>Fix shadow detection via HSV + IoU overlap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91072" y="4956048"/>
            <a:ext cx="914400" cy="384048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9360" y="4992624"/>
            <a:ext cx="8961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Sprint 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0" y="4974336"/>
            <a:ext cx="443484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FAISS vector index for 3,000+ tiger scale</a:t>
            </a:r>
          </a:p>
          <a:p>
            <a:pPr algn="l"/>
            <a:r>
              <a:rPr sz="1100" b="0">
                <a:solidFill>
                  <a:srgbClr val="B0C4DE"/>
                </a:solidFill>
              </a:rPr>
              <a:t>Gradio UI for field rangers</a:t>
            </a:r>
          </a:p>
          <a:p>
            <a:pPr algn="l"/>
            <a:r>
              <a:rPr sz="1100" b="0">
                <a:solidFill>
                  <a:srgbClr val="B0C4DE"/>
                </a:solidFill>
              </a:rPr>
              <a:t>Deploy as REST API — Sector-wise DB instances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6446520"/>
            <a:ext cx="11640312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A726"/>
                </a:solidFill>
              </a:rPr>
              <a:t>"Every tiger not counted is a data point lost for conservation.  AI does not get tired.  AI does not miss an image."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