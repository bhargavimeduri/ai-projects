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88952" cy="109728"/>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0" y="457200"/>
            <a:ext cx="1828800" cy="1097280"/>
          </a:xfrm>
          <a:prstGeom prst="rect">
            <a:avLst/>
          </a:prstGeom>
          <a:noFill/>
        </p:spPr>
        <p:txBody>
          <a:bodyPr wrap="square">
            <a:spAutoFit/>
          </a:bodyPr>
          <a:lstStyle/>
          <a:p>
            <a:pPr algn="ctr"/>
            <a:r>
              <a:rPr sz="6000" b="0" i="0">
                <a:solidFill>
                  <a:srgbClr val="FFFFFF"/>
                </a:solidFill>
              </a:rPr>
              <a:t>🐯</a:t>
            </a:r>
          </a:p>
        </p:txBody>
      </p:sp>
      <p:sp>
        <p:nvSpPr>
          <p:cNvPr id="6" name="TextBox 5"/>
          <p:cNvSpPr txBox="1"/>
          <p:nvPr/>
        </p:nvSpPr>
        <p:spPr>
          <a:xfrm>
            <a:off x="914400" y="1554480"/>
            <a:ext cx="10360152" cy="914400"/>
          </a:xfrm>
          <a:prstGeom prst="rect">
            <a:avLst/>
          </a:prstGeom>
          <a:noFill/>
        </p:spPr>
        <p:txBody>
          <a:bodyPr wrap="square">
            <a:spAutoFit/>
          </a:bodyPr>
          <a:lstStyle/>
          <a:p>
            <a:pPr algn="ctr"/>
            <a:r>
              <a:rPr sz="3600" b="1" i="0">
                <a:solidFill>
                  <a:srgbClr val="FFFFFF"/>
                </a:solidFill>
              </a:rPr>
              <a:t>AI-Driven Tiger Enumeration</a:t>
            </a:r>
          </a:p>
        </p:txBody>
      </p:sp>
      <p:sp>
        <p:nvSpPr>
          <p:cNvPr id="7" name="TextBox 6"/>
          <p:cNvSpPr txBox="1"/>
          <p:nvPr/>
        </p:nvSpPr>
        <p:spPr>
          <a:xfrm>
            <a:off x="914400" y="2423160"/>
            <a:ext cx="10360152" cy="548640"/>
          </a:xfrm>
          <a:prstGeom prst="rect">
            <a:avLst/>
          </a:prstGeom>
          <a:noFill/>
        </p:spPr>
        <p:txBody>
          <a:bodyPr wrap="square">
            <a:spAutoFit/>
          </a:bodyPr>
          <a:lstStyle/>
          <a:p>
            <a:pPr algn="ctr"/>
            <a:r>
              <a:rPr sz="2000" b="0" i="0">
                <a:solidFill>
                  <a:srgbClr val="FFC107"/>
                </a:solidFill>
              </a:rPr>
              <a:t>Using Computer Vision &amp; Advanced Machine Learning</a:t>
            </a:r>
          </a:p>
        </p:txBody>
      </p:sp>
      <p:sp>
        <p:nvSpPr>
          <p:cNvPr id="8" name="Rectangle 7"/>
          <p:cNvSpPr/>
          <p:nvPr/>
        </p:nvSpPr>
        <p:spPr>
          <a:xfrm>
            <a:off x="3200400" y="3108960"/>
            <a:ext cx="5788152" cy="36576"/>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1840"/>
            <a:ext cx="10360152" cy="457200"/>
          </a:xfrm>
          <a:prstGeom prst="rect">
            <a:avLst/>
          </a:prstGeom>
          <a:noFill/>
        </p:spPr>
        <p:txBody>
          <a:bodyPr wrap="square">
            <a:spAutoFit/>
          </a:bodyPr>
          <a:lstStyle/>
          <a:p>
            <a:pPr algn="ctr"/>
            <a:r>
              <a:rPr sz="1400" b="0" i="0">
                <a:solidFill>
                  <a:srgbClr val="FFFFFF"/>
                </a:solidFill>
              </a:rPr>
              <a:t>Sundarbans Tiger Reserve  |  Government of West Bengal</a:t>
            </a:r>
          </a:p>
        </p:txBody>
      </p:sp>
      <p:sp>
        <p:nvSpPr>
          <p:cNvPr id="10" name="TextBox 9"/>
          <p:cNvSpPr txBox="1"/>
          <p:nvPr/>
        </p:nvSpPr>
        <p:spPr>
          <a:xfrm>
            <a:off x="914400" y="3749039"/>
            <a:ext cx="10360152" cy="457200"/>
          </a:xfrm>
          <a:prstGeom prst="rect">
            <a:avLst/>
          </a:prstGeom>
          <a:noFill/>
        </p:spPr>
        <p:txBody>
          <a:bodyPr wrap="square">
            <a:spAutoFit/>
          </a:bodyPr>
          <a:lstStyle/>
          <a:p>
            <a:pPr algn="ctr"/>
            <a:r>
              <a:rPr sz="1400" b="0" i="0">
                <a:solidFill>
                  <a:srgbClr val="FFC107"/>
                </a:solidFill>
              </a:rPr>
              <a:t>EPAIB Batch 05  |  Group 4  |  IIM Lucknow</a:t>
            </a:r>
          </a:p>
        </p:txBody>
      </p:sp>
      <p:sp>
        <p:nvSpPr>
          <p:cNvPr id="11" name="TextBox 10"/>
          <p:cNvSpPr txBox="1"/>
          <p:nvPr/>
        </p:nvSpPr>
        <p:spPr>
          <a:xfrm>
            <a:off x="914400" y="4206240"/>
            <a:ext cx="10360152" cy="365760"/>
          </a:xfrm>
          <a:prstGeom prst="rect">
            <a:avLst/>
          </a:prstGeom>
          <a:noFill/>
        </p:spPr>
        <p:txBody>
          <a:bodyPr wrap="square">
            <a:spAutoFit/>
          </a:bodyPr>
          <a:lstStyle/>
          <a:p>
            <a:pPr algn="ctr"/>
            <a:r>
              <a:rPr sz="1300" b="0" i="0">
                <a:solidFill>
                  <a:srgbClr val="FFFFFF"/>
                </a:solidFill>
              </a:rPr>
              <a:t>Faculty Supervisor: Dr. Sowmya S</a:t>
            </a:r>
          </a:p>
        </p:txBody>
      </p:sp>
      <p:sp>
        <p:nvSpPr>
          <p:cNvPr id="12" name="Rectangle 11"/>
          <p:cNvSpPr/>
          <p:nvPr/>
        </p:nvSpPr>
        <p:spPr>
          <a:xfrm>
            <a:off x="914400" y="4846320"/>
            <a:ext cx="1920240" cy="502920"/>
          </a:xfrm>
          <a:prstGeom prst="rect">
            <a:avLst/>
          </a:prstGeom>
          <a:solidFill>
            <a:srgbClr val="2A3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919472"/>
            <a:ext cx="1783080" cy="365760"/>
          </a:xfrm>
          <a:prstGeom prst="rect">
            <a:avLst/>
          </a:prstGeom>
          <a:noFill/>
        </p:spPr>
        <p:txBody>
          <a:bodyPr wrap="square">
            <a:spAutoFit/>
          </a:bodyPr>
          <a:lstStyle/>
          <a:p>
            <a:pPr algn="ctr"/>
            <a:r>
              <a:rPr sz="1100" b="0" i="0">
                <a:solidFill>
                  <a:srgbClr val="FFFFFF"/>
                </a:solidFill>
              </a:rPr>
              <a:t>Bhargavi Meduri</a:t>
            </a:r>
          </a:p>
        </p:txBody>
      </p:sp>
      <p:sp>
        <p:nvSpPr>
          <p:cNvPr id="14" name="Rectangle 13"/>
          <p:cNvSpPr/>
          <p:nvPr/>
        </p:nvSpPr>
        <p:spPr>
          <a:xfrm>
            <a:off x="2990088" y="4846320"/>
            <a:ext cx="1920240" cy="502920"/>
          </a:xfrm>
          <a:prstGeom prst="rect">
            <a:avLst/>
          </a:prstGeom>
          <a:solidFill>
            <a:srgbClr val="2A3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63240" y="4919472"/>
            <a:ext cx="1783080" cy="365760"/>
          </a:xfrm>
          <a:prstGeom prst="rect">
            <a:avLst/>
          </a:prstGeom>
          <a:noFill/>
        </p:spPr>
        <p:txBody>
          <a:bodyPr wrap="square">
            <a:spAutoFit/>
          </a:bodyPr>
          <a:lstStyle/>
          <a:p>
            <a:pPr algn="ctr"/>
            <a:r>
              <a:rPr sz="1100" b="0" i="0">
                <a:solidFill>
                  <a:srgbClr val="FFFFFF"/>
                </a:solidFill>
              </a:rPr>
              <a:t>Anamitra Lahiri</a:t>
            </a:r>
          </a:p>
        </p:txBody>
      </p:sp>
      <p:sp>
        <p:nvSpPr>
          <p:cNvPr id="16" name="Rectangle 15"/>
          <p:cNvSpPr/>
          <p:nvPr/>
        </p:nvSpPr>
        <p:spPr>
          <a:xfrm>
            <a:off x="5065776" y="4846320"/>
            <a:ext cx="1920240" cy="502920"/>
          </a:xfrm>
          <a:prstGeom prst="rect">
            <a:avLst/>
          </a:prstGeom>
          <a:solidFill>
            <a:srgbClr val="2A3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4919472"/>
            <a:ext cx="1783080" cy="365760"/>
          </a:xfrm>
          <a:prstGeom prst="rect">
            <a:avLst/>
          </a:prstGeom>
          <a:noFill/>
        </p:spPr>
        <p:txBody>
          <a:bodyPr wrap="square">
            <a:spAutoFit/>
          </a:bodyPr>
          <a:lstStyle/>
          <a:p>
            <a:pPr algn="ctr"/>
            <a:r>
              <a:rPr sz="1100" b="0" i="0">
                <a:solidFill>
                  <a:srgbClr val="FFFFFF"/>
                </a:solidFill>
              </a:rPr>
              <a:t>Member 3</a:t>
            </a:r>
          </a:p>
        </p:txBody>
      </p:sp>
      <p:sp>
        <p:nvSpPr>
          <p:cNvPr id="18" name="Rectangle 17"/>
          <p:cNvSpPr/>
          <p:nvPr/>
        </p:nvSpPr>
        <p:spPr>
          <a:xfrm>
            <a:off x="7141464" y="4846320"/>
            <a:ext cx="1920240" cy="502920"/>
          </a:xfrm>
          <a:prstGeom prst="rect">
            <a:avLst/>
          </a:prstGeom>
          <a:solidFill>
            <a:srgbClr val="2A3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14616" y="4919472"/>
            <a:ext cx="1783080" cy="365760"/>
          </a:xfrm>
          <a:prstGeom prst="rect">
            <a:avLst/>
          </a:prstGeom>
          <a:noFill/>
        </p:spPr>
        <p:txBody>
          <a:bodyPr wrap="square">
            <a:spAutoFit/>
          </a:bodyPr>
          <a:lstStyle/>
          <a:p>
            <a:pPr algn="ctr"/>
            <a:r>
              <a:rPr sz="1100" b="0" i="0">
                <a:solidFill>
                  <a:srgbClr val="FFFFFF"/>
                </a:solidFill>
              </a:rPr>
              <a:t>Member 4</a:t>
            </a:r>
          </a:p>
        </p:txBody>
      </p:sp>
      <p:sp>
        <p:nvSpPr>
          <p:cNvPr id="20" name="Rectangle 19"/>
          <p:cNvSpPr/>
          <p:nvPr/>
        </p:nvSpPr>
        <p:spPr>
          <a:xfrm>
            <a:off x="9217152" y="4846320"/>
            <a:ext cx="1920240" cy="502920"/>
          </a:xfrm>
          <a:prstGeom prst="rect">
            <a:avLst/>
          </a:prstGeom>
          <a:solidFill>
            <a:srgbClr val="2A3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0304" y="4919472"/>
            <a:ext cx="1783080" cy="365760"/>
          </a:xfrm>
          <a:prstGeom prst="rect">
            <a:avLst/>
          </a:prstGeom>
          <a:noFill/>
        </p:spPr>
        <p:txBody>
          <a:bodyPr wrap="square">
            <a:spAutoFit/>
          </a:bodyPr>
          <a:lstStyle/>
          <a:p>
            <a:pPr algn="ctr"/>
            <a:r>
              <a:rPr sz="1100" b="0" i="0">
                <a:solidFill>
                  <a:srgbClr val="FFFFFF"/>
                </a:solidFill>
              </a:rPr>
              <a:t>Member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972800" cy="685800"/>
          </a:xfrm>
          <a:prstGeom prst="rect">
            <a:avLst/>
          </a:prstGeom>
          <a:noFill/>
        </p:spPr>
        <p:txBody>
          <a:bodyPr wrap="square">
            <a:spAutoFit/>
          </a:bodyPr>
          <a:lstStyle/>
          <a:p>
            <a:pPr algn="l"/>
            <a:r>
              <a:rPr sz="2800" b="1" i="0">
                <a:solidFill>
                  <a:srgbClr val="FFFFFF"/>
                </a:solidFill>
              </a:rPr>
              <a:t>The Problem</a:t>
            </a:r>
          </a:p>
        </p:txBody>
      </p:sp>
      <p:sp>
        <p:nvSpPr>
          <p:cNvPr id="5" name="TextBox 4"/>
          <p:cNvSpPr txBox="1"/>
          <p:nvPr/>
        </p:nvSpPr>
        <p:spPr>
          <a:xfrm>
            <a:off x="365760" y="749808"/>
            <a:ext cx="10972800" cy="411480"/>
          </a:xfrm>
          <a:prstGeom prst="rect">
            <a:avLst/>
          </a:prstGeom>
          <a:noFill/>
        </p:spPr>
        <p:txBody>
          <a:bodyPr wrap="square">
            <a:spAutoFit/>
          </a:bodyPr>
          <a:lstStyle/>
          <a:p>
            <a:pPr algn="l"/>
            <a:r>
              <a:rPr sz="1400" b="0" i="0">
                <a:solidFill>
                  <a:srgbClr val="FFC107"/>
                </a:solidFill>
              </a:rPr>
              <a:t>Why manual tiger counting is broken</a:t>
            </a:r>
          </a:p>
        </p:txBody>
      </p:sp>
      <p:sp>
        <p:nvSpPr>
          <p:cNvPr id="6" name="Rectangle 5"/>
          <p:cNvSpPr/>
          <p:nvPr/>
        </p:nvSpPr>
        <p:spPr>
          <a:xfrm>
            <a:off x="0" y="6492240"/>
            <a:ext cx="12188952" cy="3657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11612880" cy="274320"/>
          </a:xfrm>
          <a:prstGeom prst="rect">
            <a:avLst/>
          </a:prstGeom>
          <a:noFill/>
        </p:spPr>
        <p:txBody>
          <a:bodyPr wrap="square">
            <a:spAutoFit/>
          </a:bodyPr>
          <a:lstStyle/>
          <a:p>
            <a:pPr algn="ctr"/>
            <a:r>
              <a:rPr sz="900" b="0" i="0">
                <a:solidFill>
                  <a:srgbClr val="FFFFFF"/>
                </a:solidFill>
              </a:rPr>
              <a:t>EPAIB Batch 05 | Group 4 | IIM Lucknow | Sundarban Tiger Enumeration</a:t>
            </a:r>
          </a:p>
        </p:txBody>
      </p:sp>
      <p:sp>
        <p:nvSpPr>
          <p:cNvPr id="8" name="Rectangle 7"/>
          <p:cNvSpPr/>
          <p:nvPr/>
        </p:nvSpPr>
        <p:spPr>
          <a:xfrm>
            <a:off x="365760" y="1463040"/>
            <a:ext cx="11430000" cy="594360"/>
          </a:xfrm>
          <a:prstGeom prst="rect">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54480"/>
            <a:ext cx="2560320" cy="438912"/>
          </a:xfrm>
          <a:prstGeom prst="rect">
            <a:avLst/>
          </a:prstGeom>
          <a:noFill/>
        </p:spPr>
        <p:txBody>
          <a:bodyPr wrap="square">
            <a:spAutoFit/>
          </a:bodyPr>
          <a:lstStyle/>
          <a:p>
            <a:pPr algn="l"/>
            <a:r>
              <a:rPr sz="1300" b="1" i="0">
                <a:solidFill>
                  <a:srgbClr val="1A295A"/>
                </a:solidFill>
              </a:rPr>
              <a:t>📸  Volume</a:t>
            </a:r>
          </a:p>
        </p:txBody>
      </p:sp>
      <p:sp>
        <p:nvSpPr>
          <p:cNvPr id="10" name="TextBox 9"/>
          <p:cNvSpPr txBox="1"/>
          <p:nvPr/>
        </p:nvSpPr>
        <p:spPr>
          <a:xfrm>
            <a:off x="3200400" y="1572768"/>
            <a:ext cx="8412480" cy="438912"/>
          </a:xfrm>
          <a:prstGeom prst="rect">
            <a:avLst/>
          </a:prstGeom>
          <a:noFill/>
        </p:spPr>
        <p:txBody>
          <a:bodyPr wrap="square">
            <a:spAutoFit/>
          </a:bodyPr>
          <a:lstStyle/>
          <a:p>
            <a:pPr algn="l"/>
            <a:r>
              <a:rPr sz="1300" b="0" i="0">
                <a:solidFill>
                  <a:srgbClr val="333333"/>
                </a:solidFill>
              </a:rPr>
              <a:t>Thousands of camera trap images every week across Sundarbans</a:t>
            </a:r>
          </a:p>
        </p:txBody>
      </p:sp>
      <p:sp>
        <p:nvSpPr>
          <p:cNvPr id="11" name="Rectangle 10"/>
          <p:cNvSpPr/>
          <p:nvPr/>
        </p:nvSpPr>
        <p:spPr>
          <a:xfrm>
            <a:off x="365760" y="2130552"/>
            <a:ext cx="11430000" cy="594360"/>
          </a:xfrm>
          <a:prstGeom prst="rect">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221992"/>
            <a:ext cx="2560320" cy="438912"/>
          </a:xfrm>
          <a:prstGeom prst="rect">
            <a:avLst/>
          </a:prstGeom>
          <a:noFill/>
        </p:spPr>
        <p:txBody>
          <a:bodyPr wrap="square">
            <a:spAutoFit/>
          </a:bodyPr>
          <a:lstStyle/>
          <a:p>
            <a:pPr algn="l"/>
            <a:r>
              <a:rPr sz="1300" b="1" i="0">
                <a:solidFill>
                  <a:srgbClr val="1A295A"/>
                </a:solidFill>
              </a:rPr>
              <a:t>⏱  Time</a:t>
            </a:r>
          </a:p>
        </p:txBody>
      </p:sp>
      <p:sp>
        <p:nvSpPr>
          <p:cNvPr id="13" name="TextBox 12"/>
          <p:cNvSpPr txBox="1"/>
          <p:nvPr/>
        </p:nvSpPr>
        <p:spPr>
          <a:xfrm>
            <a:off x="3200400" y="2240280"/>
            <a:ext cx="8412480" cy="438912"/>
          </a:xfrm>
          <a:prstGeom prst="rect">
            <a:avLst/>
          </a:prstGeom>
          <a:noFill/>
        </p:spPr>
        <p:txBody>
          <a:bodyPr wrap="square">
            <a:spAutoFit/>
          </a:bodyPr>
          <a:lstStyle/>
          <a:p>
            <a:pPr algn="l"/>
            <a:r>
              <a:rPr sz="1300" b="0" i="0">
                <a:solidFill>
                  <a:srgbClr val="333333"/>
                </a:solidFill>
              </a:rPr>
              <a:t>Rangers take weeks to manually review one batch of images</a:t>
            </a:r>
          </a:p>
        </p:txBody>
      </p:sp>
      <p:sp>
        <p:nvSpPr>
          <p:cNvPr id="14" name="Rectangle 13"/>
          <p:cNvSpPr/>
          <p:nvPr/>
        </p:nvSpPr>
        <p:spPr>
          <a:xfrm>
            <a:off x="365760" y="2798064"/>
            <a:ext cx="11430000" cy="594360"/>
          </a:xfrm>
          <a:prstGeom prst="rect">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889504"/>
            <a:ext cx="2560320" cy="438912"/>
          </a:xfrm>
          <a:prstGeom prst="rect">
            <a:avLst/>
          </a:prstGeom>
          <a:noFill/>
        </p:spPr>
        <p:txBody>
          <a:bodyPr wrap="square">
            <a:spAutoFit/>
          </a:bodyPr>
          <a:lstStyle/>
          <a:p>
            <a:pPr algn="l"/>
            <a:r>
              <a:rPr sz="1300" b="1" i="0">
                <a:solidFill>
                  <a:srgbClr val="1A295A"/>
                </a:solidFill>
              </a:rPr>
              <a:t>😴  Human fatigue</a:t>
            </a:r>
          </a:p>
        </p:txBody>
      </p:sp>
      <p:sp>
        <p:nvSpPr>
          <p:cNvPr id="16" name="TextBox 15"/>
          <p:cNvSpPr txBox="1"/>
          <p:nvPr/>
        </p:nvSpPr>
        <p:spPr>
          <a:xfrm>
            <a:off x="3200400" y="2907792"/>
            <a:ext cx="8412480" cy="438912"/>
          </a:xfrm>
          <a:prstGeom prst="rect">
            <a:avLst/>
          </a:prstGeom>
          <a:noFill/>
        </p:spPr>
        <p:txBody>
          <a:bodyPr wrap="square">
            <a:spAutoFit/>
          </a:bodyPr>
          <a:lstStyle/>
          <a:p>
            <a:pPr algn="l"/>
            <a:r>
              <a:rPr sz="1300" b="0" i="0">
                <a:solidFill>
                  <a:srgbClr val="333333"/>
                </a:solidFill>
              </a:rPr>
              <a:t>Tired rangers miss tigers — data gaps in population count</a:t>
            </a:r>
          </a:p>
        </p:txBody>
      </p:sp>
      <p:sp>
        <p:nvSpPr>
          <p:cNvPr id="17" name="Rectangle 16"/>
          <p:cNvSpPr/>
          <p:nvPr/>
        </p:nvSpPr>
        <p:spPr>
          <a:xfrm>
            <a:off x="365760" y="3465576"/>
            <a:ext cx="11430000" cy="594360"/>
          </a:xfrm>
          <a:prstGeom prst="rect">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557016"/>
            <a:ext cx="2560320" cy="438912"/>
          </a:xfrm>
          <a:prstGeom prst="rect">
            <a:avLst/>
          </a:prstGeom>
          <a:noFill/>
        </p:spPr>
        <p:txBody>
          <a:bodyPr wrap="square">
            <a:spAutoFit/>
          </a:bodyPr>
          <a:lstStyle/>
          <a:p>
            <a:pPr algn="l"/>
            <a:r>
              <a:rPr sz="1300" b="1" i="0">
                <a:solidFill>
                  <a:srgbClr val="1A295A"/>
                </a:solidFill>
              </a:rPr>
              <a:t>🔍  Individual ID</a:t>
            </a:r>
          </a:p>
        </p:txBody>
      </p:sp>
      <p:sp>
        <p:nvSpPr>
          <p:cNvPr id="19" name="TextBox 18"/>
          <p:cNvSpPr txBox="1"/>
          <p:nvPr/>
        </p:nvSpPr>
        <p:spPr>
          <a:xfrm>
            <a:off x="3200400" y="3575304"/>
            <a:ext cx="8412480" cy="438912"/>
          </a:xfrm>
          <a:prstGeom prst="rect">
            <a:avLst/>
          </a:prstGeom>
          <a:noFill/>
        </p:spPr>
        <p:txBody>
          <a:bodyPr wrap="square">
            <a:spAutoFit/>
          </a:bodyPr>
          <a:lstStyle/>
          <a:p>
            <a:pPr algn="l"/>
            <a:r>
              <a:rPr sz="1300" b="0" i="0">
                <a:solidFill>
                  <a:srgbClr val="333333"/>
                </a:solidFill>
              </a:rPr>
              <a:t>Identifying tigers by stripe pattern requires expert knowledge</a:t>
            </a:r>
          </a:p>
        </p:txBody>
      </p:sp>
      <p:sp>
        <p:nvSpPr>
          <p:cNvPr id="20" name="Rectangle 19"/>
          <p:cNvSpPr/>
          <p:nvPr/>
        </p:nvSpPr>
        <p:spPr>
          <a:xfrm>
            <a:off x="365760" y="4133087"/>
            <a:ext cx="11430000" cy="594360"/>
          </a:xfrm>
          <a:prstGeom prst="rect">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224527"/>
            <a:ext cx="2560320" cy="438912"/>
          </a:xfrm>
          <a:prstGeom prst="rect">
            <a:avLst/>
          </a:prstGeom>
          <a:noFill/>
        </p:spPr>
        <p:txBody>
          <a:bodyPr wrap="square">
            <a:spAutoFit/>
          </a:bodyPr>
          <a:lstStyle/>
          <a:p>
            <a:pPr algn="l"/>
            <a:r>
              <a:rPr sz="1300" b="1" i="0">
                <a:solidFill>
                  <a:srgbClr val="1A295A"/>
                </a:solidFill>
              </a:rPr>
              <a:t>🚨  No alerts</a:t>
            </a:r>
          </a:p>
        </p:txBody>
      </p:sp>
      <p:sp>
        <p:nvSpPr>
          <p:cNvPr id="22" name="TextBox 21"/>
          <p:cNvSpPr txBox="1"/>
          <p:nvPr/>
        </p:nvSpPr>
        <p:spPr>
          <a:xfrm>
            <a:off x="3200400" y="4242816"/>
            <a:ext cx="8412480" cy="438912"/>
          </a:xfrm>
          <a:prstGeom prst="rect">
            <a:avLst/>
          </a:prstGeom>
          <a:noFill/>
        </p:spPr>
        <p:txBody>
          <a:bodyPr wrap="square">
            <a:spAutoFit/>
          </a:bodyPr>
          <a:lstStyle/>
          <a:p>
            <a:pPr algn="l"/>
            <a:r>
              <a:rPr sz="1300" b="0" i="0">
                <a:solidFill>
                  <a:srgbClr val="333333"/>
                </a:solidFill>
              </a:rPr>
              <a:t>Poaching or injured tiger detection is delayed by days</a:t>
            </a:r>
          </a:p>
        </p:txBody>
      </p:sp>
      <p:sp>
        <p:nvSpPr>
          <p:cNvPr id="23" name="Rectangle 22"/>
          <p:cNvSpPr/>
          <p:nvPr/>
        </p:nvSpPr>
        <p:spPr>
          <a:xfrm>
            <a:off x="365760" y="4800600"/>
            <a:ext cx="11430000" cy="594360"/>
          </a:xfrm>
          <a:prstGeom prst="rect">
            <a:avLst/>
          </a:prstGeom>
          <a:solidFill>
            <a:srgbClr val="F4F4F4"/>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892040"/>
            <a:ext cx="2560320" cy="438912"/>
          </a:xfrm>
          <a:prstGeom prst="rect">
            <a:avLst/>
          </a:prstGeom>
          <a:noFill/>
        </p:spPr>
        <p:txBody>
          <a:bodyPr wrap="square">
            <a:spAutoFit/>
          </a:bodyPr>
          <a:lstStyle/>
          <a:p>
            <a:pPr algn="l"/>
            <a:r>
              <a:rPr sz="1300" b="1" i="0">
                <a:solidFill>
                  <a:srgbClr val="1A295A"/>
                </a:solidFill>
              </a:rPr>
              <a:t>📊  No scale</a:t>
            </a:r>
          </a:p>
        </p:txBody>
      </p:sp>
      <p:sp>
        <p:nvSpPr>
          <p:cNvPr id="25" name="TextBox 24"/>
          <p:cNvSpPr txBox="1"/>
          <p:nvPr/>
        </p:nvSpPr>
        <p:spPr>
          <a:xfrm>
            <a:off x="3200400" y="4910328"/>
            <a:ext cx="8412480" cy="438912"/>
          </a:xfrm>
          <a:prstGeom prst="rect">
            <a:avLst/>
          </a:prstGeom>
          <a:noFill/>
        </p:spPr>
        <p:txBody>
          <a:bodyPr wrap="square">
            <a:spAutoFit/>
          </a:bodyPr>
          <a:lstStyle/>
          <a:p>
            <a:pPr algn="l"/>
            <a:r>
              <a:rPr sz="1300" b="0" i="0">
                <a:solidFill>
                  <a:srgbClr val="333333"/>
                </a:solidFill>
              </a:rPr>
              <a:t>Manual process cannot cover all 50+ tiger reserves in India</a:t>
            </a:r>
          </a:p>
        </p:txBody>
      </p:sp>
      <p:sp>
        <p:nvSpPr>
          <p:cNvPr id="26" name="Rectangle 25"/>
          <p:cNvSpPr/>
          <p:nvPr/>
        </p:nvSpPr>
        <p:spPr>
          <a:xfrm>
            <a:off x="365760" y="5559552"/>
            <a:ext cx="11430000" cy="50292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632704"/>
            <a:ext cx="11155680" cy="365760"/>
          </a:xfrm>
          <a:prstGeom prst="rect">
            <a:avLst/>
          </a:prstGeom>
          <a:noFill/>
        </p:spPr>
        <p:txBody>
          <a:bodyPr wrap="square">
            <a:spAutoFit/>
          </a:bodyPr>
          <a:lstStyle/>
          <a:p>
            <a:pPr algn="l"/>
            <a:r>
              <a:rPr sz="1100" b="1" i="0">
                <a:solidFill>
                  <a:srgbClr val="FFFFFF"/>
                </a:solidFill>
              </a:rPr>
              <a:t>🤝  Real data partnership: Anamitra Lahiri → Programme Director, Wildlife Dept, Govt of West Bengal  |  ~1 TB images available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972800" cy="685800"/>
          </a:xfrm>
          <a:prstGeom prst="rect">
            <a:avLst/>
          </a:prstGeom>
          <a:noFill/>
        </p:spPr>
        <p:txBody>
          <a:bodyPr wrap="square">
            <a:spAutoFit/>
          </a:bodyPr>
          <a:lstStyle/>
          <a:p>
            <a:pPr algn="l"/>
            <a:r>
              <a:rPr sz="2800" b="1" i="0">
                <a:solidFill>
                  <a:srgbClr val="FFFFFF"/>
                </a:solidFill>
              </a:rPr>
              <a:t>Our Solution — 3-Step AI Pipeline</a:t>
            </a:r>
          </a:p>
        </p:txBody>
      </p:sp>
      <p:sp>
        <p:nvSpPr>
          <p:cNvPr id="5" name="TextBox 4"/>
          <p:cNvSpPr txBox="1"/>
          <p:nvPr/>
        </p:nvSpPr>
        <p:spPr>
          <a:xfrm>
            <a:off x="365760" y="749808"/>
            <a:ext cx="10972800" cy="411480"/>
          </a:xfrm>
          <a:prstGeom prst="rect">
            <a:avLst/>
          </a:prstGeom>
          <a:noFill/>
        </p:spPr>
        <p:txBody>
          <a:bodyPr wrap="square">
            <a:spAutoFit/>
          </a:bodyPr>
          <a:lstStyle/>
          <a:p>
            <a:pPr algn="l"/>
            <a:r>
              <a:rPr sz="1400" b="0" i="0">
                <a:solidFill>
                  <a:srgbClr val="FFC107"/>
                </a:solidFill>
              </a:rPr>
              <a:t>Every camera trap image flows through all three steps automatically</a:t>
            </a:r>
          </a:p>
        </p:txBody>
      </p:sp>
      <p:sp>
        <p:nvSpPr>
          <p:cNvPr id="6" name="Rectangle 5"/>
          <p:cNvSpPr/>
          <p:nvPr/>
        </p:nvSpPr>
        <p:spPr>
          <a:xfrm>
            <a:off x="0" y="6492240"/>
            <a:ext cx="12188952" cy="3657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11612880" cy="274320"/>
          </a:xfrm>
          <a:prstGeom prst="rect">
            <a:avLst/>
          </a:prstGeom>
          <a:noFill/>
        </p:spPr>
        <p:txBody>
          <a:bodyPr wrap="square">
            <a:spAutoFit/>
          </a:bodyPr>
          <a:lstStyle/>
          <a:p>
            <a:pPr algn="ctr"/>
            <a:r>
              <a:rPr sz="900" b="0" i="0">
                <a:solidFill>
                  <a:srgbClr val="FFFFFF"/>
                </a:solidFill>
              </a:rPr>
              <a:t>EPAIB Batch 05 | Group 4 | IIM Lucknow | Sundarban Tiger Enumeration</a:t>
            </a:r>
          </a:p>
        </p:txBody>
      </p:sp>
      <p:sp>
        <p:nvSpPr>
          <p:cNvPr id="8" name="Rectangle 7"/>
          <p:cNvSpPr/>
          <p:nvPr/>
        </p:nvSpPr>
        <p:spPr>
          <a:xfrm>
            <a:off x="274320" y="1417320"/>
            <a:ext cx="3566160" cy="43891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90472"/>
            <a:ext cx="3383279" cy="320040"/>
          </a:xfrm>
          <a:prstGeom prst="rect">
            <a:avLst/>
          </a:prstGeom>
          <a:noFill/>
        </p:spPr>
        <p:txBody>
          <a:bodyPr wrap="square">
            <a:spAutoFit/>
          </a:bodyPr>
          <a:lstStyle/>
          <a:p>
            <a:pPr algn="l"/>
            <a:r>
              <a:rPr sz="1100" b="1" i="0">
                <a:solidFill>
                  <a:srgbClr val="FFFFFF"/>
                </a:solidFill>
              </a:rPr>
              <a:t>STEP 1</a:t>
            </a:r>
          </a:p>
        </p:txBody>
      </p:sp>
      <p:sp>
        <p:nvSpPr>
          <p:cNvPr id="10" name="TextBox 9"/>
          <p:cNvSpPr txBox="1"/>
          <p:nvPr/>
        </p:nvSpPr>
        <p:spPr>
          <a:xfrm>
            <a:off x="365760" y="1764792"/>
            <a:ext cx="3383279" cy="411480"/>
          </a:xfrm>
          <a:prstGeom prst="rect">
            <a:avLst/>
          </a:prstGeom>
          <a:noFill/>
        </p:spPr>
        <p:txBody>
          <a:bodyPr wrap="square">
            <a:spAutoFit/>
          </a:bodyPr>
          <a:lstStyle/>
          <a:p>
            <a:pPr algn="l"/>
            <a:r>
              <a:rPr sz="1600" b="1" i="0">
                <a:solidFill>
                  <a:srgbClr val="FFFFFF"/>
                </a:solidFill>
              </a:rPr>
              <a:t>DETECTION</a:t>
            </a:r>
          </a:p>
        </p:txBody>
      </p:sp>
      <p:sp>
        <p:nvSpPr>
          <p:cNvPr id="11" name="TextBox 10"/>
          <p:cNvSpPr txBox="1"/>
          <p:nvPr/>
        </p:nvSpPr>
        <p:spPr>
          <a:xfrm>
            <a:off x="411479" y="2221992"/>
            <a:ext cx="3337560" cy="292608"/>
          </a:xfrm>
          <a:prstGeom prst="rect">
            <a:avLst/>
          </a:prstGeom>
          <a:noFill/>
        </p:spPr>
        <p:txBody>
          <a:bodyPr wrap="square">
            <a:spAutoFit/>
          </a:bodyPr>
          <a:lstStyle/>
          <a:p>
            <a:pPr algn="l"/>
            <a:r>
              <a:rPr sz="1100" b="0" i="0">
                <a:solidFill>
                  <a:srgbClr val="FFFFFF"/>
                </a:solidFill>
              </a:rPr>
              <a:t>▸  ResNet50 (Transfer Learning)</a:t>
            </a:r>
          </a:p>
        </p:txBody>
      </p:sp>
      <p:sp>
        <p:nvSpPr>
          <p:cNvPr id="12" name="TextBox 11"/>
          <p:cNvSpPr txBox="1"/>
          <p:nvPr/>
        </p:nvSpPr>
        <p:spPr>
          <a:xfrm>
            <a:off x="411479" y="2523744"/>
            <a:ext cx="3337560" cy="292608"/>
          </a:xfrm>
          <a:prstGeom prst="rect">
            <a:avLst/>
          </a:prstGeom>
          <a:noFill/>
        </p:spPr>
        <p:txBody>
          <a:bodyPr wrap="square">
            <a:spAutoFit/>
          </a:bodyPr>
          <a:lstStyle/>
          <a:p>
            <a:pPr algn="l"/>
            <a:r>
              <a:rPr sz="1100" b="0" i="0">
                <a:solidFill>
                  <a:srgbClr val="FFFFFF"/>
                </a:solidFill>
              </a:rPr>
              <a:t>▸  Tiger present? Yes / No</a:t>
            </a:r>
          </a:p>
        </p:txBody>
      </p:sp>
      <p:sp>
        <p:nvSpPr>
          <p:cNvPr id="13" name="TextBox 12"/>
          <p:cNvSpPr txBox="1"/>
          <p:nvPr/>
        </p:nvSpPr>
        <p:spPr>
          <a:xfrm>
            <a:off x="411479" y="2825496"/>
            <a:ext cx="3337560" cy="292608"/>
          </a:xfrm>
          <a:prstGeom prst="rect">
            <a:avLst/>
          </a:prstGeom>
          <a:noFill/>
        </p:spPr>
        <p:txBody>
          <a:bodyPr wrap="square">
            <a:spAutoFit/>
          </a:bodyPr>
          <a:lstStyle/>
          <a:p>
            <a:pPr algn="l"/>
            <a:r>
              <a:rPr sz="1100" b="0" i="0">
                <a:solidFill>
                  <a:srgbClr val="FFFFFF"/>
                </a:solidFill>
              </a:rPr>
              <a:t>▸  Binary classification</a:t>
            </a:r>
          </a:p>
        </p:txBody>
      </p:sp>
      <p:sp>
        <p:nvSpPr>
          <p:cNvPr id="14" name="TextBox 13"/>
          <p:cNvSpPr txBox="1"/>
          <p:nvPr/>
        </p:nvSpPr>
        <p:spPr>
          <a:xfrm>
            <a:off x="411479" y="3127248"/>
            <a:ext cx="3337560" cy="292608"/>
          </a:xfrm>
          <a:prstGeom prst="rect">
            <a:avLst/>
          </a:prstGeom>
          <a:noFill/>
        </p:spPr>
        <p:txBody>
          <a:bodyPr wrap="square">
            <a:spAutoFit/>
          </a:bodyPr>
          <a:lstStyle/>
          <a:p>
            <a:pPr algn="l"/>
            <a:r>
              <a:rPr sz="1100" b="0" i="0">
                <a:solidFill>
                  <a:srgbClr val="FFFFFF"/>
                </a:solidFill>
              </a:rPr>
              <a:t>▸  Target: &gt; 90% accuracy</a:t>
            </a:r>
          </a:p>
        </p:txBody>
      </p:sp>
      <p:sp>
        <p:nvSpPr>
          <p:cNvPr id="15" name="TextBox 14"/>
          <p:cNvSpPr txBox="1"/>
          <p:nvPr/>
        </p:nvSpPr>
        <p:spPr>
          <a:xfrm>
            <a:off x="411479" y="3429000"/>
            <a:ext cx="3337560" cy="292608"/>
          </a:xfrm>
          <a:prstGeom prst="rect">
            <a:avLst/>
          </a:prstGeom>
          <a:noFill/>
        </p:spPr>
        <p:txBody>
          <a:bodyPr wrap="square">
            <a:spAutoFit/>
          </a:bodyPr>
          <a:lstStyle/>
          <a:p>
            <a:pPr algn="l"/>
            <a:r>
              <a:rPr sz="1100" b="0" i="0">
                <a:solidFill>
                  <a:srgbClr val="FFFFFF"/>
                </a:solidFill>
              </a:rPr>
              <a:t>▸  &lt; 2 seconds per image</a:t>
            </a:r>
          </a:p>
        </p:txBody>
      </p:sp>
      <p:sp>
        <p:nvSpPr>
          <p:cNvPr id="16" name="Rectangle 15"/>
          <p:cNvSpPr/>
          <p:nvPr/>
        </p:nvSpPr>
        <p:spPr>
          <a:xfrm>
            <a:off x="4297680" y="1417320"/>
            <a:ext cx="3566160" cy="438912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1490472"/>
            <a:ext cx="3383279" cy="320040"/>
          </a:xfrm>
          <a:prstGeom prst="rect">
            <a:avLst/>
          </a:prstGeom>
          <a:noFill/>
        </p:spPr>
        <p:txBody>
          <a:bodyPr wrap="square">
            <a:spAutoFit/>
          </a:bodyPr>
          <a:lstStyle/>
          <a:p>
            <a:pPr algn="l"/>
            <a:r>
              <a:rPr sz="1100" b="1" i="0">
                <a:solidFill>
                  <a:srgbClr val="FFFFFF"/>
                </a:solidFill>
              </a:rPr>
              <a:t>STEP 2</a:t>
            </a:r>
          </a:p>
        </p:txBody>
      </p:sp>
      <p:sp>
        <p:nvSpPr>
          <p:cNvPr id="18" name="TextBox 17"/>
          <p:cNvSpPr txBox="1"/>
          <p:nvPr/>
        </p:nvSpPr>
        <p:spPr>
          <a:xfrm>
            <a:off x="4389120" y="1764792"/>
            <a:ext cx="3383279" cy="411480"/>
          </a:xfrm>
          <a:prstGeom prst="rect">
            <a:avLst/>
          </a:prstGeom>
          <a:noFill/>
        </p:spPr>
        <p:txBody>
          <a:bodyPr wrap="square">
            <a:spAutoFit/>
          </a:bodyPr>
          <a:lstStyle/>
          <a:p>
            <a:pPr algn="l"/>
            <a:r>
              <a:rPr sz="1600" b="1" i="0">
                <a:solidFill>
                  <a:srgbClr val="FFFFFF"/>
                </a:solidFill>
              </a:rPr>
              <a:t>IDENTIFICATION + COUNT</a:t>
            </a:r>
          </a:p>
        </p:txBody>
      </p:sp>
      <p:sp>
        <p:nvSpPr>
          <p:cNvPr id="19" name="TextBox 18"/>
          <p:cNvSpPr txBox="1"/>
          <p:nvPr/>
        </p:nvSpPr>
        <p:spPr>
          <a:xfrm>
            <a:off x="4434840" y="2221992"/>
            <a:ext cx="3337560" cy="292608"/>
          </a:xfrm>
          <a:prstGeom prst="rect">
            <a:avLst/>
          </a:prstGeom>
          <a:noFill/>
        </p:spPr>
        <p:txBody>
          <a:bodyPr wrap="square">
            <a:spAutoFit/>
          </a:bodyPr>
          <a:lstStyle/>
          <a:p>
            <a:pPr algn="l"/>
            <a:r>
              <a:rPr sz="1100" b="0" i="0">
                <a:solidFill>
                  <a:srgbClr val="FFFFFF"/>
                </a:solidFill>
              </a:rPr>
              <a:t>▸  EfficientNetB3 — stripe analysis</a:t>
            </a:r>
          </a:p>
        </p:txBody>
      </p:sp>
      <p:sp>
        <p:nvSpPr>
          <p:cNvPr id="20" name="TextBox 19"/>
          <p:cNvSpPr txBox="1"/>
          <p:nvPr/>
        </p:nvSpPr>
        <p:spPr>
          <a:xfrm>
            <a:off x="4434840" y="2523744"/>
            <a:ext cx="3337560" cy="292608"/>
          </a:xfrm>
          <a:prstGeom prst="rect">
            <a:avLst/>
          </a:prstGeom>
          <a:noFill/>
        </p:spPr>
        <p:txBody>
          <a:bodyPr wrap="square">
            <a:spAutoFit/>
          </a:bodyPr>
          <a:lstStyle/>
          <a:p>
            <a:pPr algn="l"/>
            <a:r>
              <a:rPr sz="1100" b="0" i="0">
                <a:solidFill>
                  <a:srgbClr val="FFFFFF"/>
                </a:solidFill>
              </a:rPr>
              <a:t>▸  Which individual tiger is this?</a:t>
            </a:r>
          </a:p>
        </p:txBody>
      </p:sp>
      <p:sp>
        <p:nvSpPr>
          <p:cNvPr id="21" name="TextBox 20"/>
          <p:cNvSpPr txBox="1"/>
          <p:nvPr/>
        </p:nvSpPr>
        <p:spPr>
          <a:xfrm>
            <a:off x="4434840" y="2825496"/>
            <a:ext cx="3337560" cy="292608"/>
          </a:xfrm>
          <a:prstGeom prst="rect">
            <a:avLst/>
          </a:prstGeom>
          <a:noFill/>
        </p:spPr>
        <p:txBody>
          <a:bodyPr wrap="square">
            <a:spAutoFit/>
          </a:bodyPr>
          <a:lstStyle/>
          <a:p>
            <a:pPr algn="l"/>
            <a:r>
              <a:rPr sz="1100" b="0" i="0">
                <a:solidFill>
                  <a:srgbClr val="FFFFFF"/>
                </a:solidFill>
              </a:rPr>
              <a:t>▸  YOLOv8 — count tigers per frame</a:t>
            </a:r>
          </a:p>
        </p:txBody>
      </p:sp>
      <p:sp>
        <p:nvSpPr>
          <p:cNvPr id="22" name="TextBox 21"/>
          <p:cNvSpPr txBox="1"/>
          <p:nvPr/>
        </p:nvSpPr>
        <p:spPr>
          <a:xfrm>
            <a:off x="4434840" y="3127248"/>
            <a:ext cx="3337560" cy="292608"/>
          </a:xfrm>
          <a:prstGeom prst="rect">
            <a:avLst/>
          </a:prstGeom>
          <a:noFill/>
        </p:spPr>
        <p:txBody>
          <a:bodyPr wrap="square">
            <a:spAutoFit/>
          </a:bodyPr>
          <a:lstStyle/>
          <a:p>
            <a:pPr algn="l"/>
            <a:r>
              <a:rPr sz="1100" b="0" i="0">
                <a:solidFill>
                  <a:srgbClr val="FFFFFF"/>
                </a:solidFill>
              </a:rPr>
              <a:t>▸  ArcFace loss for ID accuracy</a:t>
            </a:r>
          </a:p>
        </p:txBody>
      </p:sp>
      <p:sp>
        <p:nvSpPr>
          <p:cNvPr id="23" name="TextBox 22"/>
          <p:cNvSpPr txBox="1"/>
          <p:nvPr/>
        </p:nvSpPr>
        <p:spPr>
          <a:xfrm>
            <a:off x="4434840" y="3429000"/>
            <a:ext cx="3337560" cy="292608"/>
          </a:xfrm>
          <a:prstGeom prst="rect">
            <a:avLst/>
          </a:prstGeom>
          <a:noFill/>
        </p:spPr>
        <p:txBody>
          <a:bodyPr wrap="square">
            <a:spAutoFit/>
          </a:bodyPr>
          <a:lstStyle/>
          <a:p>
            <a:pPr algn="l"/>
            <a:r>
              <a:rPr sz="1100" b="0" i="0">
                <a:solidFill>
                  <a:srgbClr val="FFFFFF"/>
                </a:solidFill>
              </a:rPr>
              <a:t>▸  Target: &gt; 80% individual ID</a:t>
            </a:r>
          </a:p>
        </p:txBody>
      </p:sp>
      <p:sp>
        <p:nvSpPr>
          <p:cNvPr id="24" name="Rectangle 23"/>
          <p:cNvSpPr/>
          <p:nvPr/>
        </p:nvSpPr>
        <p:spPr>
          <a:xfrm>
            <a:off x="8321040" y="1417320"/>
            <a:ext cx="3566160" cy="43891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1490472"/>
            <a:ext cx="3383279" cy="320040"/>
          </a:xfrm>
          <a:prstGeom prst="rect">
            <a:avLst/>
          </a:prstGeom>
          <a:noFill/>
        </p:spPr>
        <p:txBody>
          <a:bodyPr wrap="square">
            <a:spAutoFit/>
          </a:bodyPr>
          <a:lstStyle/>
          <a:p>
            <a:pPr algn="l"/>
            <a:r>
              <a:rPr sz="1100" b="1" i="0">
                <a:solidFill>
                  <a:srgbClr val="FFFFFF"/>
                </a:solidFill>
              </a:rPr>
              <a:t>STEP 3</a:t>
            </a:r>
          </a:p>
        </p:txBody>
      </p:sp>
      <p:sp>
        <p:nvSpPr>
          <p:cNvPr id="26" name="TextBox 25"/>
          <p:cNvSpPr txBox="1"/>
          <p:nvPr/>
        </p:nvSpPr>
        <p:spPr>
          <a:xfrm>
            <a:off x="8412480" y="1764792"/>
            <a:ext cx="3383279" cy="411480"/>
          </a:xfrm>
          <a:prstGeom prst="rect">
            <a:avLst/>
          </a:prstGeom>
          <a:noFill/>
        </p:spPr>
        <p:txBody>
          <a:bodyPr wrap="square">
            <a:spAutoFit/>
          </a:bodyPr>
          <a:lstStyle/>
          <a:p>
            <a:pPr algn="l"/>
            <a:r>
              <a:rPr sz="1600" b="1" i="0">
                <a:solidFill>
                  <a:srgbClr val="FFFFFF"/>
                </a:solidFill>
              </a:rPr>
              <a:t>METADATA + HABITAT</a:t>
            </a:r>
          </a:p>
        </p:txBody>
      </p:sp>
      <p:sp>
        <p:nvSpPr>
          <p:cNvPr id="27" name="TextBox 26"/>
          <p:cNvSpPr txBox="1"/>
          <p:nvPr/>
        </p:nvSpPr>
        <p:spPr>
          <a:xfrm>
            <a:off x="8458200" y="2221992"/>
            <a:ext cx="3337560" cy="292608"/>
          </a:xfrm>
          <a:prstGeom prst="rect">
            <a:avLst/>
          </a:prstGeom>
          <a:noFill/>
        </p:spPr>
        <p:txBody>
          <a:bodyPr wrap="square">
            <a:spAutoFit/>
          </a:bodyPr>
          <a:lstStyle/>
          <a:p>
            <a:pPr algn="l"/>
            <a:r>
              <a:rPr sz="1100" b="0" i="0">
                <a:solidFill>
                  <a:srgbClr val="FFFFFF"/>
                </a:solidFill>
              </a:rPr>
              <a:t>▸  Read GPS + timestamp from photo</a:t>
            </a:r>
          </a:p>
        </p:txBody>
      </p:sp>
      <p:sp>
        <p:nvSpPr>
          <p:cNvPr id="28" name="TextBox 27"/>
          <p:cNvSpPr txBox="1"/>
          <p:nvPr/>
        </p:nvSpPr>
        <p:spPr>
          <a:xfrm>
            <a:off x="8458200" y="2523744"/>
            <a:ext cx="3337560" cy="292608"/>
          </a:xfrm>
          <a:prstGeom prst="rect">
            <a:avLst/>
          </a:prstGeom>
          <a:noFill/>
        </p:spPr>
        <p:txBody>
          <a:bodyPr wrap="square">
            <a:spAutoFit/>
          </a:bodyPr>
          <a:lstStyle/>
          <a:p>
            <a:pPr algn="l"/>
            <a:r>
              <a:rPr sz="1100" b="0" i="0">
                <a:solidFill>
                  <a:srgbClr val="FFFFFF"/>
                </a:solidFill>
              </a:rPr>
              <a:t>▸  Map location → habitat zone</a:t>
            </a:r>
          </a:p>
        </p:txBody>
      </p:sp>
      <p:sp>
        <p:nvSpPr>
          <p:cNvPr id="29" name="TextBox 28"/>
          <p:cNvSpPr txBox="1"/>
          <p:nvPr/>
        </p:nvSpPr>
        <p:spPr>
          <a:xfrm>
            <a:off x="8458200" y="2825496"/>
            <a:ext cx="3337560" cy="292608"/>
          </a:xfrm>
          <a:prstGeom prst="rect">
            <a:avLst/>
          </a:prstGeom>
          <a:noFill/>
        </p:spPr>
        <p:txBody>
          <a:bodyPr wrap="square">
            <a:spAutoFit/>
          </a:bodyPr>
          <a:lstStyle/>
          <a:p>
            <a:pPr algn="l"/>
            <a:r>
              <a:rPr sz="1100" b="0" i="0">
                <a:solidFill>
                  <a:srgbClr val="FFFFFF"/>
                </a:solidFill>
              </a:rPr>
              <a:t>▸  Assign tiger name / ID</a:t>
            </a:r>
          </a:p>
        </p:txBody>
      </p:sp>
      <p:sp>
        <p:nvSpPr>
          <p:cNvPr id="30" name="TextBox 29"/>
          <p:cNvSpPr txBox="1"/>
          <p:nvPr/>
        </p:nvSpPr>
        <p:spPr>
          <a:xfrm>
            <a:off x="8458200" y="3127248"/>
            <a:ext cx="3337560" cy="292608"/>
          </a:xfrm>
          <a:prstGeom prst="rect">
            <a:avLst/>
          </a:prstGeom>
          <a:noFill/>
        </p:spPr>
        <p:txBody>
          <a:bodyPr wrap="square">
            <a:spAutoFit/>
          </a:bodyPr>
          <a:lstStyle/>
          <a:p>
            <a:pPr algn="l"/>
            <a:r>
              <a:rPr sz="1100" b="0" i="0">
                <a:solidFill>
                  <a:srgbClr val="FFFFFF"/>
                </a:solidFill>
              </a:rPr>
              <a:t>▸  Activity pattern analysis</a:t>
            </a:r>
          </a:p>
        </p:txBody>
      </p:sp>
      <p:sp>
        <p:nvSpPr>
          <p:cNvPr id="31" name="TextBox 30"/>
          <p:cNvSpPr txBox="1"/>
          <p:nvPr/>
        </p:nvSpPr>
        <p:spPr>
          <a:xfrm>
            <a:off x="8458200" y="3429000"/>
            <a:ext cx="3337560" cy="292608"/>
          </a:xfrm>
          <a:prstGeom prst="rect">
            <a:avLst/>
          </a:prstGeom>
          <a:noFill/>
        </p:spPr>
        <p:txBody>
          <a:bodyPr wrap="square">
            <a:spAutoFit/>
          </a:bodyPr>
          <a:lstStyle/>
          <a:p>
            <a:pPr algn="l"/>
            <a:r>
              <a:rPr sz="1100" b="0" i="0">
                <a:solidFill>
                  <a:srgbClr val="FFFFFF"/>
                </a:solidFill>
              </a:rPr>
              <a:t>▸  Territory + movement profile</a:t>
            </a:r>
          </a:p>
        </p:txBody>
      </p:sp>
      <p:sp>
        <p:nvSpPr>
          <p:cNvPr id="32" name="TextBox 31"/>
          <p:cNvSpPr txBox="1"/>
          <p:nvPr/>
        </p:nvSpPr>
        <p:spPr>
          <a:xfrm>
            <a:off x="3840480" y="3383280"/>
            <a:ext cx="411480" cy="548640"/>
          </a:xfrm>
          <a:prstGeom prst="rect">
            <a:avLst/>
          </a:prstGeom>
          <a:noFill/>
        </p:spPr>
        <p:txBody>
          <a:bodyPr wrap="square">
            <a:spAutoFit/>
          </a:bodyPr>
          <a:lstStyle/>
          <a:p>
            <a:pPr algn="ctr"/>
            <a:r>
              <a:rPr sz="2200" b="0" i="0">
                <a:solidFill>
                  <a:srgbClr val="333333"/>
                </a:solidFill>
              </a:rPr>
              <a:t>▶</a:t>
            </a:r>
          </a:p>
        </p:txBody>
      </p:sp>
      <p:sp>
        <p:nvSpPr>
          <p:cNvPr id="33" name="TextBox 32"/>
          <p:cNvSpPr txBox="1"/>
          <p:nvPr/>
        </p:nvSpPr>
        <p:spPr>
          <a:xfrm>
            <a:off x="7863840" y="3383280"/>
            <a:ext cx="411480" cy="548640"/>
          </a:xfrm>
          <a:prstGeom prst="rect">
            <a:avLst/>
          </a:prstGeom>
          <a:noFill/>
        </p:spPr>
        <p:txBody>
          <a:bodyPr wrap="square">
            <a:spAutoFit/>
          </a:bodyPr>
          <a:lstStyle/>
          <a:p>
            <a:pPr algn="ctr"/>
            <a:r>
              <a:rPr sz="2200" b="0" i="0">
                <a:solidFill>
                  <a:srgbClr val="333333"/>
                </a:solidFill>
              </a:rPr>
              <a:t>▶</a:t>
            </a:r>
          </a:p>
        </p:txBody>
      </p:sp>
      <p:sp>
        <p:nvSpPr>
          <p:cNvPr id="34" name="Rectangle 33"/>
          <p:cNvSpPr/>
          <p:nvPr/>
        </p:nvSpPr>
        <p:spPr>
          <a:xfrm>
            <a:off x="274320" y="5897880"/>
            <a:ext cx="11640312" cy="50292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5961888"/>
            <a:ext cx="11430000" cy="365760"/>
          </a:xfrm>
          <a:prstGeom prst="rect">
            <a:avLst/>
          </a:prstGeom>
          <a:noFill/>
        </p:spPr>
        <p:txBody>
          <a:bodyPr wrap="square">
            <a:spAutoFit/>
          </a:bodyPr>
          <a:lstStyle/>
          <a:p>
            <a:pPr algn="ctr"/>
            <a:r>
              <a:rPr sz="1200" b="1" i="0">
                <a:solidFill>
                  <a:srgbClr val="FFFFFF"/>
                </a:solidFill>
              </a:rPr>
              <a:t>📊  OUTPUT:  "T-17  |  2:14 AM  |  Camera B-12  |  Sector Sajnekhali  |  Habitat: mangrove-core  |  3rd sighting this week"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972800" cy="685800"/>
          </a:xfrm>
          <a:prstGeom prst="rect">
            <a:avLst/>
          </a:prstGeom>
          <a:noFill/>
        </p:spPr>
        <p:txBody>
          <a:bodyPr wrap="square">
            <a:spAutoFit/>
          </a:bodyPr>
          <a:lstStyle/>
          <a:p>
            <a:pPr algn="l"/>
            <a:r>
              <a:rPr sz="2800" b="1" i="0">
                <a:solidFill>
                  <a:srgbClr val="FFFFFF"/>
                </a:solidFill>
              </a:rPr>
              <a:t>Step 1 — Detection Algorithms</a:t>
            </a:r>
          </a:p>
        </p:txBody>
      </p:sp>
      <p:sp>
        <p:nvSpPr>
          <p:cNvPr id="5" name="TextBox 4"/>
          <p:cNvSpPr txBox="1"/>
          <p:nvPr/>
        </p:nvSpPr>
        <p:spPr>
          <a:xfrm>
            <a:off x="365760" y="749808"/>
            <a:ext cx="10972800" cy="411480"/>
          </a:xfrm>
          <a:prstGeom prst="rect">
            <a:avLst/>
          </a:prstGeom>
          <a:noFill/>
        </p:spPr>
        <p:txBody>
          <a:bodyPr wrap="square">
            <a:spAutoFit/>
          </a:bodyPr>
          <a:lstStyle/>
          <a:p>
            <a:pPr algn="l"/>
            <a:r>
              <a:rPr sz="1400" b="0" i="0">
                <a:solidFill>
                  <a:srgbClr val="FFFFFF"/>
                </a:solidFill>
              </a:rPr>
              <a:t>Is a tiger present in this image?</a:t>
            </a:r>
          </a:p>
        </p:txBody>
      </p:sp>
      <p:sp>
        <p:nvSpPr>
          <p:cNvPr id="6" name="Rectangle 5"/>
          <p:cNvSpPr/>
          <p:nvPr/>
        </p:nvSpPr>
        <p:spPr>
          <a:xfrm>
            <a:off x="0" y="6492240"/>
            <a:ext cx="12188952" cy="3657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11612880" cy="274320"/>
          </a:xfrm>
          <a:prstGeom prst="rect">
            <a:avLst/>
          </a:prstGeom>
          <a:noFill/>
        </p:spPr>
        <p:txBody>
          <a:bodyPr wrap="square">
            <a:spAutoFit/>
          </a:bodyPr>
          <a:lstStyle/>
          <a:p>
            <a:pPr algn="ctr"/>
            <a:r>
              <a:rPr sz="900" b="0" i="0">
                <a:solidFill>
                  <a:srgbClr val="FFFFFF"/>
                </a:solidFill>
              </a:rPr>
              <a:t>EPAIB Batch 05 | Group 4 | IIM Lucknow | Sundarban Tiger Enumeration</a:t>
            </a:r>
          </a:p>
        </p:txBody>
      </p:sp>
      <p:sp>
        <p:nvSpPr>
          <p:cNvPr id="8" name="Rectangle 7"/>
          <p:cNvSpPr/>
          <p:nvPr/>
        </p:nvSpPr>
        <p:spPr>
          <a:xfrm>
            <a:off x="274320" y="1371600"/>
            <a:ext cx="11612880"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508760"/>
            <a:ext cx="2743200" cy="38404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 y="1572768"/>
            <a:ext cx="2651760" cy="292607"/>
          </a:xfrm>
          <a:prstGeom prst="rect">
            <a:avLst/>
          </a:prstGeom>
          <a:noFill/>
        </p:spPr>
        <p:txBody>
          <a:bodyPr wrap="square">
            <a:spAutoFit/>
          </a:bodyPr>
          <a:lstStyle/>
          <a:p>
            <a:pPr algn="l"/>
            <a:r>
              <a:rPr sz="1100" b="1" i="0">
                <a:solidFill>
                  <a:srgbClr val="FFFFFF"/>
                </a:solidFill>
              </a:rPr>
              <a:t>Algorithm</a:t>
            </a:r>
          </a:p>
        </p:txBody>
      </p:sp>
      <p:sp>
        <p:nvSpPr>
          <p:cNvPr id="11" name="Rectangle 10"/>
          <p:cNvSpPr/>
          <p:nvPr/>
        </p:nvSpPr>
        <p:spPr>
          <a:xfrm>
            <a:off x="3017520" y="1508760"/>
            <a:ext cx="4389120" cy="38404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90672" y="1572768"/>
            <a:ext cx="4297680" cy="292607"/>
          </a:xfrm>
          <a:prstGeom prst="rect">
            <a:avLst/>
          </a:prstGeom>
          <a:noFill/>
        </p:spPr>
        <p:txBody>
          <a:bodyPr wrap="square">
            <a:spAutoFit/>
          </a:bodyPr>
          <a:lstStyle/>
          <a:p>
            <a:pPr algn="l"/>
            <a:r>
              <a:rPr sz="1100" b="1" i="0">
                <a:solidFill>
                  <a:srgbClr val="FFFFFF"/>
                </a:solidFill>
              </a:rPr>
              <a:t>What it does</a:t>
            </a:r>
          </a:p>
        </p:txBody>
      </p:sp>
      <p:sp>
        <p:nvSpPr>
          <p:cNvPr id="13" name="Rectangle 12"/>
          <p:cNvSpPr/>
          <p:nvPr/>
        </p:nvSpPr>
        <p:spPr>
          <a:xfrm>
            <a:off x="7406640" y="1508760"/>
            <a:ext cx="4480560" cy="38404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9792" y="1572768"/>
            <a:ext cx="4389120" cy="292607"/>
          </a:xfrm>
          <a:prstGeom prst="rect">
            <a:avLst/>
          </a:prstGeom>
          <a:noFill/>
        </p:spPr>
        <p:txBody>
          <a:bodyPr wrap="square">
            <a:spAutoFit/>
          </a:bodyPr>
          <a:lstStyle/>
          <a:p>
            <a:pPr algn="l"/>
            <a:r>
              <a:rPr sz="1100" b="1" i="0">
                <a:solidFill>
                  <a:srgbClr val="FFFFFF"/>
                </a:solidFill>
              </a:rPr>
              <a:t>Why relevant</a:t>
            </a:r>
          </a:p>
        </p:txBody>
      </p:sp>
      <p:sp>
        <p:nvSpPr>
          <p:cNvPr id="15" name="Rectangle 14"/>
          <p:cNvSpPr/>
          <p:nvPr/>
        </p:nvSpPr>
        <p:spPr>
          <a:xfrm>
            <a:off x="274320" y="1892807"/>
            <a:ext cx="27432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 y="1947672"/>
            <a:ext cx="2651760" cy="292607"/>
          </a:xfrm>
          <a:prstGeom prst="rect">
            <a:avLst/>
          </a:prstGeom>
          <a:noFill/>
        </p:spPr>
        <p:txBody>
          <a:bodyPr wrap="square">
            <a:spAutoFit/>
          </a:bodyPr>
          <a:lstStyle/>
          <a:p>
            <a:pPr algn="l"/>
            <a:r>
              <a:rPr sz="1000" b="0" i="0">
                <a:solidFill>
                  <a:srgbClr val="333333"/>
                </a:solidFill>
              </a:rPr>
              <a:t>ResNet50 ★</a:t>
            </a:r>
          </a:p>
        </p:txBody>
      </p:sp>
      <p:sp>
        <p:nvSpPr>
          <p:cNvPr id="17" name="Rectangle 16"/>
          <p:cNvSpPr/>
          <p:nvPr/>
        </p:nvSpPr>
        <p:spPr>
          <a:xfrm>
            <a:off x="3017520" y="1892807"/>
            <a:ext cx="438912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90672" y="1947672"/>
            <a:ext cx="4297680" cy="292607"/>
          </a:xfrm>
          <a:prstGeom prst="rect">
            <a:avLst/>
          </a:prstGeom>
          <a:noFill/>
        </p:spPr>
        <p:txBody>
          <a:bodyPr wrap="square">
            <a:spAutoFit/>
          </a:bodyPr>
          <a:lstStyle/>
          <a:p>
            <a:pPr algn="l"/>
            <a:r>
              <a:rPr sz="1000" b="0" i="0">
                <a:solidFill>
                  <a:srgbClr val="333333"/>
                </a:solidFill>
              </a:rPr>
              <a:t>50-layer CNN, ImageNet transfer</a:t>
            </a:r>
          </a:p>
        </p:txBody>
      </p:sp>
      <p:sp>
        <p:nvSpPr>
          <p:cNvPr id="19" name="Rectangle 18"/>
          <p:cNvSpPr/>
          <p:nvPr/>
        </p:nvSpPr>
        <p:spPr>
          <a:xfrm>
            <a:off x="7406640" y="1892807"/>
            <a:ext cx="448056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79792" y="1947672"/>
            <a:ext cx="4389120" cy="292607"/>
          </a:xfrm>
          <a:prstGeom prst="rect">
            <a:avLst/>
          </a:prstGeom>
          <a:noFill/>
        </p:spPr>
        <p:txBody>
          <a:bodyPr wrap="square">
            <a:spAutoFit/>
          </a:bodyPr>
          <a:lstStyle/>
          <a:p>
            <a:pPr algn="l"/>
            <a:r>
              <a:rPr sz="1000" b="0" i="0">
                <a:solidFill>
                  <a:srgbClr val="333333"/>
                </a:solidFill>
              </a:rPr>
              <a:t>Our baseline — proven, fast</a:t>
            </a:r>
          </a:p>
        </p:txBody>
      </p:sp>
      <p:sp>
        <p:nvSpPr>
          <p:cNvPr id="21" name="Rectangle 20"/>
          <p:cNvSpPr/>
          <p:nvPr/>
        </p:nvSpPr>
        <p:spPr>
          <a:xfrm>
            <a:off x="274320" y="2276856"/>
            <a:ext cx="274320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 y="2331720"/>
            <a:ext cx="2651760" cy="292607"/>
          </a:xfrm>
          <a:prstGeom prst="rect">
            <a:avLst/>
          </a:prstGeom>
          <a:noFill/>
        </p:spPr>
        <p:txBody>
          <a:bodyPr wrap="square">
            <a:spAutoFit/>
          </a:bodyPr>
          <a:lstStyle/>
          <a:p>
            <a:pPr algn="l"/>
            <a:r>
              <a:rPr sz="1000" b="0" i="0">
                <a:solidFill>
                  <a:srgbClr val="333333"/>
                </a:solidFill>
              </a:rPr>
              <a:t>EfficientNetV2</a:t>
            </a:r>
          </a:p>
        </p:txBody>
      </p:sp>
      <p:sp>
        <p:nvSpPr>
          <p:cNvPr id="23" name="Rectangle 22"/>
          <p:cNvSpPr/>
          <p:nvPr/>
        </p:nvSpPr>
        <p:spPr>
          <a:xfrm>
            <a:off x="3017520" y="2276856"/>
            <a:ext cx="438912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90672" y="2331720"/>
            <a:ext cx="4297680" cy="292607"/>
          </a:xfrm>
          <a:prstGeom prst="rect">
            <a:avLst/>
          </a:prstGeom>
          <a:noFill/>
        </p:spPr>
        <p:txBody>
          <a:bodyPr wrap="square">
            <a:spAutoFit/>
          </a:bodyPr>
          <a:lstStyle/>
          <a:p>
            <a:pPr algn="l"/>
            <a:r>
              <a:rPr sz="1000" b="0" i="0">
                <a:solidFill>
                  <a:srgbClr val="333333"/>
                </a:solidFill>
              </a:rPr>
              <a:t>CNN optimised for accuracy/speed</a:t>
            </a:r>
          </a:p>
        </p:txBody>
      </p:sp>
      <p:sp>
        <p:nvSpPr>
          <p:cNvPr id="25" name="Rectangle 24"/>
          <p:cNvSpPr/>
          <p:nvPr/>
        </p:nvSpPr>
        <p:spPr>
          <a:xfrm>
            <a:off x="7406640" y="2276856"/>
            <a:ext cx="448056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9792" y="2331720"/>
            <a:ext cx="4389120" cy="292607"/>
          </a:xfrm>
          <a:prstGeom prst="rect">
            <a:avLst/>
          </a:prstGeom>
          <a:noFill/>
        </p:spPr>
        <p:txBody>
          <a:bodyPr wrap="square">
            <a:spAutoFit/>
          </a:bodyPr>
          <a:lstStyle/>
          <a:p>
            <a:pPr algn="l"/>
            <a:r>
              <a:rPr sz="1000" b="0" i="0">
                <a:solidFill>
                  <a:srgbClr val="333333"/>
                </a:solidFill>
              </a:rPr>
              <a:t>Better than B3, recommended upgrade</a:t>
            </a:r>
          </a:p>
        </p:txBody>
      </p:sp>
      <p:sp>
        <p:nvSpPr>
          <p:cNvPr id="27" name="Rectangle 26"/>
          <p:cNvSpPr/>
          <p:nvPr/>
        </p:nvSpPr>
        <p:spPr>
          <a:xfrm>
            <a:off x="274320" y="2660904"/>
            <a:ext cx="27432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 y="2715768"/>
            <a:ext cx="2651760" cy="292607"/>
          </a:xfrm>
          <a:prstGeom prst="rect">
            <a:avLst/>
          </a:prstGeom>
          <a:noFill/>
        </p:spPr>
        <p:txBody>
          <a:bodyPr wrap="square">
            <a:spAutoFit/>
          </a:bodyPr>
          <a:lstStyle/>
          <a:p>
            <a:pPr algn="l"/>
            <a:r>
              <a:rPr sz="1000" b="0" i="0">
                <a:solidFill>
                  <a:srgbClr val="333333"/>
                </a:solidFill>
              </a:rPr>
              <a:t>Vision Transformer
(ViT)</a:t>
            </a:r>
          </a:p>
        </p:txBody>
      </p:sp>
      <p:sp>
        <p:nvSpPr>
          <p:cNvPr id="29" name="Rectangle 28"/>
          <p:cNvSpPr/>
          <p:nvPr/>
        </p:nvSpPr>
        <p:spPr>
          <a:xfrm>
            <a:off x="3017520" y="2660904"/>
            <a:ext cx="438912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90672" y="2715768"/>
            <a:ext cx="4297680" cy="292607"/>
          </a:xfrm>
          <a:prstGeom prst="rect">
            <a:avLst/>
          </a:prstGeom>
          <a:noFill/>
        </p:spPr>
        <p:txBody>
          <a:bodyPr wrap="square">
            <a:spAutoFit/>
          </a:bodyPr>
          <a:lstStyle/>
          <a:p>
            <a:pPr algn="l"/>
            <a:r>
              <a:rPr sz="1000" b="0" i="0">
                <a:solidFill>
                  <a:srgbClr val="333333"/>
                </a:solidFill>
              </a:rPr>
              <a:t>Attention across whole image</a:t>
            </a:r>
          </a:p>
        </p:txBody>
      </p:sp>
      <p:sp>
        <p:nvSpPr>
          <p:cNvPr id="31" name="Rectangle 30"/>
          <p:cNvSpPr/>
          <p:nvPr/>
        </p:nvSpPr>
        <p:spPr>
          <a:xfrm>
            <a:off x="7406640" y="2660904"/>
            <a:ext cx="448056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79792" y="2715768"/>
            <a:ext cx="4389120" cy="292607"/>
          </a:xfrm>
          <a:prstGeom prst="rect">
            <a:avLst/>
          </a:prstGeom>
          <a:noFill/>
        </p:spPr>
        <p:txBody>
          <a:bodyPr wrap="square">
            <a:spAutoFit/>
          </a:bodyPr>
          <a:lstStyle/>
          <a:p>
            <a:pPr algn="l"/>
            <a:r>
              <a:rPr sz="1000" b="0" i="0">
                <a:solidFill>
                  <a:srgbClr val="333333"/>
                </a:solidFill>
              </a:rPr>
              <a:t>Handles cluttered jungle background</a:t>
            </a:r>
          </a:p>
        </p:txBody>
      </p:sp>
      <p:sp>
        <p:nvSpPr>
          <p:cNvPr id="33" name="Rectangle 32"/>
          <p:cNvSpPr/>
          <p:nvPr/>
        </p:nvSpPr>
        <p:spPr>
          <a:xfrm>
            <a:off x="274320" y="3044952"/>
            <a:ext cx="274320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7472" y="3099816"/>
            <a:ext cx="2651760" cy="292607"/>
          </a:xfrm>
          <a:prstGeom prst="rect">
            <a:avLst/>
          </a:prstGeom>
          <a:noFill/>
        </p:spPr>
        <p:txBody>
          <a:bodyPr wrap="square">
            <a:spAutoFit/>
          </a:bodyPr>
          <a:lstStyle/>
          <a:p>
            <a:pPr algn="l"/>
            <a:r>
              <a:rPr sz="1000" b="0" i="0">
                <a:solidFill>
                  <a:srgbClr val="333333"/>
                </a:solidFill>
              </a:rPr>
              <a:t>ConvNeXt</a:t>
            </a:r>
          </a:p>
        </p:txBody>
      </p:sp>
      <p:sp>
        <p:nvSpPr>
          <p:cNvPr id="35" name="Rectangle 34"/>
          <p:cNvSpPr/>
          <p:nvPr/>
        </p:nvSpPr>
        <p:spPr>
          <a:xfrm>
            <a:off x="3017520" y="3044952"/>
            <a:ext cx="438912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90672" y="3099816"/>
            <a:ext cx="4297680" cy="292607"/>
          </a:xfrm>
          <a:prstGeom prst="rect">
            <a:avLst/>
          </a:prstGeom>
          <a:noFill/>
        </p:spPr>
        <p:txBody>
          <a:bodyPr wrap="square">
            <a:spAutoFit/>
          </a:bodyPr>
          <a:lstStyle/>
          <a:p>
            <a:pPr algn="l"/>
            <a:r>
              <a:rPr sz="1000" b="0" i="0">
                <a:solidFill>
                  <a:srgbClr val="333333"/>
                </a:solidFill>
              </a:rPr>
              <a:t>CNN + Transformer hybrid</a:t>
            </a:r>
          </a:p>
        </p:txBody>
      </p:sp>
      <p:sp>
        <p:nvSpPr>
          <p:cNvPr id="37" name="Rectangle 36"/>
          <p:cNvSpPr/>
          <p:nvPr/>
        </p:nvSpPr>
        <p:spPr>
          <a:xfrm>
            <a:off x="7406640" y="3044952"/>
            <a:ext cx="448056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79792" y="3099816"/>
            <a:ext cx="4389120" cy="292607"/>
          </a:xfrm>
          <a:prstGeom prst="rect">
            <a:avLst/>
          </a:prstGeom>
          <a:noFill/>
        </p:spPr>
        <p:txBody>
          <a:bodyPr wrap="square">
            <a:spAutoFit/>
          </a:bodyPr>
          <a:lstStyle/>
          <a:p>
            <a:pPr algn="l"/>
            <a:r>
              <a:rPr sz="1000" b="0" i="0">
                <a:solidFill>
                  <a:srgbClr val="333333"/>
                </a:solidFill>
              </a:rPr>
              <a:t>State-of-art image classification</a:t>
            </a:r>
          </a:p>
        </p:txBody>
      </p:sp>
      <p:sp>
        <p:nvSpPr>
          <p:cNvPr id="39" name="Rectangle 38"/>
          <p:cNvSpPr/>
          <p:nvPr/>
        </p:nvSpPr>
        <p:spPr>
          <a:xfrm>
            <a:off x="274320" y="4617720"/>
            <a:ext cx="11612880" cy="8229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663440"/>
            <a:ext cx="3657600" cy="320040"/>
          </a:xfrm>
          <a:prstGeom prst="rect">
            <a:avLst/>
          </a:prstGeom>
          <a:noFill/>
        </p:spPr>
        <p:txBody>
          <a:bodyPr wrap="square">
            <a:spAutoFit/>
          </a:bodyPr>
          <a:lstStyle/>
          <a:p>
            <a:pPr algn="l"/>
            <a:r>
              <a:rPr sz="1300" b="1" i="0">
                <a:solidFill>
                  <a:srgbClr val="1565C0"/>
                </a:solidFill>
              </a:rPr>
              <a:t>💡  Transfer Learning Concept</a:t>
            </a:r>
          </a:p>
        </p:txBody>
      </p:sp>
      <p:sp>
        <p:nvSpPr>
          <p:cNvPr id="41" name="TextBox 40"/>
          <p:cNvSpPr txBox="1"/>
          <p:nvPr/>
        </p:nvSpPr>
        <p:spPr>
          <a:xfrm>
            <a:off x="457200" y="4956048"/>
            <a:ext cx="11247120" cy="822960"/>
          </a:xfrm>
          <a:prstGeom prst="rect">
            <a:avLst/>
          </a:prstGeom>
          <a:noFill/>
        </p:spPr>
        <p:txBody>
          <a:bodyPr wrap="square">
            <a:spAutoFit/>
          </a:bodyPr>
          <a:lstStyle/>
          <a:p>
            <a:pPr algn="l"/>
            <a:r>
              <a:rPr sz="1100" b="0" i="0">
                <a:solidFill>
                  <a:srgbClr val="333333"/>
                </a:solidFill>
              </a:rPr>
              <a:t>ResNet50 was trained on 1.2 million ImageNet photos. It already knows edges, textures, shapes.
We freeze those layers and only train the final layer to say 'tiger' or 'no tiger'.
This means we need far fewer tiger photos to get good accuracy.</a:t>
            </a:r>
          </a:p>
        </p:txBody>
      </p:sp>
      <p:sp>
        <p:nvSpPr>
          <p:cNvPr id="42" name="Rectangle 41"/>
          <p:cNvSpPr/>
          <p:nvPr/>
        </p:nvSpPr>
        <p:spPr>
          <a:xfrm>
            <a:off x="274320" y="5577840"/>
            <a:ext cx="11612880"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5650992"/>
            <a:ext cx="11247120" cy="347472"/>
          </a:xfrm>
          <a:prstGeom prst="rect">
            <a:avLst/>
          </a:prstGeom>
          <a:noFill/>
        </p:spPr>
        <p:txBody>
          <a:bodyPr wrap="square">
            <a:spAutoFit/>
          </a:bodyPr>
          <a:lstStyle/>
          <a:p>
            <a:pPr algn="l"/>
            <a:r>
              <a:rPr sz="1200" b="1" i="0">
                <a:solidFill>
                  <a:srgbClr val="FFFFFF"/>
                </a:solidFill>
              </a:rPr>
              <a:t>✅  Recommended: Start with ResNet50 → compare EfficientNetV2 → upgrade if accuracy &lt; 90%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972800" cy="685800"/>
          </a:xfrm>
          <a:prstGeom prst="rect">
            <a:avLst/>
          </a:prstGeom>
          <a:noFill/>
        </p:spPr>
        <p:txBody>
          <a:bodyPr wrap="square">
            <a:spAutoFit/>
          </a:bodyPr>
          <a:lstStyle/>
          <a:p>
            <a:pPr algn="l"/>
            <a:r>
              <a:rPr sz="2800" b="1" i="0">
                <a:solidFill>
                  <a:srgbClr val="FFFFFF"/>
                </a:solidFill>
              </a:rPr>
              <a:t>Step 2 — Identification + Counting Algorithms</a:t>
            </a:r>
          </a:p>
        </p:txBody>
      </p:sp>
      <p:sp>
        <p:nvSpPr>
          <p:cNvPr id="5" name="TextBox 4"/>
          <p:cNvSpPr txBox="1"/>
          <p:nvPr/>
        </p:nvSpPr>
        <p:spPr>
          <a:xfrm>
            <a:off x="365760" y="749808"/>
            <a:ext cx="10972800" cy="411480"/>
          </a:xfrm>
          <a:prstGeom prst="rect">
            <a:avLst/>
          </a:prstGeom>
          <a:noFill/>
        </p:spPr>
        <p:txBody>
          <a:bodyPr wrap="square">
            <a:spAutoFit/>
          </a:bodyPr>
          <a:lstStyle/>
          <a:p>
            <a:pPr algn="l"/>
            <a:r>
              <a:rPr sz="1400" b="0" i="0">
                <a:solidFill>
                  <a:srgbClr val="FFFFFF"/>
                </a:solidFill>
              </a:rPr>
              <a:t>Which tiger? How many tigers?</a:t>
            </a:r>
          </a:p>
        </p:txBody>
      </p:sp>
      <p:sp>
        <p:nvSpPr>
          <p:cNvPr id="6" name="Rectangle 5"/>
          <p:cNvSpPr/>
          <p:nvPr/>
        </p:nvSpPr>
        <p:spPr>
          <a:xfrm>
            <a:off x="0" y="6492240"/>
            <a:ext cx="12188952" cy="3657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11612880" cy="274320"/>
          </a:xfrm>
          <a:prstGeom prst="rect">
            <a:avLst/>
          </a:prstGeom>
          <a:noFill/>
        </p:spPr>
        <p:txBody>
          <a:bodyPr wrap="square">
            <a:spAutoFit/>
          </a:bodyPr>
          <a:lstStyle/>
          <a:p>
            <a:pPr algn="ctr"/>
            <a:r>
              <a:rPr sz="900" b="0" i="0">
                <a:solidFill>
                  <a:srgbClr val="FFFFFF"/>
                </a:solidFill>
              </a:rPr>
              <a:t>EPAIB Batch 05 | Group 4 | IIM Lucknow | Sundarban Tiger Enumeration</a:t>
            </a:r>
          </a:p>
        </p:txBody>
      </p:sp>
      <p:sp>
        <p:nvSpPr>
          <p:cNvPr id="8" name="TextBox 7"/>
          <p:cNvSpPr txBox="1"/>
          <p:nvPr/>
        </p:nvSpPr>
        <p:spPr>
          <a:xfrm>
            <a:off x="274320" y="1417320"/>
            <a:ext cx="11612880" cy="411480"/>
          </a:xfrm>
          <a:prstGeom prst="rect">
            <a:avLst/>
          </a:prstGeom>
          <a:noFill/>
        </p:spPr>
        <p:txBody>
          <a:bodyPr wrap="square">
            <a:spAutoFit/>
          </a:bodyPr>
          <a:lstStyle/>
          <a:p>
            <a:pPr algn="l"/>
            <a:r>
              <a:rPr sz="1400" b="1" i="0">
                <a:solidFill>
                  <a:srgbClr val="E86B00"/>
                </a:solidFill>
              </a:rPr>
              <a:t>2A — Individual Tiger ID (Stripe Pattern Recognition)</a:t>
            </a:r>
          </a:p>
        </p:txBody>
      </p:sp>
      <p:sp>
        <p:nvSpPr>
          <p:cNvPr id="9" name="Rectangle 8"/>
          <p:cNvSpPr/>
          <p:nvPr/>
        </p:nvSpPr>
        <p:spPr>
          <a:xfrm>
            <a:off x="274320" y="1874519"/>
            <a:ext cx="2743200" cy="384048"/>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 y="1938527"/>
            <a:ext cx="2651760" cy="292607"/>
          </a:xfrm>
          <a:prstGeom prst="rect">
            <a:avLst/>
          </a:prstGeom>
          <a:noFill/>
        </p:spPr>
        <p:txBody>
          <a:bodyPr wrap="square">
            <a:spAutoFit/>
          </a:bodyPr>
          <a:lstStyle/>
          <a:p>
            <a:pPr algn="l"/>
            <a:r>
              <a:rPr sz="1100" b="1" i="0">
                <a:solidFill>
                  <a:srgbClr val="FFFFFF"/>
                </a:solidFill>
              </a:rPr>
              <a:t>Algorithm</a:t>
            </a:r>
          </a:p>
        </p:txBody>
      </p:sp>
      <p:sp>
        <p:nvSpPr>
          <p:cNvPr id="11" name="Rectangle 10"/>
          <p:cNvSpPr/>
          <p:nvPr/>
        </p:nvSpPr>
        <p:spPr>
          <a:xfrm>
            <a:off x="3017520" y="1874519"/>
            <a:ext cx="4572000" cy="384048"/>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90672" y="1938527"/>
            <a:ext cx="4480560" cy="292607"/>
          </a:xfrm>
          <a:prstGeom prst="rect">
            <a:avLst/>
          </a:prstGeom>
          <a:noFill/>
        </p:spPr>
        <p:txBody>
          <a:bodyPr wrap="square">
            <a:spAutoFit/>
          </a:bodyPr>
          <a:lstStyle/>
          <a:p>
            <a:pPr algn="l"/>
            <a:r>
              <a:rPr sz="1100" b="1" i="0">
                <a:solidFill>
                  <a:srgbClr val="FFFFFF"/>
                </a:solidFill>
              </a:rPr>
              <a:t>What it does</a:t>
            </a:r>
          </a:p>
        </p:txBody>
      </p:sp>
      <p:sp>
        <p:nvSpPr>
          <p:cNvPr id="13" name="Rectangle 12"/>
          <p:cNvSpPr/>
          <p:nvPr/>
        </p:nvSpPr>
        <p:spPr>
          <a:xfrm>
            <a:off x="7589520" y="1874519"/>
            <a:ext cx="4297680" cy="384048"/>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62672" y="1938527"/>
            <a:ext cx="4206240" cy="292607"/>
          </a:xfrm>
          <a:prstGeom prst="rect">
            <a:avLst/>
          </a:prstGeom>
          <a:noFill/>
        </p:spPr>
        <p:txBody>
          <a:bodyPr wrap="square">
            <a:spAutoFit/>
          </a:bodyPr>
          <a:lstStyle/>
          <a:p>
            <a:pPr algn="l"/>
            <a:r>
              <a:rPr sz="1100" b="1" i="0">
                <a:solidFill>
                  <a:srgbClr val="FFFFFF"/>
                </a:solidFill>
              </a:rPr>
              <a:t>Why relevant</a:t>
            </a:r>
          </a:p>
        </p:txBody>
      </p:sp>
      <p:sp>
        <p:nvSpPr>
          <p:cNvPr id="15" name="Rectangle 14"/>
          <p:cNvSpPr/>
          <p:nvPr/>
        </p:nvSpPr>
        <p:spPr>
          <a:xfrm>
            <a:off x="274320" y="2258568"/>
            <a:ext cx="27432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 y="2313432"/>
            <a:ext cx="2651760" cy="292607"/>
          </a:xfrm>
          <a:prstGeom prst="rect">
            <a:avLst/>
          </a:prstGeom>
          <a:noFill/>
        </p:spPr>
        <p:txBody>
          <a:bodyPr wrap="square">
            <a:spAutoFit/>
          </a:bodyPr>
          <a:lstStyle/>
          <a:p>
            <a:pPr algn="l"/>
            <a:r>
              <a:rPr sz="1000" b="0" i="0">
                <a:solidFill>
                  <a:srgbClr val="333333"/>
                </a:solidFill>
              </a:rPr>
              <a:t>Siamese Network</a:t>
            </a:r>
          </a:p>
        </p:txBody>
      </p:sp>
      <p:sp>
        <p:nvSpPr>
          <p:cNvPr id="17" name="Rectangle 16"/>
          <p:cNvSpPr/>
          <p:nvPr/>
        </p:nvSpPr>
        <p:spPr>
          <a:xfrm>
            <a:off x="3017520" y="2258568"/>
            <a:ext cx="45720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90672" y="2313432"/>
            <a:ext cx="4480560" cy="292607"/>
          </a:xfrm>
          <a:prstGeom prst="rect">
            <a:avLst/>
          </a:prstGeom>
          <a:noFill/>
        </p:spPr>
        <p:txBody>
          <a:bodyPr wrap="square">
            <a:spAutoFit/>
          </a:bodyPr>
          <a:lstStyle/>
          <a:p>
            <a:pPr algn="l"/>
            <a:r>
              <a:rPr sz="1000" b="0" i="0">
                <a:solidFill>
                  <a:srgbClr val="333333"/>
                </a:solidFill>
              </a:rPr>
              <a:t>Compares 2 images — same tiger or not?</a:t>
            </a:r>
          </a:p>
        </p:txBody>
      </p:sp>
      <p:sp>
        <p:nvSpPr>
          <p:cNvPr id="19" name="Rectangle 18"/>
          <p:cNvSpPr/>
          <p:nvPr/>
        </p:nvSpPr>
        <p:spPr>
          <a:xfrm>
            <a:off x="7589520" y="2258568"/>
            <a:ext cx="429768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62672" y="2313432"/>
            <a:ext cx="4206240" cy="292607"/>
          </a:xfrm>
          <a:prstGeom prst="rect">
            <a:avLst/>
          </a:prstGeom>
          <a:noFill/>
        </p:spPr>
        <p:txBody>
          <a:bodyPr wrap="square">
            <a:spAutoFit/>
          </a:bodyPr>
          <a:lstStyle/>
          <a:p>
            <a:pPr algn="l"/>
            <a:r>
              <a:rPr sz="1000" b="0" i="0">
                <a:solidFill>
                  <a:srgbClr val="333333"/>
                </a:solidFill>
              </a:rPr>
              <a:t>Works with few reference photos per tiger</a:t>
            </a:r>
          </a:p>
        </p:txBody>
      </p:sp>
      <p:sp>
        <p:nvSpPr>
          <p:cNvPr id="21" name="Rectangle 20"/>
          <p:cNvSpPr/>
          <p:nvPr/>
        </p:nvSpPr>
        <p:spPr>
          <a:xfrm>
            <a:off x="274320" y="2642615"/>
            <a:ext cx="274320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 y="2697479"/>
            <a:ext cx="2651760" cy="292607"/>
          </a:xfrm>
          <a:prstGeom prst="rect">
            <a:avLst/>
          </a:prstGeom>
          <a:noFill/>
        </p:spPr>
        <p:txBody>
          <a:bodyPr wrap="square">
            <a:spAutoFit/>
          </a:bodyPr>
          <a:lstStyle/>
          <a:p>
            <a:pPr algn="l"/>
            <a:r>
              <a:rPr sz="1000" b="0" i="0">
                <a:solidFill>
                  <a:srgbClr val="333333"/>
                </a:solidFill>
              </a:rPr>
              <a:t>Triplet Loss ★</a:t>
            </a:r>
          </a:p>
        </p:txBody>
      </p:sp>
      <p:sp>
        <p:nvSpPr>
          <p:cNvPr id="23" name="Rectangle 22"/>
          <p:cNvSpPr/>
          <p:nvPr/>
        </p:nvSpPr>
        <p:spPr>
          <a:xfrm>
            <a:off x="3017520" y="2642615"/>
            <a:ext cx="457200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90672" y="2697479"/>
            <a:ext cx="4480560" cy="292607"/>
          </a:xfrm>
          <a:prstGeom prst="rect">
            <a:avLst/>
          </a:prstGeom>
          <a:noFill/>
        </p:spPr>
        <p:txBody>
          <a:bodyPr wrap="square">
            <a:spAutoFit/>
          </a:bodyPr>
          <a:lstStyle/>
          <a:p>
            <a:pPr algn="l"/>
            <a:r>
              <a:rPr sz="1000" b="0" i="0">
                <a:solidFill>
                  <a:srgbClr val="333333"/>
                </a:solidFill>
              </a:rPr>
              <a:t>Pulls same-tiger embeddings together</a:t>
            </a:r>
          </a:p>
        </p:txBody>
      </p:sp>
      <p:sp>
        <p:nvSpPr>
          <p:cNvPr id="25" name="Rectangle 24"/>
          <p:cNvSpPr/>
          <p:nvPr/>
        </p:nvSpPr>
        <p:spPr>
          <a:xfrm>
            <a:off x="7589520" y="2642615"/>
            <a:ext cx="429768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62672" y="2697479"/>
            <a:ext cx="4206240" cy="292607"/>
          </a:xfrm>
          <a:prstGeom prst="rect">
            <a:avLst/>
          </a:prstGeom>
          <a:noFill/>
        </p:spPr>
        <p:txBody>
          <a:bodyPr wrap="square">
            <a:spAutoFit/>
          </a:bodyPr>
          <a:lstStyle/>
          <a:p>
            <a:pPr algn="l"/>
            <a:r>
              <a:rPr sz="1000" b="0" i="0">
                <a:solidFill>
                  <a:srgbClr val="333333"/>
                </a:solidFill>
              </a:rPr>
              <a:t>Best for stripe-based biometric ID</a:t>
            </a:r>
          </a:p>
        </p:txBody>
      </p:sp>
      <p:sp>
        <p:nvSpPr>
          <p:cNvPr id="27" name="Rectangle 26"/>
          <p:cNvSpPr/>
          <p:nvPr/>
        </p:nvSpPr>
        <p:spPr>
          <a:xfrm>
            <a:off x="274320" y="3026663"/>
            <a:ext cx="27432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 y="3081527"/>
            <a:ext cx="2651760" cy="292607"/>
          </a:xfrm>
          <a:prstGeom prst="rect">
            <a:avLst/>
          </a:prstGeom>
          <a:noFill/>
        </p:spPr>
        <p:txBody>
          <a:bodyPr wrap="square">
            <a:spAutoFit/>
          </a:bodyPr>
          <a:lstStyle/>
          <a:p>
            <a:pPr algn="l"/>
            <a:r>
              <a:rPr sz="1000" b="0" i="0">
                <a:solidFill>
                  <a:srgbClr val="333333"/>
                </a:solidFill>
              </a:rPr>
              <a:t>ArcFace / CosFace ★</a:t>
            </a:r>
          </a:p>
        </p:txBody>
      </p:sp>
      <p:sp>
        <p:nvSpPr>
          <p:cNvPr id="29" name="Rectangle 28"/>
          <p:cNvSpPr/>
          <p:nvPr/>
        </p:nvSpPr>
        <p:spPr>
          <a:xfrm>
            <a:off x="3017520" y="3026663"/>
            <a:ext cx="45720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90672" y="3081527"/>
            <a:ext cx="4480560" cy="292607"/>
          </a:xfrm>
          <a:prstGeom prst="rect">
            <a:avLst/>
          </a:prstGeom>
          <a:noFill/>
        </p:spPr>
        <p:txBody>
          <a:bodyPr wrap="square">
            <a:spAutoFit/>
          </a:bodyPr>
          <a:lstStyle/>
          <a:p>
            <a:pPr algn="l"/>
            <a:r>
              <a:rPr sz="1000" b="0" i="0">
                <a:solidFill>
                  <a:srgbClr val="333333"/>
                </a:solidFill>
              </a:rPr>
              <a:t>Advanced loss for biometric recognition</a:t>
            </a:r>
          </a:p>
        </p:txBody>
      </p:sp>
      <p:sp>
        <p:nvSpPr>
          <p:cNvPr id="31" name="Rectangle 30"/>
          <p:cNvSpPr/>
          <p:nvPr/>
        </p:nvSpPr>
        <p:spPr>
          <a:xfrm>
            <a:off x="7589520" y="3026663"/>
            <a:ext cx="429768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62672" y="3081527"/>
            <a:ext cx="4206240" cy="292607"/>
          </a:xfrm>
          <a:prstGeom prst="rect">
            <a:avLst/>
          </a:prstGeom>
          <a:noFill/>
        </p:spPr>
        <p:txBody>
          <a:bodyPr wrap="square">
            <a:spAutoFit/>
          </a:bodyPr>
          <a:lstStyle/>
          <a:p>
            <a:pPr algn="l"/>
            <a:r>
              <a:rPr sz="1000" b="0" i="0">
                <a:solidFill>
                  <a:srgbClr val="333333"/>
                </a:solidFill>
              </a:rPr>
              <a:t>Used in wildlife ID research (leopards, whales)</a:t>
            </a:r>
          </a:p>
        </p:txBody>
      </p:sp>
      <p:sp>
        <p:nvSpPr>
          <p:cNvPr id="33" name="Rectangle 32"/>
          <p:cNvSpPr/>
          <p:nvPr/>
        </p:nvSpPr>
        <p:spPr>
          <a:xfrm>
            <a:off x="274320" y="3410711"/>
            <a:ext cx="274320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7472" y="3465575"/>
            <a:ext cx="2651760" cy="292607"/>
          </a:xfrm>
          <a:prstGeom prst="rect">
            <a:avLst/>
          </a:prstGeom>
          <a:noFill/>
        </p:spPr>
        <p:txBody>
          <a:bodyPr wrap="square">
            <a:spAutoFit/>
          </a:bodyPr>
          <a:lstStyle/>
          <a:p>
            <a:pPr algn="l"/>
            <a:r>
              <a:rPr sz="1000" b="0" i="0">
                <a:solidFill>
                  <a:srgbClr val="333333"/>
                </a:solidFill>
              </a:rPr>
              <a:t>Contrastive Learning</a:t>
            </a:r>
          </a:p>
        </p:txBody>
      </p:sp>
      <p:sp>
        <p:nvSpPr>
          <p:cNvPr id="35" name="Rectangle 34"/>
          <p:cNvSpPr/>
          <p:nvPr/>
        </p:nvSpPr>
        <p:spPr>
          <a:xfrm>
            <a:off x="3017520" y="3410711"/>
            <a:ext cx="457200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90672" y="3465575"/>
            <a:ext cx="4480560" cy="292607"/>
          </a:xfrm>
          <a:prstGeom prst="rect">
            <a:avLst/>
          </a:prstGeom>
          <a:noFill/>
        </p:spPr>
        <p:txBody>
          <a:bodyPr wrap="square">
            <a:spAutoFit/>
          </a:bodyPr>
          <a:lstStyle/>
          <a:p>
            <a:pPr algn="l"/>
            <a:r>
              <a:rPr sz="1000" b="0" i="0">
                <a:solidFill>
                  <a:srgbClr val="333333"/>
                </a:solidFill>
              </a:rPr>
              <a:t>Self-supervised — learns without labels</a:t>
            </a:r>
          </a:p>
        </p:txBody>
      </p:sp>
      <p:sp>
        <p:nvSpPr>
          <p:cNvPr id="37" name="Rectangle 36"/>
          <p:cNvSpPr/>
          <p:nvPr/>
        </p:nvSpPr>
        <p:spPr>
          <a:xfrm>
            <a:off x="7589520" y="3410711"/>
            <a:ext cx="429768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62672" y="3465575"/>
            <a:ext cx="4206240" cy="292607"/>
          </a:xfrm>
          <a:prstGeom prst="rect">
            <a:avLst/>
          </a:prstGeom>
          <a:noFill/>
        </p:spPr>
        <p:txBody>
          <a:bodyPr wrap="square">
            <a:spAutoFit/>
          </a:bodyPr>
          <a:lstStyle/>
          <a:p>
            <a:pPr algn="l"/>
            <a:r>
              <a:rPr sz="1000" b="0" i="0">
                <a:solidFill>
                  <a:srgbClr val="333333"/>
                </a:solidFill>
              </a:rPr>
              <a:t>Useful when labeled data is scarce</a:t>
            </a:r>
          </a:p>
        </p:txBody>
      </p:sp>
      <p:sp>
        <p:nvSpPr>
          <p:cNvPr id="39" name="TextBox 38"/>
          <p:cNvSpPr txBox="1"/>
          <p:nvPr/>
        </p:nvSpPr>
        <p:spPr>
          <a:xfrm>
            <a:off x="274320" y="3977639"/>
            <a:ext cx="11612880" cy="365760"/>
          </a:xfrm>
          <a:prstGeom prst="rect">
            <a:avLst/>
          </a:prstGeom>
          <a:noFill/>
        </p:spPr>
        <p:txBody>
          <a:bodyPr wrap="square">
            <a:spAutoFit/>
          </a:bodyPr>
          <a:lstStyle/>
          <a:p>
            <a:pPr algn="l"/>
            <a:r>
              <a:rPr sz="1400" b="1" i="0">
                <a:solidFill>
                  <a:srgbClr val="E86B00"/>
                </a:solidFill>
              </a:rPr>
              <a:t>2B — Tiger Counting (Object Detection)</a:t>
            </a:r>
          </a:p>
        </p:txBody>
      </p:sp>
      <p:sp>
        <p:nvSpPr>
          <p:cNvPr id="40" name="Rectangle 39"/>
          <p:cNvSpPr/>
          <p:nvPr/>
        </p:nvSpPr>
        <p:spPr>
          <a:xfrm>
            <a:off x="274320" y="4370832"/>
            <a:ext cx="2286000" cy="384048"/>
          </a:xfrm>
          <a:prstGeom prst="rect">
            <a:avLst/>
          </a:prstGeom>
          <a:solidFill>
            <a:srgbClr val="BF36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7472" y="4434840"/>
            <a:ext cx="2194560" cy="292607"/>
          </a:xfrm>
          <a:prstGeom prst="rect">
            <a:avLst/>
          </a:prstGeom>
          <a:noFill/>
        </p:spPr>
        <p:txBody>
          <a:bodyPr wrap="square">
            <a:spAutoFit/>
          </a:bodyPr>
          <a:lstStyle/>
          <a:p>
            <a:pPr algn="l"/>
            <a:r>
              <a:rPr sz="1100" b="1" i="0">
                <a:solidFill>
                  <a:srgbClr val="FFFFFF"/>
                </a:solidFill>
              </a:rPr>
              <a:t>Algorithm</a:t>
            </a:r>
          </a:p>
        </p:txBody>
      </p:sp>
      <p:sp>
        <p:nvSpPr>
          <p:cNvPr id="42" name="Rectangle 41"/>
          <p:cNvSpPr/>
          <p:nvPr/>
        </p:nvSpPr>
        <p:spPr>
          <a:xfrm>
            <a:off x="2560320" y="4370832"/>
            <a:ext cx="5029200" cy="384048"/>
          </a:xfrm>
          <a:prstGeom prst="rect">
            <a:avLst/>
          </a:prstGeom>
          <a:solidFill>
            <a:srgbClr val="BF36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633472" y="4434840"/>
            <a:ext cx="4937760" cy="292607"/>
          </a:xfrm>
          <a:prstGeom prst="rect">
            <a:avLst/>
          </a:prstGeom>
          <a:noFill/>
        </p:spPr>
        <p:txBody>
          <a:bodyPr wrap="square">
            <a:spAutoFit/>
          </a:bodyPr>
          <a:lstStyle/>
          <a:p>
            <a:pPr algn="l"/>
            <a:r>
              <a:rPr sz="1100" b="1" i="0">
                <a:solidFill>
                  <a:srgbClr val="FFFFFF"/>
                </a:solidFill>
              </a:rPr>
              <a:t>What it does</a:t>
            </a:r>
          </a:p>
        </p:txBody>
      </p:sp>
      <p:sp>
        <p:nvSpPr>
          <p:cNvPr id="44" name="Rectangle 43"/>
          <p:cNvSpPr/>
          <p:nvPr/>
        </p:nvSpPr>
        <p:spPr>
          <a:xfrm>
            <a:off x="7589520" y="4370832"/>
            <a:ext cx="4297680" cy="384048"/>
          </a:xfrm>
          <a:prstGeom prst="rect">
            <a:avLst/>
          </a:prstGeom>
          <a:solidFill>
            <a:srgbClr val="BF36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62672" y="4434840"/>
            <a:ext cx="4206240" cy="292607"/>
          </a:xfrm>
          <a:prstGeom prst="rect">
            <a:avLst/>
          </a:prstGeom>
          <a:noFill/>
        </p:spPr>
        <p:txBody>
          <a:bodyPr wrap="square">
            <a:spAutoFit/>
          </a:bodyPr>
          <a:lstStyle/>
          <a:p>
            <a:pPr algn="l"/>
            <a:r>
              <a:rPr sz="1100" b="1" i="0">
                <a:solidFill>
                  <a:srgbClr val="FFFFFF"/>
                </a:solidFill>
              </a:rPr>
              <a:t>Why relevant</a:t>
            </a:r>
          </a:p>
        </p:txBody>
      </p:sp>
      <p:sp>
        <p:nvSpPr>
          <p:cNvPr id="46" name="Rectangle 45"/>
          <p:cNvSpPr/>
          <p:nvPr/>
        </p:nvSpPr>
        <p:spPr>
          <a:xfrm>
            <a:off x="274320" y="4754880"/>
            <a:ext cx="22860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7472" y="4809744"/>
            <a:ext cx="2194560" cy="292607"/>
          </a:xfrm>
          <a:prstGeom prst="rect">
            <a:avLst/>
          </a:prstGeom>
          <a:noFill/>
        </p:spPr>
        <p:txBody>
          <a:bodyPr wrap="square">
            <a:spAutoFit/>
          </a:bodyPr>
          <a:lstStyle/>
          <a:p>
            <a:pPr algn="l"/>
            <a:r>
              <a:rPr sz="1000" b="0" i="0">
                <a:solidFill>
                  <a:srgbClr val="333333"/>
                </a:solidFill>
              </a:rPr>
              <a:t>YOLOv8 ★</a:t>
            </a:r>
          </a:p>
        </p:txBody>
      </p:sp>
      <p:sp>
        <p:nvSpPr>
          <p:cNvPr id="48" name="Rectangle 47"/>
          <p:cNvSpPr/>
          <p:nvPr/>
        </p:nvSpPr>
        <p:spPr>
          <a:xfrm>
            <a:off x="2560320" y="4754880"/>
            <a:ext cx="50292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633472" y="4809744"/>
            <a:ext cx="4937760" cy="292607"/>
          </a:xfrm>
          <a:prstGeom prst="rect">
            <a:avLst/>
          </a:prstGeom>
          <a:noFill/>
        </p:spPr>
        <p:txBody>
          <a:bodyPr wrap="square">
            <a:spAutoFit/>
          </a:bodyPr>
          <a:lstStyle/>
          <a:p>
            <a:pPr algn="l"/>
            <a:r>
              <a:rPr sz="1000" b="0" i="0">
                <a:solidFill>
                  <a:srgbClr val="333333"/>
                </a:solidFill>
              </a:rPr>
              <a:t>Bounding box per tiger, real-time</a:t>
            </a:r>
          </a:p>
        </p:txBody>
      </p:sp>
      <p:sp>
        <p:nvSpPr>
          <p:cNvPr id="50" name="Rectangle 49"/>
          <p:cNvSpPr/>
          <p:nvPr/>
        </p:nvSpPr>
        <p:spPr>
          <a:xfrm>
            <a:off x="7589520" y="4754880"/>
            <a:ext cx="429768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62672" y="4809744"/>
            <a:ext cx="4206240" cy="292607"/>
          </a:xfrm>
          <a:prstGeom prst="rect">
            <a:avLst/>
          </a:prstGeom>
          <a:noFill/>
        </p:spPr>
        <p:txBody>
          <a:bodyPr wrap="square">
            <a:spAutoFit/>
          </a:bodyPr>
          <a:lstStyle/>
          <a:p>
            <a:pPr algn="l"/>
            <a:r>
              <a:rPr sz="1000" b="0" i="0">
                <a:solidFill>
                  <a:srgbClr val="333333"/>
                </a:solidFill>
              </a:rPr>
              <a:t>Industry standard, our main tool</a:t>
            </a:r>
          </a:p>
        </p:txBody>
      </p:sp>
      <p:sp>
        <p:nvSpPr>
          <p:cNvPr id="52" name="Rectangle 51"/>
          <p:cNvSpPr/>
          <p:nvPr/>
        </p:nvSpPr>
        <p:spPr>
          <a:xfrm>
            <a:off x="274320" y="5138928"/>
            <a:ext cx="228600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7472" y="5193792"/>
            <a:ext cx="2194560" cy="292607"/>
          </a:xfrm>
          <a:prstGeom prst="rect">
            <a:avLst/>
          </a:prstGeom>
          <a:noFill/>
        </p:spPr>
        <p:txBody>
          <a:bodyPr wrap="square">
            <a:spAutoFit/>
          </a:bodyPr>
          <a:lstStyle/>
          <a:p>
            <a:pPr algn="l"/>
            <a:r>
              <a:rPr sz="1000" b="0" i="0">
                <a:solidFill>
                  <a:srgbClr val="333333"/>
                </a:solidFill>
              </a:rPr>
              <a:t>Mask R-CNN</a:t>
            </a:r>
          </a:p>
        </p:txBody>
      </p:sp>
      <p:sp>
        <p:nvSpPr>
          <p:cNvPr id="54" name="Rectangle 53"/>
          <p:cNvSpPr/>
          <p:nvPr/>
        </p:nvSpPr>
        <p:spPr>
          <a:xfrm>
            <a:off x="2560320" y="5138928"/>
            <a:ext cx="502920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33472" y="5193792"/>
            <a:ext cx="4937760" cy="292607"/>
          </a:xfrm>
          <a:prstGeom prst="rect">
            <a:avLst/>
          </a:prstGeom>
          <a:noFill/>
        </p:spPr>
        <p:txBody>
          <a:bodyPr wrap="square">
            <a:spAutoFit/>
          </a:bodyPr>
          <a:lstStyle/>
          <a:p>
            <a:pPr algn="l"/>
            <a:r>
              <a:rPr sz="1000" b="0" i="0">
                <a:solidFill>
                  <a:srgbClr val="333333"/>
                </a:solidFill>
              </a:rPr>
              <a:t>Detects + segments tiger body</a:t>
            </a:r>
          </a:p>
        </p:txBody>
      </p:sp>
      <p:sp>
        <p:nvSpPr>
          <p:cNvPr id="56" name="Rectangle 55"/>
          <p:cNvSpPr/>
          <p:nvPr/>
        </p:nvSpPr>
        <p:spPr>
          <a:xfrm>
            <a:off x="7589520" y="5138928"/>
            <a:ext cx="429768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662672" y="5193792"/>
            <a:ext cx="4206240" cy="292607"/>
          </a:xfrm>
          <a:prstGeom prst="rect">
            <a:avLst/>
          </a:prstGeom>
          <a:noFill/>
        </p:spPr>
        <p:txBody>
          <a:bodyPr wrap="square">
            <a:spAutoFit/>
          </a:bodyPr>
          <a:lstStyle/>
          <a:p>
            <a:pPr algn="l"/>
            <a:r>
              <a:rPr sz="1000" b="0" i="0">
                <a:solidFill>
                  <a:srgbClr val="333333"/>
                </a:solidFill>
              </a:rPr>
              <a:t>Exact body outline — useful for health assessment</a:t>
            </a:r>
          </a:p>
        </p:txBody>
      </p:sp>
      <p:sp>
        <p:nvSpPr>
          <p:cNvPr id="58" name="Rectangle 57"/>
          <p:cNvSpPr/>
          <p:nvPr/>
        </p:nvSpPr>
        <p:spPr>
          <a:xfrm>
            <a:off x="274320" y="5522976"/>
            <a:ext cx="22860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5577840"/>
            <a:ext cx="2194560" cy="292607"/>
          </a:xfrm>
          <a:prstGeom prst="rect">
            <a:avLst/>
          </a:prstGeom>
          <a:noFill/>
        </p:spPr>
        <p:txBody>
          <a:bodyPr wrap="square">
            <a:spAutoFit/>
          </a:bodyPr>
          <a:lstStyle/>
          <a:p>
            <a:pPr algn="l"/>
            <a:r>
              <a:rPr sz="1000" b="0" i="0">
                <a:solidFill>
                  <a:srgbClr val="333333"/>
                </a:solidFill>
              </a:rPr>
              <a:t>ByteTrack</a:t>
            </a:r>
          </a:p>
        </p:txBody>
      </p:sp>
      <p:sp>
        <p:nvSpPr>
          <p:cNvPr id="60" name="Rectangle 59"/>
          <p:cNvSpPr/>
          <p:nvPr/>
        </p:nvSpPr>
        <p:spPr>
          <a:xfrm>
            <a:off x="2560320" y="5522976"/>
            <a:ext cx="50292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633472" y="5577840"/>
            <a:ext cx="4937760" cy="292607"/>
          </a:xfrm>
          <a:prstGeom prst="rect">
            <a:avLst/>
          </a:prstGeom>
          <a:noFill/>
        </p:spPr>
        <p:txBody>
          <a:bodyPr wrap="square">
            <a:spAutoFit/>
          </a:bodyPr>
          <a:lstStyle/>
          <a:p>
            <a:pPr algn="l"/>
            <a:r>
              <a:rPr sz="1000" b="0" i="0">
                <a:solidFill>
                  <a:srgbClr val="333333"/>
                </a:solidFill>
              </a:rPr>
              <a:t>Tracks tiger across video frames</a:t>
            </a:r>
          </a:p>
        </p:txBody>
      </p:sp>
      <p:sp>
        <p:nvSpPr>
          <p:cNvPr id="62" name="Rectangle 61"/>
          <p:cNvSpPr/>
          <p:nvPr/>
        </p:nvSpPr>
        <p:spPr>
          <a:xfrm>
            <a:off x="7589520" y="5522976"/>
            <a:ext cx="429768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62672" y="5577840"/>
            <a:ext cx="4206240" cy="292607"/>
          </a:xfrm>
          <a:prstGeom prst="rect">
            <a:avLst/>
          </a:prstGeom>
          <a:noFill/>
        </p:spPr>
        <p:txBody>
          <a:bodyPr wrap="square">
            <a:spAutoFit/>
          </a:bodyPr>
          <a:lstStyle/>
          <a:p>
            <a:pPr algn="l"/>
            <a:r>
              <a:rPr sz="1000" b="0" i="0">
                <a:solidFill>
                  <a:srgbClr val="333333"/>
                </a:solidFill>
              </a:rPr>
              <a:t>If video available — no double-counting</a:t>
            </a:r>
          </a:p>
        </p:txBody>
      </p:sp>
      <p:sp>
        <p:nvSpPr>
          <p:cNvPr id="64" name="Rectangle 63"/>
          <p:cNvSpPr/>
          <p:nvPr/>
        </p:nvSpPr>
        <p:spPr>
          <a:xfrm>
            <a:off x="274320" y="5989320"/>
            <a:ext cx="11612880" cy="50292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6062472"/>
            <a:ext cx="11247120" cy="347472"/>
          </a:xfrm>
          <a:prstGeom prst="rect">
            <a:avLst/>
          </a:prstGeom>
          <a:noFill/>
        </p:spPr>
        <p:txBody>
          <a:bodyPr wrap="square">
            <a:spAutoFit/>
          </a:bodyPr>
          <a:lstStyle/>
          <a:p>
            <a:pPr algn="l"/>
            <a:r>
              <a:rPr sz="1200" b="1" i="0">
                <a:solidFill>
                  <a:srgbClr val="FFFFFF"/>
                </a:solidFill>
              </a:rPr>
              <a:t>✅  Recommended: Triplet Loss + ArcFace for ID  |  YOLOv8 for counting  |  ByteTrack if video frames 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972800" cy="685800"/>
          </a:xfrm>
          <a:prstGeom prst="rect">
            <a:avLst/>
          </a:prstGeom>
          <a:noFill/>
        </p:spPr>
        <p:txBody>
          <a:bodyPr wrap="square">
            <a:spAutoFit/>
          </a:bodyPr>
          <a:lstStyle/>
          <a:p>
            <a:pPr algn="l"/>
            <a:r>
              <a:rPr sz="2800" b="1" i="0">
                <a:solidFill>
                  <a:srgbClr val="FFFFFF"/>
                </a:solidFill>
              </a:rPr>
              <a:t>Step 3 — Metadata + Habitat Algorithms</a:t>
            </a:r>
          </a:p>
        </p:txBody>
      </p:sp>
      <p:sp>
        <p:nvSpPr>
          <p:cNvPr id="5" name="TextBox 4"/>
          <p:cNvSpPr txBox="1"/>
          <p:nvPr/>
        </p:nvSpPr>
        <p:spPr>
          <a:xfrm>
            <a:off x="365760" y="749808"/>
            <a:ext cx="10972800" cy="411480"/>
          </a:xfrm>
          <a:prstGeom prst="rect">
            <a:avLst/>
          </a:prstGeom>
          <a:noFill/>
        </p:spPr>
        <p:txBody>
          <a:bodyPr wrap="square">
            <a:spAutoFit/>
          </a:bodyPr>
          <a:lstStyle/>
          <a:p>
            <a:pPr algn="l"/>
            <a:r>
              <a:rPr sz="1400" b="0" i="0">
                <a:solidFill>
                  <a:srgbClr val="FFFFFF"/>
                </a:solidFill>
              </a:rPr>
              <a:t>GPS + Timestamp → Tiger name, territory, movement pattern</a:t>
            </a:r>
          </a:p>
        </p:txBody>
      </p:sp>
      <p:sp>
        <p:nvSpPr>
          <p:cNvPr id="6" name="Rectangle 5"/>
          <p:cNvSpPr/>
          <p:nvPr/>
        </p:nvSpPr>
        <p:spPr>
          <a:xfrm>
            <a:off x="0" y="6492240"/>
            <a:ext cx="12188952" cy="3657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11612880" cy="274320"/>
          </a:xfrm>
          <a:prstGeom prst="rect">
            <a:avLst/>
          </a:prstGeom>
          <a:noFill/>
        </p:spPr>
        <p:txBody>
          <a:bodyPr wrap="square">
            <a:spAutoFit/>
          </a:bodyPr>
          <a:lstStyle/>
          <a:p>
            <a:pPr algn="ctr"/>
            <a:r>
              <a:rPr sz="900" b="0" i="0">
                <a:solidFill>
                  <a:srgbClr val="FFFFFF"/>
                </a:solidFill>
              </a:rPr>
              <a:t>EPAIB Batch 05 | Group 4 | IIM Lucknow | Sundarban Tiger Enumeration</a:t>
            </a:r>
          </a:p>
        </p:txBody>
      </p:sp>
      <p:sp>
        <p:nvSpPr>
          <p:cNvPr id="8" name="Rectangle 7"/>
          <p:cNvSpPr/>
          <p:nvPr/>
        </p:nvSpPr>
        <p:spPr>
          <a:xfrm>
            <a:off x="274320" y="1417320"/>
            <a:ext cx="3017520" cy="3840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481328"/>
            <a:ext cx="2926079" cy="292607"/>
          </a:xfrm>
          <a:prstGeom prst="rect">
            <a:avLst/>
          </a:prstGeom>
          <a:noFill/>
        </p:spPr>
        <p:txBody>
          <a:bodyPr wrap="square">
            <a:spAutoFit/>
          </a:bodyPr>
          <a:lstStyle/>
          <a:p>
            <a:pPr algn="l"/>
            <a:r>
              <a:rPr sz="1100" b="1" i="0">
                <a:solidFill>
                  <a:srgbClr val="FFFFFF"/>
                </a:solidFill>
              </a:rPr>
              <a:t>Algorithm</a:t>
            </a:r>
          </a:p>
        </p:txBody>
      </p:sp>
      <p:sp>
        <p:nvSpPr>
          <p:cNvPr id="10" name="Rectangle 9"/>
          <p:cNvSpPr/>
          <p:nvPr/>
        </p:nvSpPr>
        <p:spPr>
          <a:xfrm>
            <a:off x="3291839" y="1417320"/>
            <a:ext cx="4297680" cy="3840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4991" y="1481328"/>
            <a:ext cx="4206240" cy="292607"/>
          </a:xfrm>
          <a:prstGeom prst="rect">
            <a:avLst/>
          </a:prstGeom>
          <a:noFill/>
        </p:spPr>
        <p:txBody>
          <a:bodyPr wrap="square">
            <a:spAutoFit/>
          </a:bodyPr>
          <a:lstStyle/>
          <a:p>
            <a:pPr algn="l"/>
            <a:r>
              <a:rPr sz="1100" b="1" i="0">
                <a:solidFill>
                  <a:srgbClr val="FFFFFF"/>
                </a:solidFill>
              </a:rPr>
              <a:t>What it does</a:t>
            </a:r>
          </a:p>
        </p:txBody>
      </p:sp>
      <p:sp>
        <p:nvSpPr>
          <p:cNvPr id="12" name="Rectangle 11"/>
          <p:cNvSpPr/>
          <p:nvPr/>
        </p:nvSpPr>
        <p:spPr>
          <a:xfrm>
            <a:off x="7589520" y="1417320"/>
            <a:ext cx="4572000" cy="38404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62672" y="1481328"/>
            <a:ext cx="4480560" cy="292607"/>
          </a:xfrm>
          <a:prstGeom prst="rect">
            <a:avLst/>
          </a:prstGeom>
          <a:noFill/>
        </p:spPr>
        <p:txBody>
          <a:bodyPr wrap="square">
            <a:spAutoFit/>
          </a:bodyPr>
          <a:lstStyle/>
          <a:p>
            <a:pPr algn="l"/>
            <a:r>
              <a:rPr sz="1100" b="1" i="0">
                <a:solidFill>
                  <a:srgbClr val="FFFFFF"/>
                </a:solidFill>
              </a:rPr>
              <a:t>Tiger use case</a:t>
            </a:r>
          </a:p>
        </p:txBody>
      </p:sp>
      <p:sp>
        <p:nvSpPr>
          <p:cNvPr id="14" name="Rectangle 13"/>
          <p:cNvSpPr/>
          <p:nvPr/>
        </p:nvSpPr>
        <p:spPr>
          <a:xfrm>
            <a:off x="274320" y="1801368"/>
            <a:ext cx="301752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1856231"/>
            <a:ext cx="2926079" cy="292607"/>
          </a:xfrm>
          <a:prstGeom prst="rect">
            <a:avLst/>
          </a:prstGeom>
          <a:noFill/>
        </p:spPr>
        <p:txBody>
          <a:bodyPr wrap="square">
            <a:spAutoFit/>
          </a:bodyPr>
          <a:lstStyle/>
          <a:p>
            <a:pPr algn="l"/>
            <a:r>
              <a:rPr sz="1000" b="0" i="0">
                <a:solidFill>
                  <a:srgbClr val="333333"/>
                </a:solidFill>
              </a:rPr>
              <a:t>DBSCAN Clustering</a:t>
            </a:r>
          </a:p>
        </p:txBody>
      </p:sp>
      <p:sp>
        <p:nvSpPr>
          <p:cNvPr id="16" name="Rectangle 15"/>
          <p:cNvSpPr/>
          <p:nvPr/>
        </p:nvSpPr>
        <p:spPr>
          <a:xfrm>
            <a:off x="3291839" y="1801368"/>
            <a:ext cx="429768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4991" y="1856231"/>
            <a:ext cx="4206240" cy="292607"/>
          </a:xfrm>
          <a:prstGeom prst="rect">
            <a:avLst/>
          </a:prstGeom>
          <a:noFill/>
        </p:spPr>
        <p:txBody>
          <a:bodyPr wrap="square">
            <a:spAutoFit/>
          </a:bodyPr>
          <a:lstStyle/>
          <a:p>
            <a:pPr algn="l"/>
            <a:r>
              <a:rPr sz="1000" b="0" i="0">
                <a:solidFill>
                  <a:srgbClr val="333333"/>
                </a:solidFill>
              </a:rPr>
              <a:t>Groups GPS points into zones</a:t>
            </a:r>
          </a:p>
        </p:txBody>
      </p:sp>
      <p:sp>
        <p:nvSpPr>
          <p:cNvPr id="18" name="Rectangle 17"/>
          <p:cNvSpPr/>
          <p:nvPr/>
        </p:nvSpPr>
        <p:spPr>
          <a:xfrm>
            <a:off x="7589520" y="1801368"/>
            <a:ext cx="45720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62672" y="1856231"/>
            <a:ext cx="4480560" cy="292607"/>
          </a:xfrm>
          <a:prstGeom prst="rect">
            <a:avLst/>
          </a:prstGeom>
          <a:noFill/>
        </p:spPr>
        <p:txBody>
          <a:bodyPr wrap="square">
            <a:spAutoFit/>
          </a:bodyPr>
          <a:lstStyle/>
          <a:p>
            <a:pPr algn="l"/>
            <a:r>
              <a:rPr sz="1000" b="0" i="0">
                <a:solidFill>
                  <a:srgbClr val="333333"/>
                </a:solidFill>
              </a:rPr>
              <a:t>Find tiger territory automatically — no fixed zones needed</a:t>
            </a:r>
          </a:p>
        </p:txBody>
      </p:sp>
      <p:sp>
        <p:nvSpPr>
          <p:cNvPr id="20" name="Rectangle 19"/>
          <p:cNvSpPr/>
          <p:nvPr/>
        </p:nvSpPr>
        <p:spPr>
          <a:xfrm>
            <a:off x="274320" y="2185416"/>
            <a:ext cx="301752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2240280"/>
            <a:ext cx="2926079" cy="292607"/>
          </a:xfrm>
          <a:prstGeom prst="rect">
            <a:avLst/>
          </a:prstGeom>
          <a:noFill/>
        </p:spPr>
        <p:txBody>
          <a:bodyPr wrap="square">
            <a:spAutoFit/>
          </a:bodyPr>
          <a:lstStyle/>
          <a:p>
            <a:pPr algn="l"/>
            <a:r>
              <a:rPr sz="1000" b="0" i="0">
                <a:solidFill>
                  <a:srgbClr val="333333"/>
                </a:solidFill>
              </a:rPr>
              <a:t>Kernel Density Estimation</a:t>
            </a:r>
          </a:p>
        </p:txBody>
      </p:sp>
      <p:sp>
        <p:nvSpPr>
          <p:cNvPr id="22" name="Rectangle 21"/>
          <p:cNvSpPr/>
          <p:nvPr/>
        </p:nvSpPr>
        <p:spPr>
          <a:xfrm>
            <a:off x="3291839" y="2185416"/>
            <a:ext cx="429768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64991" y="2240280"/>
            <a:ext cx="4206240" cy="292607"/>
          </a:xfrm>
          <a:prstGeom prst="rect">
            <a:avLst/>
          </a:prstGeom>
          <a:noFill/>
        </p:spPr>
        <p:txBody>
          <a:bodyPr wrap="square">
            <a:spAutoFit/>
          </a:bodyPr>
          <a:lstStyle/>
          <a:p>
            <a:pPr algn="l"/>
            <a:r>
              <a:rPr sz="1000" b="0" i="0">
                <a:solidFill>
                  <a:srgbClr val="333333"/>
                </a:solidFill>
              </a:rPr>
              <a:t>Heatmap of tiger density by GPS</a:t>
            </a:r>
          </a:p>
        </p:txBody>
      </p:sp>
      <p:sp>
        <p:nvSpPr>
          <p:cNvPr id="24" name="Rectangle 23"/>
          <p:cNvSpPr/>
          <p:nvPr/>
        </p:nvSpPr>
        <p:spPr>
          <a:xfrm>
            <a:off x="7589520" y="2185416"/>
            <a:ext cx="457200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62672" y="2240280"/>
            <a:ext cx="4480560" cy="292607"/>
          </a:xfrm>
          <a:prstGeom prst="rect">
            <a:avLst/>
          </a:prstGeom>
          <a:noFill/>
        </p:spPr>
        <p:txBody>
          <a:bodyPr wrap="square">
            <a:spAutoFit/>
          </a:bodyPr>
          <a:lstStyle/>
          <a:p>
            <a:pPr algn="l"/>
            <a:r>
              <a:rPr sz="1000" b="0" i="0">
                <a:solidFill>
                  <a:srgbClr val="333333"/>
                </a:solidFill>
              </a:rPr>
              <a:t>Visual hotspot map for ranger deployment</a:t>
            </a:r>
          </a:p>
        </p:txBody>
      </p:sp>
      <p:sp>
        <p:nvSpPr>
          <p:cNvPr id="26" name="Rectangle 25"/>
          <p:cNvSpPr/>
          <p:nvPr/>
        </p:nvSpPr>
        <p:spPr>
          <a:xfrm>
            <a:off x="274320" y="2569464"/>
            <a:ext cx="301752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 y="2624328"/>
            <a:ext cx="2926079" cy="292607"/>
          </a:xfrm>
          <a:prstGeom prst="rect">
            <a:avLst/>
          </a:prstGeom>
          <a:noFill/>
        </p:spPr>
        <p:txBody>
          <a:bodyPr wrap="square">
            <a:spAutoFit/>
          </a:bodyPr>
          <a:lstStyle/>
          <a:p>
            <a:pPr algn="l"/>
            <a:r>
              <a:rPr sz="1000" b="0" i="0">
                <a:solidFill>
                  <a:srgbClr val="333333"/>
                </a:solidFill>
              </a:rPr>
              <a:t>XGBoost / Random Forest</a:t>
            </a:r>
          </a:p>
        </p:txBody>
      </p:sp>
      <p:sp>
        <p:nvSpPr>
          <p:cNvPr id="28" name="Rectangle 27"/>
          <p:cNvSpPr/>
          <p:nvPr/>
        </p:nvSpPr>
        <p:spPr>
          <a:xfrm>
            <a:off x="3291839" y="2569464"/>
            <a:ext cx="429768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64991" y="2624328"/>
            <a:ext cx="4206240" cy="292607"/>
          </a:xfrm>
          <a:prstGeom prst="rect">
            <a:avLst/>
          </a:prstGeom>
          <a:noFill/>
        </p:spPr>
        <p:txBody>
          <a:bodyPr wrap="square">
            <a:spAutoFit/>
          </a:bodyPr>
          <a:lstStyle/>
          <a:p>
            <a:pPr algn="l"/>
            <a:r>
              <a:rPr sz="1000" b="0" i="0">
                <a:solidFill>
                  <a:srgbClr val="333333"/>
                </a:solidFill>
              </a:rPr>
              <a:t>ML on metadata features</a:t>
            </a:r>
          </a:p>
        </p:txBody>
      </p:sp>
      <p:sp>
        <p:nvSpPr>
          <p:cNvPr id="30" name="Rectangle 29"/>
          <p:cNvSpPr/>
          <p:nvPr/>
        </p:nvSpPr>
        <p:spPr>
          <a:xfrm>
            <a:off x="7589520" y="2569464"/>
            <a:ext cx="45720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62672" y="2624328"/>
            <a:ext cx="4480560" cy="292607"/>
          </a:xfrm>
          <a:prstGeom prst="rect">
            <a:avLst/>
          </a:prstGeom>
          <a:noFill/>
        </p:spPr>
        <p:txBody>
          <a:bodyPr wrap="square">
            <a:spAutoFit/>
          </a:bodyPr>
          <a:lstStyle/>
          <a:p>
            <a:pPr algn="l"/>
            <a:r>
              <a:rPr sz="1000" b="0" i="0">
                <a:solidFill>
                  <a:srgbClr val="333333"/>
                </a:solidFill>
              </a:rPr>
              <a:t>Predict: which tiger appears here at this time?</a:t>
            </a:r>
          </a:p>
        </p:txBody>
      </p:sp>
      <p:sp>
        <p:nvSpPr>
          <p:cNvPr id="32" name="Rectangle 31"/>
          <p:cNvSpPr/>
          <p:nvPr/>
        </p:nvSpPr>
        <p:spPr>
          <a:xfrm>
            <a:off x="274320" y="2953512"/>
            <a:ext cx="301752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472" y="3008376"/>
            <a:ext cx="2926079" cy="292607"/>
          </a:xfrm>
          <a:prstGeom prst="rect">
            <a:avLst/>
          </a:prstGeom>
          <a:noFill/>
        </p:spPr>
        <p:txBody>
          <a:bodyPr wrap="square">
            <a:spAutoFit/>
          </a:bodyPr>
          <a:lstStyle/>
          <a:p>
            <a:pPr algn="l"/>
            <a:r>
              <a:rPr sz="1000" b="0" i="0">
                <a:solidFill>
                  <a:srgbClr val="333333"/>
                </a:solidFill>
              </a:rPr>
              <a:t>LSTM (Time Series)</a:t>
            </a:r>
          </a:p>
        </p:txBody>
      </p:sp>
      <p:sp>
        <p:nvSpPr>
          <p:cNvPr id="34" name="Rectangle 33"/>
          <p:cNvSpPr/>
          <p:nvPr/>
        </p:nvSpPr>
        <p:spPr>
          <a:xfrm>
            <a:off x="3291839" y="2953512"/>
            <a:ext cx="429768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64991" y="3008376"/>
            <a:ext cx="4206240" cy="292607"/>
          </a:xfrm>
          <a:prstGeom prst="rect">
            <a:avLst/>
          </a:prstGeom>
          <a:noFill/>
        </p:spPr>
        <p:txBody>
          <a:bodyPr wrap="square">
            <a:spAutoFit/>
          </a:bodyPr>
          <a:lstStyle/>
          <a:p>
            <a:pPr algn="l"/>
            <a:r>
              <a:rPr sz="1000" b="0" i="0">
                <a:solidFill>
                  <a:srgbClr val="333333"/>
                </a:solidFill>
              </a:rPr>
              <a:t>Sequential pattern in timestamps</a:t>
            </a:r>
          </a:p>
        </p:txBody>
      </p:sp>
      <p:sp>
        <p:nvSpPr>
          <p:cNvPr id="36" name="Rectangle 35"/>
          <p:cNvSpPr/>
          <p:nvPr/>
        </p:nvSpPr>
        <p:spPr>
          <a:xfrm>
            <a:off x="7589520" y="2953512"/>
            <a:ext cx="4572000" cy="384048"/>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62672" y="3008376"/>
            <a:ext cx="4480560" cy="292607"/>
          </a:xfrm>
          <a:prstGeom prst="rect">
            <a:avLst/>
          </a:prstGeom>
          <a:noFill/>
        </p:spPr>
        <p:txBody>
          <a:bodyPr wrap="square">
            <a:spAutoFit/>
          </a:bodyPr>
          <a:lstStyle/>
          <a:p>
            <a:pPr algn="l"/>
            <a:r>
              <a:rPr sz="1000" b="0" i="0">
                <a:solidFill>
                  <a:srgbClr val="333333"/>
                </a:solidFill>
              </a:rPr>
              <a:t>Tiger daily rhythm — predict next appearance window</a:t>
            </a:r>
          </a:p>
        </p:txBody>
      </p:sp>
      <p:sp>
        <p:nvSpPr>
          <p:cNvPr id="38" name="Rectangle 37"/>
          <p:cNvSpPr/>
          <p:nvPr/>
        </p:nvSpPr>
        <p:spPr>
          <a:xfrm>
            <a:off x="274320" y="3337560"/>
            <a:ext cx="301752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7472" y="3392424"/>
            <a:ext cx="2926079" cy="292607"/>
          </a:xfrm>
          <a:prstGeom prst="rect">
            <a:avLst/>
          </a:prstGeom>
          <a:noFill/>
        </p:spPr>
        <p:txBody>
          <a:bodyPr wrap="square">
            <a:spAutoFit/>
          </a:bodyPr>
          <a:lstStyle/>
          <a:p>
            <a:pPr algn="l"/>
            <a:r>
              <a:rPr sz="1000" b="0" i="0">
                <a:solidFill>
                  <a:srgbClr val="333333"/>
                </a:solidFill>
              </a:rPr>
              <a:t>Graph Neural Network (GNN)</a:t>
            </a:r>
          </a:p>
        </p:txBody>
      </p:sp>
      <p:sp>
        <p:nvSpPr>
          <p:cNvPr id="40" name="Rectangle 39"/>
          <p:cNvSpPr/>
          <p:nvPr/>
        </p:nvSpPr>
        <p:spPr>
          <a:xfrm>
            <a:off x="3291839" y="3337560"/>
            <a:ext cx="429768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64991" y="3392424"/>
            <a:ext cx="4206240" cy="292607"/>
          </a:xfrm>
          <a:prstGeom prst="rect">
            <a:avLst/>
          </a:prstGeom>
          <a:noFill/>
        </p:spPr>
        <p:txBody>
          <a:bodyPr wrap="square">
            <a:spAutoFit/>
          </a:bodyPr>
          <a:lstStyle/>
          <a:p>
            <a:pPr algn="l"/>
            <a:r>
              <a:rPr sz="1000" b="0" i="0">
                <a:solidFill>
                  <a:srgbClr val="333333"/>
                </a:solidFill>
              </a:rPr>
              <a:t>Models trap-to-trap relationships</a:t>
            </a:r>
          </a:p>
        </p:txBody>
      </p:sp>
      <p:sp>
        <p:nvSpPr>
          <p:cNvPr id="42" name="Rectangle 41"/>
          <p:cNvSpPr/>
          <p:nvPr/>
        </p:nvSpPr>
        <p:spPr>
          <a:xfrm>
            <a:off x="7589520" y="3337560"/>
            <a:ext cx="4572000" cy="38404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62672" y="3392424"/>
            <a:ext cx="4480560" cy="292607"/>
          </a:xfrm>
          <a:prstGeom prst="rect">
            <a:avLst/>
          </a:prstGeom>
          <a:noFill/>
        </p:spPr>
        <p:txBody>
          <a:bodyPr wrap="square">
            <a:spAutoFit/>
          </a:bodyPr>
          <a:lstStyle/>
          <a:p>
            <a:pPr algn="l"/>
            <a:r>
              <a:rPr sz="1000" b="0" i="0">
                <a:solidFill>
                  <a:srgbClr val="333333"/>
                </a:solidFill>
              </a:rPr>
              <a:t>Which cameras are in the same tiger's territory?</a:t>
            </a:r>
          </a:p>
        </p:txBody>
      </p:sp>
      <p:sp>
        <p:nvSpPr>
          <p:cNvPr id="44" name="Rectangle 43"/>
          <p:cNvSpPr/>
          <p:nvPr/>
        </p:nvSpPr>
        <p:spPr>
          <a:xfrm>
            <a:off x="274320" y="4892040"/>
            <a:ext cx="11612880" cy="146304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4956048"/>
            <a:ext cx="11247120" cy="347472"/>
          </a:xfrm>
          <a:prstGeom prst="rect">
            <a:avLst/>
          </a:prstGeom>
          <a:noFill/>
        </p:spPr>
        <p:txBody>
          <a:bodyPr wrap="square">
            <a:spAutoFit/>
          </a:bodyPr>
          <a:lstStyle/>
          <a:p>
            <a:pPr algn="l"/>
            <a:r>
              <a:rPr sz="1300" b="1" i="0">
                <a:solidFill>
                  <a:srgbClr val="2E7D32"/>
                </a:solidFill>
              </a:rPr>
              <a:t>📍  What metadata comes from the forest department:</a:t>
            </a:r>
          </a:p>
        </p:txBody>
      </p:sp>
      <p:sp>
        <p:nvSpPr>
          <p:cNvPr id="46" name="TextBox 45"/>
          <p:cNvSpPr txBox="1"/>
          <p:nvPr/>
        </p:nvSpPr>
        <p:spPr>
          <a:xfrm>
            <a:off x="548640" y="5321808"/>
            <a:ext cx="11155680" cy="274320"/>
          </a:xfrm>
          <a:prstGeom prst="rect">
            <a:avLst/>
          </a:prstGeom>
          <a:noFill/>
        </p:spPr>
        <p:txBody>
          <a:bodyPr wrap="square">
            <a:spAutoFit/>
          </a:bodyPr>
          <a:lstStyle/>
          <a:p>
            <a:pPr algn="l"/>
            <a:r>
              <a:rPr sz="1100" b="0" i="0">
                <a:solidFill>
                  <a:srgbClr val="333333"/>
                </a:solidFill>
              </a:rPr>
              <a:t>▸  GPS coordinates embedded in each photo (EXIF) OR separate CSV from forest dept</a:t>
            </a:r>
          </a:p>
        </p:txBody>
      </p:sp>
      <p:sp>
        <p:nvSpPr>
          <p:cNvPr id="47" name="TextBox 46"/>
          <p:cNvSpPr txBox="1"/>
          <p:nvPr/>
        </p:nvSpPr>
        <p:spPr>
          <a:xfrm>
            <a:off x="548640" y="5596128"/>
            <a:ext cx="11155680" cy="274320"/>
          </a:xfrm>
          <a:prstGeom prst="rect">
            <a:avLst/>
          </a:prstGeom>
          <a:noFill/>
        </p:spPr>
        <p:txBody>
          <a:bodyPr wrap="square">
            <a:spAutoFit/>
          </a:bodyPr>
          <a:lstStyle/>
          <a:p>
            <a:pPr algn="l"/>
            <a:r>
              <a:rPr sz="1100" b="0" i="0">
                <a:solidFill>
                  <a:srgbClr val="333333"/>
                </a:solidFill>
              </a:rPr>
              <a:t>▸  Camera trap ID → maps to sector name (Sajnekhali, Dobanki, etc.)</a:t>
            </a:r>
          </a:p>
        </p:txBody>
      </p:sp>
      <p:sp>
        <p:nvSpPr>
          <p:cNvPr id="48" name="TextBox 47"/>
          <p:cNvSpPr txBox="1"/>
          <p:nvPr/>
        </p:nvSpPr>
        <p:spPr>
          <a:xfrm>
            <a:off x="548640" y="5870448"/>
            <a:ext cx="11155680" cy="274320"/>
          </a:xfrm>
          <a:prstGeom prst="rect">
            <a:avLst/>
          </a:prstGeom>
          <a:noFill/>
        </p:spPr>
        <p:txBody>
          <a:bodyPr wrap="square">
            <a:spAutoFit/>
          </a:bodyPr>
          <a:lstStyle/>
          <a:p>
            <a:pPr algn="l"/>
            <a:r>
              <a:rPr sz="1100" b="0" i="0">
                <a:solidFill>
                  <a:srgbClr val="333333"/>
                </a:solidFill>
              </a:rPr>
              <a:t>▸  Timestamp of each image (date + time)</a:t>
            </a:r>
          </a:p>
        </p:txBody>
      </p:sp>
      <p:sp>
        <p:nvSpPr>
          <p:cNvPr id="49" name="TextBox 48"/>
          <p:cNvSpPr txBox="1"/>
          <p:nvPr/>
        </p:nvSpPr>
        <p:spPr>
          <a:xfrm>
            <a:off x="548640" y="6144768"/>
            <a:ext cx="11155680" cy="274320"/>
          </a:xfrm>
          <a:prstGeom prst="rect">
            <a:avLst/>
          </a:prstGeom>
          <a:noFill/>
        </p:spPr>
        <p:txBody>
          <a:bodyPr wrap="square">
            <a:spAutoFit/>
          </a:bodyPr>
          <a:lstStyle/>
          <a:p>
            <a:pPr algn="l"/>
            <a:r>
              <a:rPr sz="1100" b="0" i="0">
                <a:solidFill>
                  <a:srgbClr val="333333"/>
                </a:solidFill>
              </a:rPr>
              <a:t>▸  Existing tiger registry: T-17, T-23 etc. with reference photos</a:t>
            </a:r>
          </a:p>
        </p:txBody>
      </p:sp>
      <p:sp>
        <p:nvSpPr>
          <p:cNvPr id="50" name="Rectangle 49"/>
          <p:cNvSpPr/>
          <p:nvPr/>
        </p:nvSpPr>
        <p:spPr>
          <a:xfrm>
            <a:off x="274320" y="6053328"/>
            <a:ext cx="11612880" cy="43891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6117336"/>
            <a:ext cx="11247120" cy="320040"/>
          </a:xfrm>
          <a:prstGeom prst="rect">
            <a:avLst/>
          </a:prstGeom>
          <a:noFill/>
        </p:spPr>
        <p:txBody>
          <a:bodyPr wrap="square">
            <a:spAutoFit/>
          </a:bodyPr>
          <a:lstStyle/>
          <a:p>
            <a:pPr algn="l"/>
            <a:r>
              <a:rPr sz="1100" b="1" i="0">
                <a:solidFill>
                  <a:srgbClr val="FFFFFF"/>
                </a:solidFill>
              </a:rPr>
              <a:t>✅  Recommended: DBSCAN + KDE for territory mapping  |  LSTM for activity prediction  |  XGBoost for patrol scheduling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972800" cy="685800"/>
          </a:xfrm>
          <a:prstGeom prst="rect">
            <a:avLst/>
          </a:prstGeom>
          <a:noFill/>
        </p:spPr>
        <p:txBody>
          <a:bodyPr wrap="square">
            <a:spAutoFit/>
          </a:bodyPr>
          <a:lstStyle/>
          <a:p>
            <a:pPr algn="l"/>
            <a:r>
              <a:rPr sz="2800" b="1" i="0">
                <a:solidFill>
                  <a:srgbClr val="FFFFFF"/>
                </a:solidFill>
              </a:rPr>
              <a:t>Explainability — Why Did the Model Say This?</a:t>
            </a:r>
          </a:p>
        </p:txBody>
      </p:sp>
      <p:sp>
        <p:nvSpPr>
          <p:cNvPr id="5" name="TextBox 4"/>
          <p:cNvSpPr txBox="1"/>
          <p:nvPr/>
        </p:nvSpPr>
        <p:spPr>
          <a:xfrm>
            <a:off x="365760" y="749808"/>
            <a:ext cx="10972800" cy="411480"/>
          </a:xfrm>
          <a:prstGeom prst="rect">
            <a:avLst/>
          </a:prstGeom>
          <a:noFill/>
        </p:spPr>
        <p:txBody>
          <a:bodyPr wrap="square">
            <a:spAutoFit/>
          </a:bodyPr>
          <a:lstStyle/>
          <a:p>
            <a:pPr algn="l"/>
            <a:r>
              <a:rPr sz="1400" b="0" i="0">
                <a:solidFill>
                  <a:srgbClr val="FFC107"/>
                </a:solidFill>
              </a:rPr>
              <a:t>Critical for government presentation and conservation trust</a:t>
            </a:r>
          </a:p>
        </p:txBody>
      </p:sp>
      <p:sp>
        <p:nvSpPr>
          <p:cNvPr id="6" name="Rectangle 5"/>
          <p:cNvSpPr/>
          <p:nvPr/>
        </p:nvSpPr>
        <p:spPr>
          <a:xfrm>
            <a:off x="0" y="6492240"/>
            <a:ext cx="12188952" cy="3657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11612880" cy="274320"/>
          </a:xfrm>
          <a:prstGeom prst="rect">
            <a:avLst/>
          </a:prstGeom>
          <a:noFill/>
        </p:spPr>
        <p:txBody>
          <a:bodyPr wrap="square">
            <a:spAutoFit/>
          </a:bodyPr>
          <a:lstStyle/>
          <a:p>
            <a:pPr algn="ctr"/>
            <a:r>
              <a:rPr sz="900" b="0" i="0">
                <a:solidFill>
                  <a:srgbClr val="FFFFFF"/>
                </a:solidFill>
              </a:rPr>
              <a:t>EPAIB Batch 05 | Group 4 | IIM Lucknow | Sundarban Tiger Enumeration</a:t>
            </a:r>
          </a:p>
        </p:txBody>
      </p:sp>
      <p:sp>
        <p:nvSpPr>
          <p:cNvPr id="8" name="TextBox 7"/>
          <p:cNvSpPr txBox="1"/>
          <p:nvPr/>
        </p:nvSpPr>
        <p:spPr>
          <a:xfrm>
            <a:off x="365760" y="1417320"/>
            <a:ext cx="11430000" cy="502920"/>
          </a:xfrm>
          <a:prstGeom prst="rect">
            <a:avLst/>
          </a:prstGeom>
          <a:noFill/>
        </p:spPr>
        <p:txBody>
          <a:bodyPr wrap="square">
            <a:spAutoFit/>
          </a:bodyPr>
          <a:lstStyle/>
          <a:p>
            <a:pPr algn="l"/>
            <a:r>
              <a:rPr sz="1300" b="0" i="0">
                <a:solidFill>
                  <a:srgbClr val="333333"/>
                </a:solidFill>
              </a:rPr>
              <a:t>The Forest Department and IIM panel will ask: "How do we know the model is right?"  These 3 tools give visual proof.</a:t>
            </a:r>
          </a:p>
        </p:txBody>
      </p:sp>
      <p:sp>
        <p:nvSpPr>
          <p:cNvPr id="9" name="Rectangle 8"/>
          <p:cNvSpPr/>
          <p:nvPr/>
        </p:nvSpPr>
        <p:spPr>
          <a:xfrm>
            <a:off x="274320" y="2011680"/>
            <a:ext cx="1097280" cy="14630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2468880"/>
            <a:ext cx="1005840" cy="640080"/>
          </a:xfrm>
          <a:prstGeom prst="rect">
            <a:avLst/>
          </a:prstGeom>
          <a:noFill/>
        </p:spPr>
        <p:txBody>
          <a:bodyPr wrap="square">
            <a:spAutoFit/>
          </a:bodyPr>
          <a:lstStyle/>
          <a:p>
            <a:pPr algn="ctr"/>
            <a:r>
              <a:rPr sz="2200" b="1" i="0">
                <a:solidFill>
                  <a:srgbClr val="FFFFFF"/>
                </a:solidFill>
              </a:rPr>
              <a:t>Grad-CAM</a:t>
            </a:r>
          </a:p>
        </p:txBody>
      </p:sp>
      <p:sp>
        <p:nvSpPr>
          <p:cNvPr id="11" name="Rectangle 10"/>
          <p:cNvSpPr/>
          <p:nvPr/>
        </p:nvSpPr>
        <p:spPr>
          <a:xfrm>
            <a:off x="1463040" y="2011680"/>
            <a:ext cx="10424160" cy="1463040"/>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0200" y="2057400"/>
            <a:ext cx="10149840" cy="320040"/>
          </a:xfrm>
          <a:prstGeom prst="rect">
            <a:avLst/>
          </a:prstGeom>
          <a:noFill/>
        </p:spPr>
        <p:txBody>
          <a:bodyPr wrap="square">
            <a:spAutoFit/>
          </a:bodyPr>
          <a:lstStyle/>
          <a:p>
            <a:pPr algn="l"/>
            <a:r>
              <a:rPr sz="1200" b="1" i="0">
                <a:solidFill>
                  <a:srgbClr val="1565C0"/>
                </a:solidFill>
              </a:rPr>
              <a:t>Gradient-weighted Class Activation Map</a:t>
            </a:r>
          </a:p>
        </p:txBody>
      </p:sp>
      <p:sp>
        <p:nvSpPr>
          <p:cNvPr id="13" name="TextBox 12"/>
          <p:cNvSpPr txBox="1"/>
          <p:nvPr/>
        </p:nvSpPr>
        <p:spPr>
          <a:xfrm>
            <a:off x="1600200" y="2359152"/>
            <a:ext cx="10149840" cy="292608"/>
          </a:xfrm>
          <a:prstGeom prst="rect">
            <a:avLst/>
          </a:prstGeom>
          <a:noFill/>
        </p:spPr>
        <p:txBody>
          <a:bodyPr wrap="square">
            <a:spAutoFit/>
          </a:bodyPr>
          <a:lstStyle/>
          <a:p>
            <a:pPr algn="l"/>
            <a:r>
              <a:rPr sz="1100" b="0" i="0">
                <a:solidFill>
                  <a:srgbClr val="333333"/>
                </a:solidFill>
              </a:rPr>
              <a:t>Shows WHICH PART of the image made the model say 'tiger'.</a:t>
            </a:r>
          </a:p>
        </p:txBody>
      </p:sp>
      <p:sp>
        <p:nvSpPr>
          <p:cNvPr id="14" name="TextBox 13"/>
          <p:cNvSpPr txBox="1"/>
          <p:nvPr/>
        </p:nvSpPr>
        <p:spPr>
          <a:xfrm>
            <a:off x="1600200" y="2633472"/>
            <a:ext cx="10149840" cy="292608"/>
          </a:xfrm>
          <a:prstGeom prst="rect">
            <a:avLst/>
          </a:prstGeom>
          <a:noFill/>
        </p:spPr>
        <p:txBody>
          <a:bodyPr wrap="square">
            <a:spAutoFit/>
          </a:bodyPr>
          <a:lstStyle/>
          <a:p>
            <a:pPr algn="l"/>
            <a:r>
              <a:rPr sz="1100" b="0" i="0">
                <a:solidFill>
                  <a:srgbClr val="333333"/>
                </a:solidFill>
              </a:rPr>
              <a:t>A heatmap overlay on the photo — red = model focused here.</a:t>
            </a:r>
          </a:p>
        </p:txBody>
      </p:sp>
      <p:sp>
        <p:nvSpPr>
          <p:cNvPr id="15" name="TextBox 14"/>
          <p:cNvSpPr txBox="1"/>
          <p:nvPr/>
        </p:nvSpPr>
        <p:spPr>
          <a:xfrm>
            <a:off x="1600200" y="2907792"/>
            <a:ext cx="10149840" cy="320040"/>
          </a:xfrm>
          <a:prstGeom prst="rect">
            <a:avLst/>
          </a:prstGeom>
          <a:noFill/>
        </p:spPr>
        <p:txBody>
          <a:bodyPr wrap="square">
            <a:spAutoFit/>
          </a:bodyPr>
          <a:lstStyle/>
          <a:p>
            <a:pPr algn="l"/>
            <a:r>
              <a:rPr sz="1100" b="0" i="1">
                <a:solidFill>
                  <a:srgbClr val="333333"/>
                </a:solidFill>
              </a:rPr>
              <a:t>Proof: model looks at stripe pattern, NOT trees or background.</a:t>
            </a:r>
          </a:p>
        </p:txBody>
      </p:sp>
      <p:sp>
        <p:nvSpPr>
          <p:cNvPr id="16" name="Rectangle 15"/>
          <p:cNvSpPr/>
          <p:nvPr/>
        </p:nvSpPr>
        <p:spPr>
          <a:xfrm>
            <a:off x="274320" y="3639312"/>
            <a:ext cx="1097280" cy="146304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4096512"/>
            <a:ext cx="1005840" cy="640080"/>
          </a:xfrm>
          <a:prstGeom prst="rect">
            <a:avLst/>
          </a:prstGeom>
          <a:noFill/>
        </p:spPr>
        <p:txBody>
          <a:bodyPr wrap="square">
            <a:spAutoFit/>
          </a:bodyPr>
          <a:lstStyle/>
          <a:p>
            <a:pPr algn="ctr"/>
            <a:r>
              <a:rPr sz="2200" b="1" i="0">
                <a:solidFill>
                  <a:srgbClr val="FFFFFF"/>
                </a:solidFill>
              </a:rPr>
              <a:t>SHAP</a:t>
            </a:r>
          </a:p>
        </p:txBody>
      </p:sp>
      <p:sp>
        <p:nvSpPr>
          <p:cNvPr id="18" name="Rectangle 17"/>
          <p:cNvSpPr/>
          <p:nvPr/>
        </p:nvSpPr>
        <p:spPr>
          <a:xfrm>
            <a:off x="1463040" y="3639312"/>
            <a:ext cx="10424160" cy="1463040"/>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685032"/>
            <a:ext cx="10149840" cy="320040"/>
          </a:xfrm>
          <a:prstGeom prst="rect">
            <a:avLst/>
          </a:prstGeom>
          <a:noFill/>
        </p:spPr>
        <p:txBody>
          <a:bodyPr wrap="square">
            <a:spAutoFit/>
          </a:bodyPr>
          <a:lstStyle/>
          <a:p>
            <a:pPr algn="l"/>
            <a:r>
              <a:rPr sz="1200" b="1" i="0">
                <a:solidFill>
                  <a:srgbClr val="E86B00"/>
                </a:solidFill>
              </a:rPr>
              <a:t>SHapley Additive exPlanations</a:t>
            </a:r>
          </a:p>
        </p:txBody>
      </p:sp>
      <p:sp>
        <p:nvSpPr>
          <p:cNvPr id="20" name="TextBox 19"/>
          <p:cNvSpPr txBox="1"/>
          <p:nvPr/>
        </p:nvSpPr>
        <p:spPr>
          <a:xfrm>
            <a:off x="1600200" y="3986784"/>
            <a:ext cx="10149840" cy="292608"/>
          </a:xfrm>
          <a:prstGeom prst="rect">
            <a:avLst/>
          </a:prstGeom>
          <a:noFill/>
        </p:spPr>
        <p:txBody>
          <a:bodyPr wrap="square">
            <a:spAutoFit/>
          </a:bodyPr>
          <a:lstStyle/>
          <a:p>
            <a:pPr algn="l"/>
            <a:r>
              <a:rPr sz="1100" b="0" i="0">
                <a:solidFill>
                  <a:srgbClr val="333333"/>
                </a:solidFill>
              </a:rPr>
              <a:t>Shows WHICH FEATURES drove the prediction.</a:t>
            </a:r>
          </a:p>
        </p:txBody>
      </p:sp>
      <p:sp>
        <p:nvSpPr>
          <p:cNvPr id="21" name="TextBox 20"/>
          <p:cNvSpPr txBox="1"/>
          <p:nvPr/>
        </p:nvSpPr>
        <p:spPr>
          <a:xfrm>
            <a:off x="1600200" y="4261104"/>
            <a:ext cx="10149840" cy="292608"/>
          </a:xfrm>
          <a:prstGeom prst="rect">
            <a:avLst/>
          </a:prstGeom>
          <a:noFill/>
        </p:spPr>
        <p:txBody>
          <a:bodyPr wrap="square">
            <a:spAutoFit/>
          </a:bodyPr>
          <a:lstStyle/>
          <a:p>
            <a:pPr algn="l"/>
            <a:r>
              <a:rPr sz="1100" b="0" i="0">
                <a:solidFill>
                  <a:srgbClr val="333333"/>
                </a:solidFill>
              </a:rPr>
              <a:t>For metadata: 'Time=2AM contributed +0.34 to tiger probability'</a:t>
            </a:r>
          </a:p>
        </p:txBody>
      </p:sp>
      <p:sp>
        <p:nvSpPr>
          <p:cNvPr id="22" name="TextBox 21"/>
          <p:cNvSpPr txBox="1"/>
          <p:nvPr/>
        </p:nvSpPr>
        <p:spPr>
          <a:xfrm>
            <a:off x="1600200" y="4535424"/>
            <a:ext cx="10149840" cy="320040"/>
          </a:xfrm>
          <a:prstGeom prst="rect">
            <a:avLst/>
          </a:prstGeom>
          <a:noFill/>
        </p:spPr>
        <p:txBody>
          <a:bodyPr wrap="square">
            <a:spAutoFit/>
          </a:bodyPr>
          <a:lstStyle/>
          <a:p>
            <a:pPr algn="l"/>
            <a:r>
              <a:rPr sz="1100" b="0" i="1">
                <a:solidFill>
                  <a:srgbClr val="333333"/>
                </a:solidFill>
              </a:rPr>
              <a:t>Helps rangers understand why an alert was triggered.</a:t>
            </a:r>
          </a:p>
        </p:txBody>
      </p:sp>
      <p:sp>
        <p:nvSpPr>
          <p:cNvPr id="23" name="Rectangle 22"/>
          <p:cNvSpPr/>
          <p:nvPr/>
        </p:nvSpPr>
        <p:spPr>
          <a:xfrm>
            <a:off x="274320" y="5266944"/>
            <a:ext cx="1097280" cy="1463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5724144"/>
            <a:ext cx="1005840" cy="640080"/>
          </a:xfrm>
          <a:prstGeom prst="rect">
            <a:avLst/>
          </a:prstGeom>
          <a:noFill/>
        </p:spPr>
        <p:txBody>
          <a:bodyPr wrap="square">
            <a:spAutoFit/>
          </a:bodyPr>
          <a:lstStyle/>
          <a:p>
            <a:pPr algn="ctr"/>
            <a:r>
              <a:rPr sz="2200" b="1" i="0">
                <a:solidFill>
                  <a:srgbClr val="FFFFFF"/>
                </a:solidFill>
              </a:rPr>
              <a:t>LIME</a:t>
            </a:r>
          </a:p>
        </p:txBody>
      </p:sp>
      <p:sp>
        <p:nvSpPr>
          <p:cNvPr id="25" name="Rectangle 24"/>
          <p:cNvSpPr/>
          <p:nvPr/>
        </p:nvSpPr>
        <p:spPr>
          <a:xfrm>
            <a:off x="1463040" y="5266944"/>
            <a:ext cx="10424160" cy="1463040"/>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00200" y="5312664"/>
            <a:ext cx="10149840" cy="320040"/>
          </a:xfrm>
          <a:prstGeom prst="rect">
            <a:avLst/>
          </a:prstGeom>
          <a:noFill/>
        </p:spPr>
        <p:txBody>
          <a:bodyPr wrap="square">
            <a:spAutoFit/>
          </a:bodyPr>
          <a:lstStyle/>
          <a:p>
            <a:pPr algn="l"/>
            <a:r>
              <a:rPr sz="1200" b="1" i="0">
                <a:solidFill>
                  <a:srgbClr val="2E7D32"/>
                </a:solidFill>
              </a:rPr>
              <a:t>Local Interpretable Model-agnostic Explanations</a:t>
            </a:r>
          </a:p>
        </p:txBody>
      </p:sp>
      <p:sp>
        <p:nvSpPr>
          <p:cNvPr id="27" name="TextBox 26"/>
          <p:cNvSpPr txBox="1"/>
          <p:nvPr/>
        </p:nvSpPr>
        <p:spPr>
          <a:xfrm>
            <a:off x="1600200" y="5614416"/>
            <a:ext cx="10149840" cy="292608"/>
          </a:xfrm>
          <a:prstGeom prst="rect">
            <a:avLst/>
          </a:prstGeom>
          <a:noFill/>
        </p:spPr>
        <p:txBody>
          <a:bodyPr wrap="square">
            <a:spAutoFit/>
          </a:bodyPr>
          <a:lstStyle/>
          <a:p>
            <a:pPr algn="l"/>
            <a:r>
              <a:rPr sz="1100" b="0" i="0">
                <a:solidFill>
                  <a:srgbClr val="333333"/>
                </a:solidFill>
              </a:rPr>
              <a:t>Per-image explanation: 'Why did model say T-17?'</a:t>
            </a:r>
          </a:p>
        </p:txBody>
      </p:sp>
      <p:sp>
        <p:nvSpPr>
          <p:cNvPr id="28" name="TextBox 27"/>
          <p:cNvSpPr txBox="1"/>
          <p:nvPr/>
        </p:nvSpPr>
        <p:spPr>
          <a:xfrm>
            <a:off x="1600200" y="5888736"/>
            <a:ext cx="10149840" cy="292608"/>
          </a:xfrm>
          <a:prstGeom prst="rect">
            <a:avLst/>
          </a:prstGeom>
          <a:noFill/>
        </p:spPr>
        <p:txBody>
          <a:bodyPr wrap="square">
            <a:spAutoFit/>
          </a:bodyPr>
          <a:lstStyle/>
          <a:p>
            <a:pPr algn="l"/>
            <a:r>
              <a:rPr sz="1100" b="0" i="0">
                <a:solidFill>
                  <a:srgbClr val="333333"/>
                </a:solidFill>
              </a:rPr>
              <a:t>Highlights the exact stripe region that matched T-17's profile.</a:t>
            </a:r>
          </a:p>
        </p:txBody>
      </p:sp>
      <p:sp>
        <p:nvSpPr>
          <p:cNvPr id="29" name="TextBox 28"/>
          <p:cNvSpPr txBox="1"/>
          <p:nvPr/>
        </p:nvSpPr>
        <p:spPr>
          <a:xfrm>
            <a:off x="1600200" y="6163056"/>
            <a:ext cx="10149840" cy="320040"/>
          </a:xfrm>
          <a:prstGeom prst="rect">
            <a:avLst/>
          </a:prstGeom>
          <a:noFill/>
        </p:spPr>
        <p:txBody>
          <a:bodyPr wrap="square">
            <a:spAutoFit/>
          </a:bodyPr>
          <a:lstStyle/>
          <a:p>
            <a:pPr algn="l"/>
            <a:r>
              <a:rPr sz="1100" b="0" i="1">
                <a:solidFill>
                  <a:srgbClr val="333333"/>
                </a:solidFill>
              </a:rPr>
              <a:t>Useful for edge cases and model debugging.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972800" cy="685800"/>
          </a:xfrm>
          <a:prstGeom prst="rect">
            <a:avLst/>
          </a:prstGeom>
          <a:noFill/>
        </p:spPr>
        <p:txBody>
          <a:bodyPr wrap="square">
            <a:spAutoFit/>
          </a:bodyPr>
          <a:lstStyle/>
          <a:p>
            <a:pPr algn="l"/>
            <a:r>
              <a:rPr sz="2800" b="1" i="0">
                <a:solidFill>
                  <a:srgbClr val="FFFFFF"/>
                </a:solidFill>
              </a:rPr>
              <a:t>Full Technology Stack</a:t>
            </a:r>
          </a:p>
        </p:txBody>
      </p:sp>
      <p:sp>
        <p:nvSpPr>
          <p:cNvPr id="5" name="Rectangle 4"/>
          <p:cNvSpPr/>
          <p:nvPr/>
        </p:nvSpPr>
        <p:spPr>
          <a:xfrm>
            <a:off x="0" y="6492240"/>
            <a:ext cx="12188952" cy="3657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9672"/>
            <a:ext cx="11612880" cy="274320"/>
          </a:xfrm>
          <a:prstGeom prst="rect">
            <a:avLst/>
          </a:prstGeom>
          <a:noFill/>
        </p:spPr>
        <p:txBody>
          <a:bodyPr wrap="square">
            <a:spAutoFit/>
          </a:bodyPr>
          <a:lstStyle/>
          <a:p>
            <a:pPr algn="ctr"/>
            <a:r>
              <a:rPr sz="900" b="0" i="0">
                <a:solidFill>
                  <a:srgbClr val="FFFFFF"/>
                </a:solidFill>
              </a:rPr>
              <a:t>EPAIB Batch 05 | Group 4 | IIM Lucknow | Sundarban Tiger Enumeration</a:t>
            </a:r>
          </a:p>
        </p:txBody>
      </p:sp>
      <p:sp>
        <p:nvSpPr>
          <p:cNvPr id="7" name="Rectangle 6"/>
          <p:cNvSpPr/>
          <p:nvPr/>
        </p:nvSpPr>
        <p:spPr>
          <a:xfrm>
            <a:off x="274320" y="1463040"/>
            <a:ext cx="2834640" cy="34747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08760"/>
            <a:ext cx="2697480" cy="274320"/>
          </a:xfrm>
          <a:prstGeom prst="rect">
            <a:avLst/>
          </a:prstGeom>
          <a:noFill/>
        </p:spPr>
        <p:txBody>
          <a:bodyPr wrap="square">
            <a:spAutoFit/>
          </a:bodyPr>
          <a:lstStyle/>
          <a:p>
            <a:pPr algn="l"/>
            <a:r>
              <a:rPr sz="1000" b="1" i="0">
                <a:solidFill>
                  <a:srgbClr val="FFFFFF"/>
                </a:solidFill>
              </a:rPr>
              <a:t>Step 1 — Detection</a:t>
            </a:r>
          </a:p>
        </p:txBody>
      </p:sp>
      <p:sp>
        <p:nvSpPr>
          <p:cNvPr id="9" name="Rectangle 8"/>
          <p:cNvSpPr/>
          <p:nvPr/>
        </p:nvSpPr>
        <p:spPr>
          <a:xfrm>
            <a:off x="274320" y="1810512"/>
            <a:ext cx="2834640" cy="88696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865376"/>
            <a:ext cx="2697480" cy="256032"/>
          </a:xfrm>
          <a:prstGeom prst="rect">
            <a:avLst/>
          </a:prstGeom>
          <a:noFill/>
        </p:spPr>
        <p:txBody>
          <a:bodyPr wrap="square">
            <a:spAutoFit/>
          </a:bodyPr>
          <a:lstStyle/>
          <a:p>
            <a:pPr algn="l"/>
            <a:r>
              <a:rPr sz="1000" b="0" i="0">
                <a:solidFill>
                  <a:srgbClr val="333333"/>
                </a:solidFill>
              </a:rPr>
              <a:t>• ResNet50 / EfficientNetV2</a:t>
            </a:r>
          </a:p>
        </p:txBody>
      </p:sp>
      <p:sp>
        <p:nvSpPr>
          <p:cNvPr id="11" name="TextBox 10"/>
          <p:cNvSpPr txBox="1"/>
          <p:nvPr/>
        </p:nvSpPr>
        <p:spPr>
          <a:xfrm>
            <a:off x="365760" y="2130552"/>
            <a:ext cx="2697480" cy="256032"/>
          </a:xfrm>
          <a:prstGeom prst="rect">
            <a:avLst/>
          </a:prstGeom>
          <a:noFill/>
        </p:spPr>
        <p:txBody>
          <a:bodyPr wrap="square">
            <a:spAutoFit/>
          </a:bodyPr>
          <a:lstStyle/>
          <a:p>
            <a:pPr algn="l"/>
            <a:r>
              <a:rPr sz="1000" b="0" i="0">
                <a:solidFill>
                  <a:srgbClr val="333333"/>
                </a:solidFill>
              </a:rPr>
              <a:t>• TensorFlow / Keras</a:t>
            </a:r>
          </a:p>
        </p:txBody>
      </p:sp>
      <p:sp>
        <p:nvSpPr>
          <p:cNvPr id="12" name="TextBox 11"/>
          <p:cNvSpPr txBox="1"/>
          <p:nvPr/>
        </p:nvSpPr>
        <p:spPr>
          <a:xfrm>
            <a:off x="365760" y="2395728"/>
            <a:ext cx="2697480" cy="256032"/>
          </a:xfrm>
          <a:prstGeom prst="rect">
            <a:avLst/>
          </a:prstGeom>
          <a:noFill/>
        </p:spPr>
        <p:txBody>
          <a:bodyPr wrap="square">
            <a:spAutoFit/>
          </a:bodyPr>
          <a:lstStyle/>
          <a:p>
            <a:pPr algn="l"/>
            <a:r>
              <a:rPr sz="1000" b="0" i="0">
                <a:solidFill>
                  <a:srgbClr val="333333"/>
                </a:solidFill>
              </a:rPr>
              <a:t>• Transfer Learning (ImageNet)</a:t>
            </a:r>
          </a:p>
        </p:txBody>
      </p:sp>
      <p:sp>
        <p:nvSpPr>
          <p:cNvPr id="13" name="Rectangle 12"/>
          <p:cNvSpPr/>
          <p:nvPr/>
        </p:nvSpPr>
        <p:spPr>
          <a:xfrm>
            <a:off x="3200400" y="1463040"/>
            <a:ext cx="2834640" cy="347472"/>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1508760"/>
            <a:ext cx="2697480" cy="274320"/>
          </a:xfrm>
          <a:prstGeom prst="rect">
            <a:avLst/>
          </a:prstGeom>
          <a:noFill/>
        </p:spPr>
        <p:txBody>
          <a:bodyPr wrap="square">
            <a:spAutoFit/>
          </a:bodyPr>
          <a:lstStyle/>
          <a:p>
            <a:pPr algn="l"/>
            <a:r>
              <a:rPr sz="1000" b="1" i="0">
                <a:solidFill>
                  <a:srgbClr val="FFFFFF"/>
                </a:solidFill>
              </a:rPr>
              <a:t>Step 2A — Individual ID</a:t>
            </a:r>
          </a:p>
        </p:txBody>
      </p:sp>
      <p:sp>
        <p:nvSpPr>
          <p:cNvPr id="15" name="Rectangle 14"/>
          <p:cNvSpPr/>
          <p:nvPr/>
        </p:nvSpPr>
        <p:spPr>
          <a:xfrm>
            <a:off x="3200400" y="1810512"/>
            <a:ext cx="2834640" cy="88696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0" y="1865376"/>
            <a:ext cx="2697480" cy="256032"/>
          </a:xfrm>
          <a:prstGeom prst="rect">
            <a:avLst/>
          </a:prstGeom>
          <a:noFill/>
        </p:spPr>
        <p:txBody>
          <a:bodyPr wrap="square">
            <a:spAutoFit/>
          </a:bodyPr>
          <a:lstStyle/>
          <a:p>
            <a:pPr algn="l"/>
            <a:r>
              <a:rPr sz="1000" b="0" i="0">
                <a:solidFill>
                  <a:srgbClr val="333333"/>
                </a:solidFill>
              </a:rPr>
              <a:t>• EfficientNetB3</a:t>
            </a:r>
          </a:p>
        </p:txBody>
      </p:sp>
      <p:sp>
        <p:nvSpPr>
          <p:cNvPr id="17" name="TextBox 16"/>
          <p:cNvSpPr txBox="1"/>
          <p:nvPr/>
        </p:nvSpPr>
        <p:spPr>
          <a:xfrm>
            <a:off x="3291840" y="2130552"/>
            <a:ext cx="2697480" cy="256032"/>
          </a:xfrm>
          <a:prstGeom prst="rect">
            <a:avLst/>
          </a:prstGeom>
          <a:noFill/>
        </p:spPr>
        <p:txBody>
          <a:bodyPr wrap="square">
            <a:spAutoFit/>
          </a:bodyPr>
          <a:lstStyle/>
          <a:p>
            <a:pPr algn="l"/>
            <a:r>
              <a:rPr sz="1000" b="0" i="0">
                <a:solidFill>
                  <a:srgbClr val="333333"/>
                </a:solidFill>
              </a:rPr>
              <a:t>• Triplet Loss + ArcFace</a:t>
            </a:r>
          </a:p>
        </p:txBody>
      </p:sp>
      <p:sp>
        <p:nvSpPr>
          <p:cNvPr id="18" name="TextBox 17"/>
          <p:cNvSpPr txBox="1"/>
          <p:nvPr/>
        </p:nvSpPr>
        <p:spPr>
          <a:xfrm>
            <a:off x="3291840" y="2395728"/>
            <a:ext cx="2697480" cy="256032"/>
          </a:xfrm>
          <a:prstGeom prst="rect">
            <a:avLst/>
          </a:prstGeom>
          <a:noFill/>
        </p:spPr>
        <p:txBody>
          <a:bodyPr wrap="square">
            <a:spAutoFit/>
          </a:bodyPr>
          <a:lstStyle/>
          <a:p>
            <a:pPr algn="l"/>
            <a:r>
              <a:rPr sz="1000" b="0" i="0">
                <a:solidFill>
                  <a:srgbClr val="333333"/>
                </a:solidFill>
              </a:rPr>
              <a:t>• 512-dim Embedding Vectors</a:t>
            </a:r>
          </a:p>
        </p:txBody>
      </p:sp>
      <p:sp>
        <p:nvSpPr>
          <p:cNvPr id="19" name="Rectangle 18"/>
          <p:cNvSpPr/>
          <p:nvPr/>
        </p:nvSpPr>
        <p:spPr>
          <a:xfrm>
            <a:off x="6126480" y="1463040"/>
            <a:ext cx="2834640" cy="347472"/>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508760"/>
            <a:ext cx="2697480" cy="274320"/>
          </a:xfrm>
          <a:prstGeom prst="rect">
            <a:avLst/>
          </a:prstGeom>
          <a:noFill/>
        </p:spPr>
        <p:txBody>
          <a:bodyPr wrap="square">
            <a:spAutoFit/>
          </a:bodyPr>
          <a:lstStyle/>
          <a:p>
            <a:pPr algn="l"/>
            <a:r>
              <a:rPr sz="1000" b="1" i="0">
                <a:solidFill>
                  <a:srgbClr val="FFFFFF"/>
                </a:solidFill>
              </a:rPr>
              <a:t>Step 2B — Counting</a:t>
            </a:r>
          </a:p>
        </p:txBody>
      </p:sp>
      <p:sp>
        <p:nvSpPr>
          <p:cNvPr id="21" name="Rectangle 20"/>
          <p:cNvSpPr/>
          <p:nvPr/>
        </p:nvSpPr>
        <p:spPr>
          <a:xfrm>
            <a:off x="6126480" y="1810512"/>
            <a:ext cx="2834640" cy="88696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1865376"/>
            <a:ext cx="2697480" cy="256032"/>
          </a:xfrm>
          <a:prstGeom prst="rect">
            <a:avLst/>
          </a:prstGeom>
          <a:noFill/>
        </p:spPr>
        <p:txBody>
          <a:bodyPr wrap="square">
            <a:spAutoFit/>
          </a:bodyPr>
          <a:lstStyle/>
          <a:p>
            <a:pPr algn="l"/>
            <a:r>
              <a:rPr sz="1000" b="0" i="0">
                <a:solidFill>
                  <a:srgbClr val="333333"/>
                </a:solidFill>
              </a:rPr>
              <a:t>• YOLOv8 (Ultralytics)</a:t>
            </a:r>
          </a:p>
        </p:txBody>
      </p:sp>
      <p:sp>
        <p:nvSpPr>
          <p:cNvPr id="23" name="TextBox 22"/>
          <p:cNvSpPr txBox="1"/>
          <p:nvPr/>
        </p:nvSpPr>
        <p:spPr>
          <a:xfrm>
            <a:off x="6217920" y="2130552"/>
            <a:ext cx="2697480" cy="256032"/>
          </a:xfrm>
          <a:prstGeom prst="rect">
            <a:avLst/>
          </a:prstGeom>
          <a:noFill/>
        </p:spPr>
        <p:txBody>
          <a:bodyPr wrap="square">
            <a:spAutoFit/>
          </a:bodyPr>
          <a:lstStyle/>
          <a:p>
            <a:pPr algn="l"/>
            <a:r>
              <a:rPr sz="1000" b="0" i="0">
                <a:solidFill>
                  <a:srgbClr val="333333"/>
                </a:solidFill>
              </a:rPr>
              <a:t>• ByteTrack (video)</a:t>
            </a:r>
          </a:p>
        </p:txBody>
      </p:sp>
      <p:sp>
        <p:nvSpPr>
          <p:cNvPr id="24" name="TextBox 23"/>
          <p:cNvSpPr txBox="1"/>
          <p:nvPr/>
        </p:nvSpPr>
        <p:spPr>
          <a:xfrm>
            <a:off x="6217920" y="2395728"/>
            <a:ext cx="2697480" cy="256032"/>
          </a:xfrm>
          <a:prstGeom prst="rect">
            <a:avLst/>
          </a:prstGeom>
          <a:noFill/>
        </p:spPr>
        <p:txBody>
          <a:bodyPr wrap="square">
            <a:spAutoFit/>
          </a:bodyPr>
          <a:lstStyle/>
          <a:p>
            <a:pPr algn="l"/>
            <a:r>
              <a:rPr sz="1000" b="0" i="0">
                <a:solidFill>
                  <a:srgbClr val="333333"/>
                </a:solidFill>
              </a:rPr>
              <a:t>• mAP@0.5 evaluation</a:t>
            </a:r>
          </a:p>
        </p:txBody>
      </p:sp>
      <p:sp>
        <p:nvSpPr>
          <p:cNvPr id="25" name="Rectangle 24"/>
          <p:cNvSpPr/>
          <p:nvPr/>
        </p:nvSpPr>
        <p:spPr>
          <a:xfrm>
            <a:off x="9052560" y="1463040"/>
            <a:ext cx="2834640" cy="34747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508760"/>
            <a:ext cx="2697480" cy="274320"/>
          </a:xfrm>
          <a:prstGeom prst="rect">
            <a:avLst/>
          </a:prstGeom>
          <a:noFill/>
        </p:spPr>
        <p:txBody>
          <a:bodyPr wrap="square">
            <a:spAutoFit/>
          </a:bodyPr>
          <a:lstStyle/>
          <a:p>
            <a:pPr algn="l"/>
            <a:r>
              <a:rPr sz="1000" b="1" i="0">
                <a:solidFill>
                  <a:srgbClr val="FFFFFF"/>
                </a:solidFill>
              </a:rPr>
              <a:t>Step 3 — Metadata</a:t>
            </a:r>
          </a:p>
        </p:txBody>
      </p:sp>
      <p:sp>
        <p:nvSpPr>
          <p:cNvPr id="27" name="Rectangle 26"/>
          <p:cNvSpPr/>
          <p:nvPr/>
        </p:nvSpPr>
        <p:spPr>
          <a:xfrm>
            <a:off x="9052560" y="1810512"/>
            <a:ext cx="2834640" cy="88696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0" y="1865376"/>
            <a:ext cx="2697480" cy="256032"/>
          </a:xfrm>
          <a:prstGeom prst="rect">
            <a:avLst/>
          </a:prstGeom>
          <a:noFill/>
        </p:spPr>
        <p:txBody>
          <a:bodyPr wrap="square">
            <a:spAutoFit/>
          </a:bodyPr>
          <a:lstStyle/>
          <a:p>
            <a:pPr algn="l"/>
            <a:r>
              <a:rPr sz="1000" b="0" i="0">
                <a:solidFill>
                  <a:srgbClr val="333333"/>
                </a:solidFill>
              </a:rPr>
              <a:t>• DBSCAN + KDE (scikit-learn)</a:t>
            </a:r>
          </a:p>
        </p:txBody>
      </p:sp>
      <p:sp>
        <p:nvSpPr>
          <p:cNvPr id="29" name="TextBox 28"/>
          <p:cNvSpPr txBox="1"/>
          <p:nvPr/>
        </p:nvSpPr>
        <p:spPr>
          <a:xfrm>
            <a:off x="9144000" y="2130552"/>
            <a:ext cx="2697480" cy="256032"/>
          </a:xfrm>
          <a:prstGeom prst="rect">
            <a:avLst/>
          </a:prstGeom>
          <a:noFill/>
        </p:spPr>
        <p:txBody>
          <a:bodyPr wrap="square">
            <a:spAutoFit/>
          </a:bodyPr>
          <a:lstStyle/>
          <a:p>
            <a:pPr algn="l"/>
            <a:r>
              <a:rPr sz="1000" b="0" i="0">
                <a:solidFill>
                  <a:srgbClr val="333333"/>
                </a:solidFill>
              </a:rPr>
              <a:t>• LSTM (time series)</a:t>
            </a:r>
          </a:p>
        </p:txBody>
      </p:sp>
      <p:sp>
        <p:nvSpPr>
          <p:cNvPr id="30" name="TextBox 29"/>
          <p:cNvSpPr txBox="1"/>
          <p:nvPr/>
        </p:nvSpPr>
        <p:spPr>
          <a:xfrm>
            <a:off x="9144000" y="2395728"/>
            <a:ext cx="2697480" cy="256032"/>
          </a:xfrm>
          <a:prstGeom prst="rect">
            <a:avLst/>
          </a:prstGeom>
          <a:noFill/>
        </p:spPr>
        <p:txBody>
          <a:bodyPr wrap="square">
            <a:spAutoFit/>
          </a:bodyPr>
          <a:lstStyle/>
          <a:p>
            <a:pPr algn="l"/>
            <a:r>
              <a:rPr sz="1000" b="0" i="0">
                <a:solidFill>
                  <a:srgbClr val="333333"/>
                </a:solidFill>
              </a:rPr>
              <a:t>• XGBoost (patrol scheduling)</a:t>
            </a:r>
          </a:p>
        </p:txBody>
      </p:sp>
      <p:sp>
        <p:nvSpPr>
          <p:cNvPr id="31" name="Rectangle 30"/>
          <p:cNvSpPr/>
          <p:nvPr/>
        </p:nvSpPr>
        <p:spPr>
          <a:xfrm>
            <a:off x="274320" y="2834640"/>
            <a:ext cx="2834640" cy="347472"/>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880360"/>
            <a:ext cx="2697480" cy="274320"/>
          </a:xfrm>
          <a:prstGeom prst="rect">
            <a:avLst/>
          </a:prstGeom>
          <a:noFill/>
        </p:spPr>
        <p:txBody>
          <a:bodyPr wrap="square">
            <a:spAutoFit/>
          </a:bodyPr>
          <a:lstStyle/>
          <a:p>
            <a:pPr algn="l"/>
            <a:r>
              <a:rPr sz="1000" b="1" i="0">
                <a:solidFill>
                  <a:srgbClr val="FFFFFF"/>
                </a:solidFill>
              </a:rPr>
              <a:t>Explainability</a:t>
            </a:r>
          </a:p>
        </p:txBody>
      </p:sp>
      <p:sp>
        <p:nvSpPr>
          <p:cNvPr id="33" name="Rectangle 32"/>
          <p:cNvSpPr/>
          <p:nvPr/>
        </p:nvSpPr>
        <p:spPr>
          <a:xfrm>
            <a:off x="274320" y="3182112"/>
            <a:ext cx="2834640" cy="88696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3236976"/>
            <a:ext cx="2697480" cy="256032"/>
          </a:xfrm>
          <a:prstGeom prst="rect">
            <a:avLst/>
          </a:prstGeom>
          <a:noFill/>
        </p:spPr>
        <p:txBody>
          <a:bodyPr wrap="square">
            <a:spAutoFit/>
          </a:bodyPr>
          <a:lstStyle/>
          <a:p>
            <a:pPr algn="l"/>
            <a:r>
              <a:rPr sz="1000" b="0" i="0">
                <a:solidFill>
                  <a:srgbClr val="333333"/>
                </a:solidFill>
              </a:rPr>
              <a:t>• Grad-CAM (TF GradientTape)</a:t>
            </a:r>
          </a:p>
        </p:txBody>
      </p:sp>
      <p:sp>
        <p:nvSpPr>
          <p:cNvPr id="35" name="TextBox 34"/>
          <p:cNvSpPr txBox="1"/>
          <p:nvPr/>
        </p:nvSpPr>
        <p:spPr>
          <a:xfrm>
            <a:off x="365760" y="3502152"/>
            <a:ext cx="2697480" cy="256032"/>
          </a:xfrm>
          <a:prstGeom prst="rect">
            <a:avLst/>
          </a:prstGeom>
          <a:noFill/>
        </p:spPr>
        <p:txBody>
          <a:bodyPr wrap="square">
            <a:spAutoFit/>
          </a:bodyPr>
          <a:lstStyle/>
          <a:p>
            <a:pPr algn="l"/>
            <a:r>
              <a:rPr sz="1000" b="0" i="0">
                <a:solidFill>
                  <a:srgbClr val="333333"/>
                </a:solidFill>
              </a:rPr>
              <a:t>• SHAP</a:t>
            </a:r>
          </a:p>
        </p:txBody>
      </p:sp>
      <p:sp>
        <p:nvSpPr>
          <p:cNvPr id="36" name="TextBox 35"/>
          <p:cNvSpPr txBox="1"/>
          <p:nvPr/>
        </p:nvSpPr>
        <p:spPr>
          <a:xfrm>
            <a:off x="365760" y="3767328"/>
            <a:ext cx="2697480" cy="256032"/>
          </a:xfrm>
          <a:prstGeom prst="rect">
            <a:avLst/>
          </a:prstGeom>
          <a:noFill/>
        </p:spPr>
        <p:txBody>
          <a:bodyPr wrap="square">
            <a:spAutoFit/>
          </a:bodyPr>
          <a:lstStyle/>
          <a:p>
            <a:pPr algn="l"/>
            <a:r>
              <a:rPr sz="1000" b="0" i="0">
                <a:solidFill>
                  <a:srgbClr val="333333"/>
                </a:solidFill>
              </a:rPr>
              <a:t>• LIME</a:t>
            </a:r>
          </a:p>
        </p:txBody>
      </p:sp>
      <p:sp>
        <p:nvSpPr>
          <p:cNvPr id="37" name="Rectangle 36"/>
          <p:cNvSpPr/>
          <p:nvPr/>
        </p:nvSpPr>
        <p:spPr>
          <a:xfrm>
            <a:off x="3200400" y="2834640"/>
            <a:ext cx="2834640" cy="34747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0" y="2880360"/>
            <a:ext cx="2697480" cy="274320"/>
          </a:xfrm>
          <a:prstGeom prst="rect">
            <a:avLst/>
          </a:prstGeom>
          <a:noFill/>
        </p:spPr>
        <p:txBody>
          <a:bodyPr wrap="square">
            <a:spAutoFit/>
          </a:bodyPr>
          <a:lstStyle/>
          <a:p>
            <a:pPr algn="l"/>
            <a:r>
              <a:rPr sz="1000" b="1" i="0">
                <a:solidFill>
                  <a:srgbClr val="FFFFFF"/>
                </a:solidFill>
              </a:rPr>
              <a:t>Augmentation</a:t>
            </a:r>
          </a:p>
        </p:txBody>
      </p:sp>
      <p:sp>
        <p:nvSpPr>
          <p:cNvPr id="39" name="Rectangle 38"/>
          <p:cNvSpPr/>
          <p:nvPr/>
        </p:nvSpPr>
        <p:spPr>
          <a:xfrm>
            <a:off x="3200400" y="3182112"/>
            <a:ext cx="2834640" cy="88696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91840" y="3236976"/>
            <a:ext cx="2697480" cy="256032"/>
          </a:xfrm>
          <a:prstGeom prst="rect">
            <a:avLst/>
          </a:prstGeom>
          <a:noFill/>
        </p:spPr>
        <p:txBody>
          <a:bodyPr wrap="square">
            <a:spAutoFit/>
          </a:bodyPr>
          <a:lstStyle/>
          <a:p>
            <a:pPr algn="l"/>
            <a:r>
              <a:rPr sz="1000" b="0" i="0">
                <a:solidFill>
                  <a:srgbClr val="333333"/>
                </a:solidFill>
              </a:rPr>
              <a:t>• Albumentations</a:t>
            </a:r>
          </a:p>
        </p:txBody>
      </p:sp>
      <p:sp>
        <p:nvSpPr>
          <p:cNvPr id="41" name="TextBox 40"/>
          <p:cNvSpPr txBox="1"/>
          <p:nvPr/>
        </p:nvSpPr>
        <p:spPr>
          <a:xfrm>
            <a:off x="3291840" y="3502152"/>
            <a:ext cx="2697480" cy="256032"/>
          </a:xfrm>
          <a:prstGeom prst="rect">
            <a:avLst/>
          </a:prstGeom>
          <a:noFill/>
        </p:spPr>
        <p:txBody>
          <a:bodyPr wrap="square">
            <a:spAutoFit/>
          </a:bodyPr>
          <a:lstStyle/>
          <a:p>
            <a:pPr algn="l"/>
            <a:r>
              <a:rPr sz="1000" b="0" i="0">
                <a:solidFill>
                  <a:srgbClr val="333333"/>
                </a:solidFill>
              </a:rPr>
              <a:t>• CLAHE contrast</a:t>
            </a:r>
          </a:p>
        </p:txBody>
      </p:sp>
      <p:sp>
        <p:nvSpPr>
          <p:cNvPr id="42" name="TextBox 41"/>
          <p:cNvSpPr txBox="1"/>
          <p:nvPr/>
        </p:nvSpPr>
        <p:spPr>
          <a:xfrm>
            <a:off x="3291840" y="3767328"/>
            <a:ext cx="2697480" cy="256032"/>
          </a:xfrm>
          <a:prstGeom prst="rect">
            <a:avLst/>
          </a:prstGeom>
          <a:noFill/>
        </p:spPr>
        <p:txBody>
          <a:bodyPr wrap="square">
            <a:spAutoFit/>
          </a:bodyPr>
          <a:lstStyle/>
          <a:p>
            <a:pPr algn="l"/>
            <a:r>
              <a:rPr sz="1000" b="0" i="0">
                <a:solidFill>
                  <a:srgbClr val="333333"/>
                </a:solidFill>
              </a:rPr>
              <a:t>• 5× dataset multiplier</a:t>
            </a:r>
          </a:p>
        </p:txBody>
      </p:sp>
      <p:sp>
        <p:nvSpPr>
          <p:cNvPr id="43" name="Rectangle 42"/>
          <p:cNvSpPr/>
          <p:nvPr/>
        </p:nvSpPr>
        <p:spPr>
          <a:xfrm>
            <a:off x="6126480" y="2834640"/>
            <a:ext cx="2834640" cy="347472"/>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0" y="2880360"/>
            <a:ext cx="2697480" cy="274320"/>
          </a:xfrm>
          <a:prstGeom prst="rect">
            <a:avLst/>
          </a:prstGeom>
          <a:noFill/>
        </p:spPr>
        <p:txBody>
          <a:bodyPr wrap="square">
            <a:spAutoFit/>
          </a:bodyPr>
          <a:lstStyle/>
          <a:p>
            <a:pPr algn="l"/>
            <a:r>
              <a:rPr sz="1000" b="1" i="0">
                <a:solidFill>
                  <a:srgbClr val="FFFFFF"/>
                </a:solidFill>
              </a:rPr>
              <a:t>Experiment Tracking</a:t>
            </a:r>
          </a:p>
        </p:txBody>
      </p:sp>
      <p:sp>
        <p:nvSpPr>
          <p:cNvPr id="45" name="Rectangle 44"/>
          <p:cNvSpPr/>
          <p:nvPr/>
        </p:nvSpPr>
        <p:spPr>
          <a:xfrm>
            <a:off x="6126480" y="3182112"/>
            <a:ext cx="2834640" cy="88696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17920" y="3236976"/>
            <a:ext cx="2697480" cy="256032"/>
          </a:xfrm>
          <a:prstGeom prst="rect">
            <a:avLst/>
          </a:prstGeom>
          <a:noFill/>
        </p:spPr>
        <p:txBody>
          <a:bodyPr wrap="square">
            <a:spAutoFit/>
          </a:bodyPr>
          <a:lstStyle/>
          <a:p>
            <a:pPr algn="l"/>
            <a:r>
              <a:rPr sz="1000" b="0" i="0">
                <a:solidFill>
                  <a:srgbClr val="333333"/>
                </a:solidFill>
              </a:rPr>
              <a:t>• MLflow</a:t>
            </a:r>
          </a:p>
        </p:txBody>
      </p:sp>
      <p:sp>
        <p:nvSpPr>
          <p:cNvPr id="47" name="TextBox 46"/>
          <p:cNvSpPr txBox="1"/>
          <p:nvPr/>
        </p:nvSpPr>
        <p:spPr>
          <a:xfrm>
            <a:off x="6217920" y="3502152"/>
            <a:ext cx="2697480" cy="256032"/>
          </a:xfrm>
          <a:prstGeom prst="rect">
            <a:avLst/>
          </a:prstGeom>
          <a:noFill/>
        </p:spPr>
        <p:txBody>
          <a:bodyPr wrap="square">
            <a:spAutoFit/>
          </a:bodyPr>
          <a:lstStyle/>
          <a:p>
            <a:pPr algn="l"/>
            <a:r>
              <a:rPr sz="1000" b="0" i="0">
                <a:solidFill>
                  <a:srgbClr val="333333"/>
                </a:solidFill>
              </a:rPr>
              <a:t>• Model checkpointing</a:t>
            </a:r>
          </a:p>
        </p:txBody>
      </p:sp>
      <p:sp>
        <p:nvSpPr>
          <p:cNvPr id="48" name="TextBox 47"/>
          <p:cNvSpPr txBox="1"/>
          <p:nvPr/>
        </p:nvSpPr>
        <p:spPr>
          <a:xfrm>
            <a:off x="6217920" y="3767328"/>
            <a:ext cx="2697480" cy="256032"/>
          </a:xfrm>
          <a:prstGeom prst="rect">
            <a:avLst/>
          </a:prstGeom>
          <a:noFill/>
        </p:spPr>
        <p:txBody>
          <a:bodyPr wrap="square">
            <a:spAutoFit/>
          </a:bodyPr>
          <a:lstStyle/>
          <a:p>
            <a:pPr algn="l"/>
            <a:r>
              <a:rPr sz="1000" b="0" i="0">
                <a:solidFill>
                  <a:srgbClr val="333333"/>
                </a:solidFill>
              </a:rPr>
              <a:t>• Hyperparameter logging</a:t>
            </a:r>
          </a:p>
        </p:txBody>
      </p:sp>
      <p:sp>
        <p:nvSpPr>
          <p:cNvPr id="49" name="Rectangle 48"/>
          <p:cNvSpPr/>
          <p:nvPr/>
        </p:nvSpPr>
        <p:spPr>
          <a:xfrm>
            <a:off x="9052560" y="2834640"/>
            <a:ext cx="2834640"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0" y="2880360"/>
            <a:ext cx="2697480" cy="274320"/>
          </a:xfrm>
          <a:prstGeom prst="rect">
            <a:avLst/>
          </a:prstGeom>
          <a:noFill/>
        </p:spPr>
        <p:txBody>
          <a:bodyPr wrap="square">
            <a:spAutoFit/>
          </a:bodyPr>
          <a:lstStyle/>
          <a:p>
            <a:pPr algn="l"/>
            <a:r>
              <a:rPr sz="1000" b="1" i="0">
                <a:solidFill>
                  <a:srgbClr val="FFFFFF"/>
                </a:solidFill>
              </a:rPr>
              <a:t>Language / Infrastructure</a:t>
            </a:r>
          </a:p>
        </p:txBody>
      </p:sp>
      <p:sp>
        <p:nvSpPr>
          <p:cNvPr id="51" name="Rectangle 50"/>
          <p:cNvSpPr/>
          <p:nvPr/>
        </p:nvSpPr>
        <p:spPr>
          <a:xfrm>
            <a:off x="9052560" y="3182112"/>
            <a:ext cx="2834640" cy="886968"/>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0" y="3236976"/>
            <a:ext cx="2697480" cy="256032"/>
          </a:xfrm>
          <a:prstGeom prst="rect">
            <a:avLst/>
          </a:prstGeom>
          <a:noFill/>
        </p:spPr>
        <p:txBody>
          <a:bodyPr wrap="square">
            <a:spAutoFit/>
          </a:bodyPr>
          <a:lstStyle/>
          <a:p>
            <a:pPr algn="l"/>
            <a:r>
              <a:rPr sz="1000" b="0" i="0">
                <a:solidFill>
                  <a:srgbClr val="333333"/>
                </a:solidFill>
              </a:rPr>
              <a:t>• Python 3.10+</a:t>
            </a:r>
          </a:p>
        </p:txBody>
      </p:sp>
      <p:sp>
        <p:nvSpPr>
          <p:cNvPr id="53" name="TextBox 52"/>
          <p:cNvSpPr txBox="1"/>
          <p:nvPr/>
        </p:nvSpPr>
        <p:spPr>
          <a:xfrm>
            <a:off x="9144000" y="3502152"/>
            <a:ext cx="2697480" cy="256032"/>
          </a:xfrm>
          <a:prstGeom prst="rect">
            <a:avLst/>
          </a:prstGeom>
          <a:noFill/>
        </p:spPr>
        <p:txBody>
          <a:bodyPr wrap="square">
            <a:spAutoFit/>
          </a:bodyPr>
          <a:lstStyle/>
          <a:p>
            <a:pPr algn="l"/>
            <a:r>
              <a:rPr sz="1000" b="0" i="0">
                <a:solidFill>
                  <a:srgbClr val="333333"/>
                </a:solidFill>
              </a:rPr>
              <a:t>• Jupyter Notebooks</a:t>
            </a:r>
          </a:p>
        </p:txBody>
      </p:sp>
      <p:sp>
        <p:nvSpPr>
          <p:cNvPr id="54" name="TextBox 53"/>
          <p:cNvSpPr txBox="1"/>
          <p:nvPr/>
        </p:nvSpPr>
        <p:spPr>
          <a:xfrm>
            <a:off x="9144000" y="3767328"/>
            <a:ext cx="2697480" cy="256032"/>
          </a:xfrm>
          <a:prstGeom prst="rect">
            <a:avLst/>
          </a:prstGeom>
          <a:noFill/>
        </p:spPr>
        <p:txBody>
          <a:bodyPr wrap="square">
            <a:spAutoFit/>
          </a:bodyPr>
          <a:lstStyle/>
          <a:p>
            <a:pPr algn="l"/>
            <a:r>
              <a:rPr sz="1000" b="0" i="0">
                <a:solidFill>
                  <a:srgbClr val="333333"/>
                </a:solidFill>
              </a:rPr>
              <a:t>• Git / GitHub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972800" cy="685800"/>
          </a:xfrm>
          <a:prstGeom prst="rect">
            <a:avLst/>
          </a:prstGeom>
          <a:noFill/>
        </p:spPr>
        <p:txBody>
          <a:bodyPr wrap="square">
            <a:spAutoFit/>
          </a:bodyPr>
          <a:lstStyle/>
          <a:p>
            <a:pPr algn="l"/>
            <a:r>
              <a:rPr sz="2800" b="1" i="0">
                <a:solidFill>
                  <a:srgbClr val="FFFFFF"/>
                </a:solidFill>
              </a:rPr>
              <a:t>Data Requirements</a:t>
            </a:r>
          </a:p>
        </p:txBody>
      </p:sp>
      <p:sp>
        <p:nvSpPr>
          <p:cNvPr id="5" name="TextBox 4"/>
          <p:cNvSpPr txBox="1"/>
          <p:nvPr/>
        </p:nvSpPr>
        <p:spPr>
          <a:xfrm>
            <a:off x="365760" y="749808"/>
            <a:ext cx="10972800" cy="411480"/>
          </a:xfrm>
          <a:prstGeom prst="rect">
            <a:avLst/>
          </a:prstGeom>
          <a:noFill/>
        </p:spPr>
        <p:txBody>
          <a:bodyPr wrap="square">
            <a:spAutoFit/>
          </a:bodyPr>
          <a:lstStyle/>
          <a:p>
            <a:pPr algn="l"/>
            <a:r>
              <a:rPr sz="1400" b="0" i="0">
                <a:solidFill>
                  <a:srgbClr val="FFC107"/>
                </a:solidFill>
              </a:rPr>
              <a:t>What we need from Anamitra &amp; the Forest Department</a:t>
            </a:r>
          </a:p>
        </p:txBody>
      </p:sp>
      <p:sp>
        <p:nvSpPr>
          <p:cNvPr id="6" name="Rectangle 5"/>
          <p:cNvSpPr/>
          <p:nvPr/>
        </p:nvSpPr>
        <p:spPr>
          <a:xfrm>
            <a:off x="0" y="6492240"/>
            <a:ext cx="12188952" cy="3657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11612880" cy="274320"/>
          </a:xfrm>
          <a:prstGeom prst="rect">
            <a:avLst/>
          </a:prstGeom>
          <a:noFill/>
        </p:spPr>
        <p:txBody>
          <a:bodyPr wrap="square">
            <a:spAutoFit/>
          </a:bodyPr>
          <a:lstStyle/>
          <a:p>
            <a:pPr algn="ctr"/>
            <a:r>
              <a:rPr sz="900" b="0" i="0">
                <a:solidFill>
                  <a:srgbClr val="FFFFFF"/>
                </a:solidFill>
              </a:rPr>
              <a:t>EPAIB Batch 05 | Group 4 | IIM Lucknow | Sundarban Tiger Enumeration</a:t>
            </a:r>
          </a:p>
        </p:txBody>
      </p:sp>
      <p:sp>
        <p:nvSpPr>
          <p:cNvPr id="8" name="Rectangle 7"/>
          <p:cNvSpPr/>
          <p:nvPr/>
        </p:nvSpPr>
        <p:spPr>
          <a:xfrm>
            <a:off x="274320" y="1417320"/>
            <a:ext cx="557784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63040"/>
            <a:ext cx="5303520" cy="320040"/>
          </a:xfrm>
          <a:prstGeom prst="rect">
            <a:avLst/>
          </a:prstGeom>
          <a:noFill/>
        </p:spPr>
        <p:txBody>
          <a:bodyPr wrap="square">
            <a:spAutoFit/>
          </a:bodyPr>
          <a:lstStyle/>
          <a:p>
            <a:pPr algn="l"/>
            <a:r>
              <a:rPr sz="1300" b="1" i="0">
                <a:solidFill>
                  <a:srgbClr val="FFFFFF"/>
                </a:solidFill>
              </a:rPr>
              <a:t>✅  What we HAVE</a:t>
            </a:r>
          </a:p>
        </p:txBody>
      </p:sp>
      <p:sp>
        <p:nvSpPr>
          <p:cNvPr id="10" name="TextBox 9"/>
          <p:cNvSpPr txBox="1"/>
          <p:nvPr/>
        </p:nvSpPr>
        <p:spPr>
          <a:xfrm>
            <a:off x="457200" y="1920240"/>
            <a:ext cx="5394960" cy="320040"/>
          </a:xfrm>
          <a:prstGeom prst="rect">
            <a:avLst/>
          </a:prstGeom>
          <a:noFill/>
        </p:spPr>
        <p:txBody>
          <a:bodyPr wrap="square">
            <a:spAutoFit/>
          </a:bodyPr>
          <a:lstStyle/>
          <a:p>
            <a:pPr algn="l"/>
            <a:r>
              <a:rPr sz="1100" b="0" i="0">
                <a:solidFill>
                  <a:srgbClr val="333333"/>
                </a:solidFill>
              </a:rPr>
              <a:t>▸  Official request letter from Dr. Sowmya S to Directorate of Forests, Kolkata</a:t>
            </a:r>
          </a:p>
        </p:txBody>
      </p:sp>
      <p:sp>
        <p:nvSpPr>
          <p:cNvPr id="11" name="TextBox 10"/>
          <p:cNvSpPr txBox="1"/>
          <p:nvPr/>
        </p:nvSpPr>
        <p:spPr>
          <a:xfrm>
            <a:off x="457200" y="2258568"/>
            <a:ext cx="5394960" cy="320040"/>
          </a:xfrm>
          <a:prstGeom prst="rect">
            <a:avLst/>
          </a:prstGeom>
          <a:noFill/>
        </p:spPr>
        <p:txBody>
          <a:bodyPr wrap="square">
            <a:spAutoFit/>
          </a:bodyPr>
          <a:lstStyle/>
          <a:p>
            <a:pPr algn="l"/>
            <a:r>
              <a:rPr sz="1100" b="0" i="0">
                <a:solidFill>
                  <a:srgbClr val="333333"/>
                </a:solidFill>
              </a:rPr>
              <a:t>▸  Government partnership via Anamitra Lahiri (Wildlife Dept, Govt of West Bengal)</a:t>
            </a:r>
          </a:p>
        </p:txBody>
      </p:sp>
      <p:sp>
        <p:nvSpPr>
          <p:cNvPr id="12" name="TextBox 11"/>
          <p:cNvSpPr txBox="1"/>
          <p:nvPr/>
        </p:nvSpPr>
        <p:spPr>
          <a:xfrm>
            <a:off x="457200" y="2596896"/>
            <a:ext cx="5394960" cy="320040"/>
          </a:xfrm>
          <a:prstGeom prst="rect">
            <a:avLst/>
          </a:prstGeom>
          <a:noFill/>
        </p:spPr>
        <p:txBody>
          <a:bodyPr wrap="square">
            <a:spAutoFit/>
          </a:bodyPr>
          <a:lstStyle/>
          <a:p>
            <a:pPr algn="l"/>
            <a:r>
              <a:rPr sz="1100" b="0" i="0">
                <a:solidFill>
                  <a:srgbClr val="333333"/>
                </a:solidFill>
              </a:rPr>
              <a:t>▸  ~1 TB historical camera trap images (access pending)</a:t>
            </a:r>
          </a:p>
        </p:txBody>
      </p:sp>
      <p:sp>
        <p:nvSpPr>
          <p:cNvPr id="13" name="TextBox 12"/>
          <p:cNvSpPr txBox="1"/>
          <p:nvPr/>
        </p:nvSpPr>
        <p:spPr>
          <a:xfrm>
            <a:off x="457200" y="2935224"/>
            <a:ext cx="5394960" cy="320040"/>
          </a:xfrm>
          <a:prstGeom prst="rect">
            <a:avLst/>
          </a:prstGeom>
          <a:noFill/>
        </p:spPr>
        <p:txBody>
          <a:bodyPr wrap="square">
            <a:spAutoFit/>
          </a:bodyPr>
          <a:lstStyle/>
          <a:p>
            <a:pPr algn="l"/>
            <a:r>
              <a:rPr sz="1100" b="0" i="0">
                <a:solidFill>
                  <a:srgbClr val="333333"/>
                </a:solidFill>
              </a:rPr>
              <a:t>▸  No data masking / anonymisation constraints</a:t>
            </a:r>
          </a:p>
        </p:txBody>
      </p:sp>
      <p:sp>
        <p:nvSpPr>
          <p:cNvPr id="14" name="TextBox 13"/>
          <p:cNvSpPr txBox="1"/>
          <p:nvPr/>
        </p:nvSpPr>
        <p:spPr>
          <a:xfrm>
            <a:off x="457200" y="3273552"/>
            <a:ext cx="5394960" cy="320040"/>
          </a:xfrm>
          <a:prstGeom prst="rect">
            <a:avLst/>
          </a:prstGeom>
          <a:noFill/>
        </p:spPr>
        <p:txBody>
          <a:bodyPr wrap="square">
            <a:spAutoFit/>
          </a:bodyPr>
          <a:lstStyle/>
          <a:p>
            <a:pPr algn="l"/>
            <a:r>
              <a:rPr sz="1100" b="0" i="0">
                <a:solidFill>
                  <a:srgbClr val="333333"/>
                </a:solidFill>
              </a:rPr>
              <a:t>▸  Full project codebase — model, preprocessing, training scripts ready</a:t>
            </a:r>
          </a:p>
        </p:txBody>
      </p:sp>
      <p:sp>
        <p:nvSpPr>
          <p:cNvPr id="15" name="Rectangle 14"/>
          <p:cNvSpPr/>
          <p:nvPr/>
        </p:nvSpPr>
        <p:spPr>
          <a:xfrm>
            <a:off x="6309360" y="1417320"/>
            <a:ext cx="5577840" cy="41148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463040"/>
            <a:ext cx="5303520" cy="320040"/>
          </a:xfrm>
          <a:prstGeom prst="rect">
            <a:avLst/>
          </a:prstGeom>
          <a:noFill/>
        </p:spPr>
        <p:txBody>
          <a:bodyPr wrap="square">
            <a:spAutoFit/>
          </a:bodyPr>
          <a:lstStyle/>
          <a:p>
            <a:pPr algn="l"/>
            <a:r>
              <a:rPr sz="1300" b="1" i="0">
                <a:solidFill>
                  <a:srgbClr val="FFFFFF"/>
                </a:solidFill>
              </a:rPr>
              <a:t>📋  What we NEED from Forest Dept</a:t>
            </a:r>
          </a:p>
        </p:txBody>
      </p:sp>
      <p:sp>
        <p:nvSpPr>
          <p:cNvPr id="17" name="Rectangle 16"/>
          <p:cNvSpPr/>
          <p:nvPr/>
        </p:nvSpPr>
        <p:spPr>
          <a:xfrm>
            <a:off x="6309360" y="1920240"/>
            <a:ext cx="1463040" cy="301752"/>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956816"/>
            <a:ext cx="1371600" cy="256032"/>
          </a:xfrm>
          <a:prstGeom prst="rect">
            <a:avLst/>
          </a:prstGeom>
          <a:noFill/>
        </p:spPr>
        <p:txBody>
          <a:bodyPr wrap="square">
            <a:spAutoFit/>
          </a:bodyPr>
          <a:lstStyle/>
          <a:p>
            <a:pPr algn="l"/>
            <a:r>
              <a:rPr sz="1000" b="1" i="0">
                <a:solidFill>
                  <a:srgbClr val="FFFFFF"/>
                </a:solidFill>
              </a:rPr>
              <a:t>Images</a:t>
            </a:r>
          </a:p>
        </p:txBody>
      </p:sp>
      <p:sp>
        <p:nvSpPr>
          <p:cNvPr id="19" name="TextBox 18"/>
          <p:cNvSpPr txBox="1"/>
          <p:nvPr/>
        </p:nvSpPr>
        <p:spPr>
          <a:xfrm>
            <a:off x="7863840" y="1956816"/>
            <a:ext cx="3931920" cy="320040"/>
          </a:xfrm>
          <a:prstGeom prst="rect">
            <a:avLst/>
          </a:prstGeom>
          <a:noFill/>
        </p:spPr>
        <p:txBody>
          <a:bodyPr wrap="square">
            <a:spAutoFit/>
          </a:bodyPr>
          <a:lstStyle/>
          <a:p>
            <a:pPr algn="l"/>
            <a:r>
              <a:rPr sz="1000" b="0" i="0">
                <a:solidFill>
                  <a:srgbClr val="333333"/>
                </a:solidFill>
              </a:rPr>
              <a:t>50–100 photos per known tiger for ID model training</a:t>
            </a:r>
          </a:p>
        </p:txBody>
      </p:sp>
      <p:sp>
        <p:nvSpPr>
          <p:cNvPr id="20" name="Rectangle 19"/>
          <p:cNvSpPr/>
          <p:nvPr/>
        </p:nvSpPr>
        <p:spPr>
          <a:xfrm>
            <a:off x="6309360" y="2295144"/>
            <a:ext cx="1463040" cy="301752"/>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2331720"/>
            <a:ext cx="1371600" cy="256032"/>
          </a:xfrm>
          <a:prstGeom prst="rect">
            <a:avLst/>
          </a:prstGeom>
          <a:noFill/>
        </p:spPr>
        <p:txBody>
          <a:bodyPr wrap="square">
            <a:spAutoFit/>
          </a:bodyPr>
          <a:lstStyle/>
          <a:p>
            <a:pPr algn="l"/>
            <a:r>
              <a:rPr sz="1000" b="1" i="0">
                <a:solidFill>
                  <a:srgbClr val="FFFFFF"/>
                </a:solidFill>
              </a:rPr>
              <a:t>GPS data</a:t>
            </a:r>
          </a:p>
        </p:txBody>
      </p:sp>
      <p:sp>
        <p:nvSpPr>
          <p:cNvPr id="22" name="TextBox 21"/>
          <p:cNvSpPr txBox="1"/>
          <p:nvPr/>
        </p:nvSpPr>
        <p:spPr>
          <a:xfrm>
            <a:off x="7863840" y="2331720"/>
            <a:ext cx="3931920" cy="320040"/>
          </a:xfrm>
          <a:prstGeom prst="rect">
            <a:avLst/>
          </a:prstGeom>
          <a:noFill/>
        </p:spPr>
        <p:txBody>
          <a:bodyPr wrap="square">
            <a:spAutoFit/>
          </a:bodyPr>
          <a:lstStyle/>
          <a:p>
            <a:pPr algn="l"/>
            <a:r>
              <a:rPr sz="1000" b="0" i="0">
                <a:solidFill>
                  <a:srgbClr val="333333"/>
                </a:solidFill>
              </a:rPr>
              <a:t>EXIF coordinates in photos OR separate CSV with trap locations</a:t>
            </a:r>
          </a:p>
        </p:txBody>
      </p:sp>
      <p:sp>
        <p:nvSpPr>
          <p:cNvPr id="23" name="Rectangle 22"/>
          <p:cNvSpPr/>
          <p:nvPr/>
        </p:nvSpPr>
        <p:spPr>
          <a:xfrm>
            <a:off x="6309360" y="2670048"/>
            <a:ext cx="1463040" cy="301752"/>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2706624"/>
            <a:ext cx="1371600" cy="256032"/>
          </a:xfrm>
          <a:prstGeom prst="rect">
            <a:avLst/>
          </a:prstGeom>
          <a:noFill/>
        </p:spPr>
        <p:txBody>
          <a:bodyPr wrap="square">
            <a:spAutoFit/>
          </a:bodyPr>
          <a:lstStyle/>
          <a:p>
            <a:pPr algn="l"/>
            <a:r>
              <a:rPr sz="1000" b="1" i="0">
                <a:solidFill>
                  <a:srgbClr val="FFFFFF"/>
                </a:solidFill>
              </a:rPr>
              <a:t>Camera register</a:t>
            </a:r>
          </a:p>
        </p:txBody>
      </p:sp>
      <p:sp>
        <p:nvSpPr>
          <p:cNvPr id="25" name="TextBox 24"/>
          <p:cNvSpPr txBox="1"/>
          <p:nvPr/>
        </p:nvSpPr>
        <p:spPr>
          <a:xfrm>
            <a:off x="7863840" y="2706624"/>
            <a:ext cx="3931920" cy="320040"/>
          </a:xfrm>
          <a:prstGeom prst="rect">
            <a:avLst/>
          </a:prstGeom>
          <a:noFill/>
        </p:spPr>
        <p:txBody>
          <a:bodyPr wrap="square">
            <a:spAutoFit/>
          </a:bodyPr>
          <a:lstStyle/>
          <a:p>
            <a:pPr algn="l"/>
            <a:r>
              <a:rPr sz="1000" b="0" i="0">
                <a:solidFill>
                  <a:srgbClr val="333333"/>
                </a:solidFill>
              </a:rPr>
              <a:t>Trap ID → GPS → sector name mapping file</a:t>
            </a:r>
          </a:p>
        </p:txBody>
      </p:sp>
      <p:sp>
        <p:nvSpPr>
          <p:cNvPr id="26" name="Rectangle 25"/>
          <p:cNvSpPr/>
          <p:nvPr/>
        </p:nvSpPr>
        <p:spPr>
          <a:xfrm>
            <a:off x="6309360" y="3044952"/>
            <a:ext cx="1463040" cy="301752"/>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3081528"/>
            <a:ext cx="1371600" cy="256032"/>
          </a:xfrm>
          <a:prstGeom prst="rect">
            <a:avLst/>
          </a:prstGeom>
          <a:noFill/>
        </p:spPr>
        <p:txBody>
          <a:bodyPr wrap="square">
            <a:spAutoFit/>
          </a:bodyPr>
          <a:lstStyle/>
          <a:p>
            <a:pPr algn="l"/>
            <a:r>
              <a:rPr sz="1000" b="1" i="0">
                <a:solidFill>
                  <a:srgbClr val="FFFFFF"/>
                </a:solidFill>
              </a:rPr>
              <a:t>Tiger registry</a:t>
            </a:r>
          </a:p>
        </p:txBody>
      </p:sp>
      <p:sp>
        <p:nvSpPr>
          <p:cNvPr id="28" name="TextBox 27"/>
          <p:cNvSpPr txBox="1"/>
          <p:nvPr/>
        </p:nvSpPr>
        <p:spPr>
          <a:xfrm>
            <a:off x="7863840" y="3081528"/>
            <a:ext cx="3931920" cy="320040"/>
          </a:xfrm>
          <a:prstGeom prst="rect">
            <a:avLst/>
          </a:prstGeom>
          <a:noFill/>
        </p:spPr>
        <p:txBody>
          <a:bodyPr wrap="square">
            <a:spAutoFit/>
          </a:bodyPr>
          <a:lstStyle/>
          <a:p>
            <a:pPr algn="l"/>
            <a:r>
              <a:rPr sz="1000" b="0" i="0">
                <a:solidFill>
                  <a:srgbClr val="333333"/>
                </a:solidFill>
              </a:rPr>
              <a:t>Existing named tigers (T-17, T-23 etc.) with reference photos</a:t>
            </a:r>
          </a:p>
        </p:txBody>
      </p:sp>
      <p:sp>
        <p:nvSpPr>
          <p:cNvPr id="29" name="Rectangle 28"/>
          <p:cNvSpPr/>
          <p:nvPr/>
        </p:nvSpPr>
        <p:spPr>
          <a:xfrm>
            <a:off x="6309360" y="3419856"/>
            <a:ext cx="1463040" cy="301752"/>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3456432"/>
            <a:ext cx="1371600" cy="256032"/>
          </a:xfrm>
          <a:prstGeom prst="rect">
            <a:avLst/>
          </a:prstGeom>
          <a:noFill/>
        </p:spPr>
        <p:txBody>
          <a:bodyPr wrap="square">
            <a:spAutoFit/>
          </a:bodyPr>
          <a:lstStyle/>
          <a:p>
            <a:pPr algn="l"/>
            <a:r>
              <a:rPr sz="1000" b="1" i="0">
                <a:solidFill>
                  <a:srgbClr val="FFFFFF"/>
                </a:solidFill>
              </a:rPr>
              <a:t>Timestamps</a:t>
            </a:r>
          </a:p>
        </p:txBody>
      </p:sp>
      <p:sp>
        <p:nvSpPr>
          <p:cNvPr id="31" name="TextBox 30"/>
          <p:cNvSpPr txBox="1"/>
          <p:nvPr/>
        </p:nvSpPr>
        <p:spPr>
          <a:xfrm>
            <a:off x="7863840" y="3456432"/>
            <a:ext cx="3931920" cy="320040"/>
          </a:xfrm>
          <a:prstGeom prst="rect">
            <a:avLst/>
          </a:prstGeom>
          <a:noFill/>
        </p:spPr>
        <p:txBody>
          <a:bodyPr wrap="square">
            <a:spAutoFit/>
          </a:bodyPr>
          <a:lstStyle/>
          <a:p>
            <a:pPr algn="l"/>
            <a:r>
              <a:rPr sz="1000" b="0" i="0">
                <a:solidFill>
                  <a:srgbClr val="333333"/>
                </a:solidFill>
              </a:rPr>
              <a:t>Date + time embedded in each image (usually automatic)</a:t>
            </a:r>
          </a:p>
        </p:txBody>
      </p:sp>
      <p:sp>
        <p:nvSpPr>
          <p:cNvPr id="32" name="Rectangle 31"/>
          <p:cNvSpPr/>
          <p:nvPr/>
        </p:nvSpPr>
        <p:spPr>
          <a:xfrm>
            <a:off x="6309360" y="3794760"/>
            <a:ext cx="1463040" cy="301752"/>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831336"/>
            <a:ext cx="1371600" cy="256032"/>
          </a:xfrm>
          <a:prstGeom prst="rect">
            <a:avLst/>
          </a:prstGeom>
          <a:noFill/>
        </p:spPr>
        <p:txBody>
          <a:bodyPr wrap="square">
            <a:spAutoFit/>
          </a:bodyPr>
          <a:lstStyle/>
          <a:p>
            <a:pPr algn="l"/>
            <a:r>
              <a:rPr sz="1000" b="1" i="0">
                <a:solidFill>
                  <a:srgbClr val="FFFFFF"/>
                </a:solidFill>
              </a:rPr>
              <a:t>Survey data</a:t>
            </a:r>
          </a:p>
        </p:txBody>
      </p:sp>
      <p:sp>
        <p:nvSpPr>
          <p:cNvPr id="34" name="TextBox 33"/>
          <p:cNvSpPr txBox="1"/>
          <p:nvPr/>
        </p:nvSpPr>
        <p:spPr>
          <a:xfrm>
            <a:off x="7863840" y="3831336"/>
            <a:ext cx="3931920" cy="320040"/>
          </a:xfrm>
          <a:prstGeom prst="rect">
            <a:avLst/>
          </a:prstGeom>
          <a:noFill/>
        </p:spPr>
        <p:txBody>
          <a:bodyPr wrap="square">
            <a:spAutoFit/>
          </a:bodyPr>
          <a:lstStyle/>
          <a:p>
            <a:pPr algn="l"/>
            <a:r>
              <a:rPr sz="1000" b="0" i="0">
                <a:solidFill>
                  <a:srgbClr val="333333"/>
                </a:solidFill>
              </a:rPr>
              <a:t>Any existing population count to validate our model output</a:t>
            </a:r>
          </a:p>
        </p:txBody>
      </p:sp>
      <p:sp>
        <p:nvSpPr>
          <p:cNvPr id="35" name="Rectangle 34"/>
          <p:cNvSpPr/>
          <p:nvPr/>
        </p:nvSpPr>
        <p:spPr>
          <a:xfrm>
            <a:off x="274320" y="5897880"/>
            <a:ext cx="11612880" cy="5943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5961888"/>
            <a:ext cx="11247120" cy="438912"/>
          </a:xfrm>
          <a:prstGeom prst="rect">
            <a:avLst/>
          </a:prstGeom>
          <a:noFill/>
        </p:spPr>
        <p:txBody>
          <a:bodyPr wrap="square">
            <a:spAutoFit/>
          </a:bodyPr>
          <a:lstStyle/>
          <a:p>
            <a:pPr algn="ctr"/>
            <a:r>
              <a:rPr sz="1200" b="1" i="0">
                <a:solidFill>
                  <a:srgbClr val="FFFFFF"/>
                </a:solidFill>
              </a:rPr>
              <a:t>📌  Even a sample of 20–30 images is enough to start.  Share whatever format Anamitra receives — we will adapt the pipeline to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0972800" cy="685800"/>
          </a:xfrm>
          <a:prstGeom prst="rect">
            <a:avLst/>
          </a:prstGeom>
          <a:noFill/>
        </p:spPr>
        <p:txBody>
          <a:bodyPr wrap="square">
            <a:spAutoFit/>
          </a:bodyPr>
          <a:lstStyle/>
          <a:p>
            <a:pPr algn="l"/>
            <a:r>
              <a:rPr sz="2800" b="1" i="0">
                <a:solidFill>
                  <a:srgbClr val="FFFFFF"/>
                </a:solidFill>
              </a:rPr>
              <a:t>20-Day Delivery Plan</a:t>
            </a:r>
          </a:p>
        </p:txBody>
      </p:sp>
      <p:sp>
        <p:nvSpPr>
          <p:cNvPr id="5" name="TextBox 4"/>
          <p:cNvSpPr txBox="1"/>
          <p:nvPr/>
        </p:nvSpPr>
        <p:spPr>
          <a:xfrm>
            <a:off x="365760" y="749808"/>
            <a:ext cx="10972800" cy="411480"/>
          </a:xfrm>
          <a:prstGeom prst="rect">
            <a:avLst/>
          </a:prstGeom>
          <a:noFill/>
        </p:spPr>
        <p:txBody>
          <a:bodyPr wrap="square">
            <a:spAutoFit/>
          </a:bodyPr>
          <a:lstStyle/>
          <a:p>
            <a:pPr algn="l"/>
            <a:r>
              <a:rPr sz="1400" b="0" i="0">
                <a:solidFill>
                  <a:srgbClr val="FFC107"/>
                </a:solidFill>
              </a:rPr>
              <a:t>May 23 → June 10, 2026  |  Submission date: June 10</a:t>
            </a:r>
          </a:p>
        </p:txBody>
      </p:sp>
      <p:sp>
        <p:nvSpPr>
          <p:cNvPr id="6" name="Rectangle 5"/>
          <p:cNvSpPr/>
          <p:nvPr/>
        </p:nvSpPr>
        <p:spPr>
          <a:xfrm>
            <a:off x="0" y="6492240"/>
            <a:ext cx="12188952" cy="3657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9672"/>
            <a:ext cx="11612880" cy="274320"/>
          </a:xfrm>
          <a:prstGeom prst="rect">
            <a:avLst/>
          </a:prstGeom>
          <a:noFill/>
        </p:spPr>
        <p:txBody>
          <a:bodyPr wrap="square">
            <a:spAutoFit/>
          </a:bodyPr>
          <a:lstStyle/>
          <a:p>
            <a:pPr algn="ctr"/>
            <a:r>
              <a:rPr sz="900" b="0" i="0">
                <a:solidFill>
                  <a:srgbClr val="FFFFFF"/>
                </a:solidFill>
              </a:rPr>
              <a:t>EPAIB Batch 05 | Group 4 | IIM Lucknow | Sundarban Tiger Enumeration</a:t>
            </a:r>
          </a:p>
        </p:txBody>
      </p:sp>
      <p:sp>
        <p:nvSpPr>
          <p:cNvPr id="8" name="Rectangle 7"/>
          <p:cNvSpPr/>
          <p:nvPr/>
        </p:nvSpPr>
        <p:spPr>
          <a:xfrm>
            <a:off x="274320" y="1417320"/>
            <a:ext cx="2194560" cy="82296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63040"/>
            <a:ext cx="2057400" cy="749808"/>
          </a:xfrm>
          <a:prstGeom prst="rect">
            <a:avLst/>
          </a:prstGeom>
          <a:noFill/>
        </p:spPr>
        <p:txBody>
          <a:bodyPr wrap="square">
            <a:spAutoFit/>
          </a:bodyPr>
          <a:lstStyle/>
          <a:p>
            <a:pPr algn="ctr"/>
            <a:r>
              <a:rPr sz="1100" b="1" i="0">
                <a:solidFill>
                  <a:srgbClr val="FFFFFF"/>
                </a:solidFill>
              </a:rPr>
              <a:t>Phase 0
May 23–25</a:t>
            </a:r>
          </a:p>
        </p:txBody>
      </p:sp>
      <p:sp>
        <p:nvSpPr>
          <p:cNvPr id="10" name="Rectangle 9"/>
          <p:cNvSpPr/>
          <p:nvPr/>
        </p:nvSpPr>
        <p:spPr>
          <a:xfrm>
            <a:off x="274320" y="2240280"/>
            <a:ext cx="2194560" cy="502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286000"/>
            <a:ext cx="2057400" cy="411480"/>
          </a:xfrm>
          <a:prstGeom prst="rect">
            <a:avLst/>
          </a:prstGeom>
          <a:noFill/>
        </p:spPr>
        <p:txBody>
          <a:bodyPr wrap="square">
            <a:spAutoFit/>
          </a:bodyPr>
          <a:lstStyle/>
          <a:p>
            <a:pPr algn="l"/>
            <a:r>
              <a:rPr sz="1000" b="1" i="0">
                <a:solidFill>
                  <a:srgbClr val="1A295A"/>
                </a:solidFill>
              </a:rPr>
              <a:t>Setup &amp; Prerequisites</a:t>
            </a:r>
          </a:p>
        </p:txBody>
      </p:sp>
      <p:sp>
        <p:nvSpPr>
          <p:cNvPr id="12" name="TextBox 11"/>
          <p:cNvSpPr txBox="1"/>
          <p:nvPr/>
        </p:nvSpPr>
        <p:spPr>
          <a:xfrm>
            <a:off x="365760" y="2816352"/>
            <a:ext cx="2057400" cy="365760"/>
          </a:xfrm>
          <a:prstGeom prst="rect">
            <a:avLst/>
          </a:prstGeom>
          <a:noFill/>
        </p:spPr>
        <p:txBody>
          <a:bodyPr wrap="square">
            <a:spAutoFit/>
          </a:bodyPr>
          <a:lstStyle/>
          <a:p>
            <a:pPr algn="l"/>
            <a:r>
              <a:rPr sz="900" b="0" i="0">
                <a:solidFill>
                  <a:srgbClr val="333333"/>
                </a:solidFill>
              </a:rPr>
              <a:t>▸ Environment setup — Python, TensorFlow, YOLOv8</a:t>
            </a:r>
          </a:p>
        </p:txBody>
      </p:sp>
      <p:sp>
        <p:nvSpPr>
          <p:cNvPr id="13" name="TextBox 12"/>
          <p:cNvSpPr txBox="1"/>
          <p:nvPr/>
        </p:nvSpPr>
        <p:spPr>
          <a:xfrm>
            <a:off x="365760" y="3200400"/>
            <a:ext cx="2057400" cy="365760"/>
          </a:xfrm>
          <a:prstGeom prst="rect">
            <a:avLst/>
          </a:prstGeom>
          <a:noFill/>
        </p:spPr>
        <p:txBody>
          <a:bodyPr wrap="square">
            <a:spAutoFit/>
          </a:bodyPr>
          <a:lstStyle/>
          <a:p>
            <a:pPr algn="l"/>
            <a:r>
              <a:rPr sz="900" b="0" i="0">
                <a:solidFill>
                  <a:srgbClr val="333333"/>
                </a:solidFill>
              </a:rPr>
              <a:t>▸ Learn: CNN, Transfer Learning, Object Detection</a:t>
            </a:r>
          </a:p>
        </p:txBody>
      </p:sp>
      <p:sp>
        <p:nvSpPr>
          <p:cNvPr id="14" name="TextBox 13"/>
          <p:cNvSpPr txBox="1"/>
          <p:nvPr/>
        </p:nvSpPr>
        <p:spPr>
          <a:xfrm>
            <a:off x="365760" y="3584448"/>
            <a:ext cx="2057400" cy="365760"/>
          </a:xfrm>
          <a:prstGeom prst="rect">
            <a:avLst/>
          </a:prstGeom>
          <a:noFill/>
        </p:spPr>
        <p:txBody>
          <a:bodyPr wrap="square">
            <a:spAutoFit/>
          </a:bodyPr>
          <a:lstStyle/>
          <a:p>
            <a:pPr algn="l"/>
            <a:r>
              <a:rPr sz="900" b="0" i="0">
                <a:solidFill>
                  <a:srgbClr val="333333"/>
                </a:solidFill>
              </a:rPr>
              <a:t>▸ Configure MLflow experiment tracking</a:t>
            </a:r>
          </a:p>
        </p:txBody>
      </p:sp>
      <p:sp>
        <p:nvSpPr>
          <p:cNvPr id="15" name="TextBox 14"/>
          <p:cNvSpPr txBox="1"/>
          <p:nvPr/>
        </p:nvSpPr>
        <p:spPr>
          <a:xfrm>
            <a:off x="2487168" y="1691640"/>
            <a:ext cx="256032" cy="457200"/>
          </a:xfrm>
          <a:prstGeom prst="rect">
            <a:avLst/>
          </a:prstGeom>
          <a:noFill/>
        </p:spPr>
        <p:txBody>
          <a:bodyPr wrap="square">
            <a:spAutoFit/>
          </a:bodyPr>
          <a:lstStyle/>
          <a:p>
            <a:pPr algn="ctr"/>
            <a:r>
              <a:rPr sz="1400" b="0" i="0">
                <a:solidFill>
                  <a:srgbClr val="333333"/>
                </a:solidFill>
              </a:rPr>
              <a:t>▶</a:t>
            </a:r>
          </a:p>
        </p:txBody>
      </p:sp>
      <p:sp>
        <p:nvSpPr>
          <p:cNvPr id="16" name="Rectangle 15"/>
          <p:cNvSpPr/>
          <p:nvPr/>
        </p:nvSpPr>
        <p:spPr>
          <a:xfrm>
            <a:off x="2743199" y="1417320"/>
            <a:ext cx="2194560" cy="8229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34639" y="1463040"/>
            <a:ext cx="2057400" cy="749808"/>
          </a:xfrm>
          <a:prstGeom prst="rect">
            <a:avLst/>
          </a:prstGeom>
          <a:noFill/>
        </p:spPr>
        <p:txBody>
          <a:bodyPr wrap="square">
            <a:spAutoFit/>
          </a:bodyPr>
          <a:lstStyle/>
          <a:p>
            <a:pPr algn="ctr"/>
            <a:r>
              <a:rPr sz="1100" b="1" i="0">
                <a:solidFill>
                  <a:srgbClr val="FFFFFF"/>
                </a:solidFill>
              </a:rPr>
              <a:t>Phase 1
May 26–29</a:t>
            </a:r>
          </a:p>
        </p:txBody>
      </p:sp>
      <p:sp>
        <p:nvSpPr>
          <p:cNvPr id="18" name="Rectangle 17"/>
          <p:cNvSpPr/>
          <p:nvPr/>
        </p:nvSpPr>
        <p:spPr>
          <a:xfrm>
            <a:off x="2743199" y="2240280"/>
            <a:ext cx="2194560" cy="502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34639" y="2286000"/>
            <a:ext cx="2057400" cy="411480"/>
          </a:xfrm>
          <a:prstGeom prst="rect">
            <a:avLst/>
          </a:prstGeom>
          <a:noFill/>
        </p:spPr>
        <p:txBody>
          <a:bodyPr wrap="square">
            <a:spAutoFit/>
          </a:bodyPr>
          <a:lstStyle/>
          <a:p>
            <a:pPr algn="l"/>
            <a:r>
              <a:rPr sz="1000" b="1" i="0">
                <a:solidFill>
                  <a:srgbClr val="1565C0"/>
                </a:solidFill>
              </a:rPr>
              <a:t>Data &amp; Exploration  ⚠ Awaiting data</a:t>
            </a:r>
          </a:p>
        </p:txBody>
      </p:sp>
      <p:sp>
        <p:nvSpPr>
          <p:cNvPr id="20" name="TextBox 19"/>
          <p:cNvSpPr txBox="1"/>
          <p:nvPr/>
        </p:nvSpPr>
        <p:spPr>
          <a:xfrm>
            <a:off x="2834639" y="2816352"/>
            <a:ext cx="2057400" cy="365760"/>
          </a:xfrm>
          <a:prstGeom prst="rect">
            <a:avLst/>
          </a:prstGeom>
          <a:noFill/>
        </p:spPr>
        <p:txBody>
          <a:bodyPr wrap="square">
            <a:spAutoFit/>
          </a:bodyPr>
          <a:lstStyle/>
          <a:p>
            <a:pPr algn="l"/>
            <a:r>
              <a:rPr sz="900" b="0" i="0">
                <a:solidFill>
                  <a:srgbClr val="333333"/>
                </a:solidFill>
              </a:rPr>
              <a:t>▸ Notebook 01 — data inventory, class balance</a:t>
            </a:r>
          </a:p>
        </p:txBody>
      </p:sp>
      <p:sp>
        <p:nvSpPr>
          <p:cNvPr id="21" name="TextBox 20"/>
          <p:cNvSpPr txBox="1"/>
          <p:nvPr/>
        </p:nvSpPr>
        <p:spPr>
          <a:xfrm>
            <a:off x="2834639" y="3200400"/>
            <a:ext cx="2057400" cy="365760"/>
          </a:xfrm>
          <a:prstGeom prst="rect">
            <a:avLst/>
          </a:prstGeom>
          <a:noFill/>
        </p:spPr>
        <p:txBody>
          <a:bodyPr wrap="square">
            <a:spAutoFit/>
          </a:bodyPr>
          <a:lstStyle/>
          <a:p>
            <a:pPr algn="l"/>
            <a:r>
              <a:rPr sz="900" b="0" i="0">
                <a:solidFill>
                  <a:srgbClr val="333333"/>
                </a:solidFill>
              </a:rPr>
              <a:t>▸ CLAHE preprocessing visualisation</a:t>
            </a:r>
          </a:p>
        </p:txBody>
      </p:sp>
      <p:sp>
        <p:nvSpPr>
          <p:cNvPr id="22" name="TextBox 21"/>
          <p:cNvSpPr txBox="1"/>
          <p:nvPr/>
        </p:nvSpPr>
        <p:spPr>
          <a:xfrm>
            <a:off x="2834639" y="3584448"/>
            <a:ext cx="2057400" cy="365760"/>
          </a:xfrm>
          <a:prstGeom prst="rect">
            <a:avLst/>
          </a:prstGeom>
          <a:noFill/>
        </p:spPr>
        <p:txBody>
          <a:bodyPr wrap="square">
            <a:spAutoFit/>
          </a:bodyPr>
          <a:lstStyle/>
          <a:p>
            <a:pPr algn="l"/>
            <a:r>
              <a:rPr sz="900" b="0" i="0">
                <a:solidFill>
                  <a:srgbClr val="333333"/>
                </a:solidFill>
              </a:rPr>
              <a:t>▸ Augmentation pipeline — 5× dataset multiplier</a:t>
            </a:r>
          </a:p>
        </p:txBody>
      </p:sp>
      <p:sp>
        <p:nvSpPr>
          <p:cNvPr id="23" name="TextBox 22"/>
          <p:cNvSpPr txBox="1"/>
          <p:nvPr/>
        </p:nvSpPr>
        <p:spPr>
          <a:xfrm>
            <a:off x="4956047" y="1691640"/>
            <a:ext cx="256032" cy="457200"/>
          </a:xfrm>
          <a:prstGeom prst="rect">
            <a:avLst/>
          </a:prstGeom>
          <a:noFill/>
        </p:spPr>
        <p:txBody>
          <a:bodyPr wrap="square">
            <a:spAutoFit/>
          </a:bodyPr>
          <a:lstStyle/>
          <a:p>
            <a:pPr algn="ctr"/>
            <a:r>
              <a:rPr sz="1400" b="0" i="0">
                <a:solidFill>
                  <a:srgbClr val="333333"/>
                </a:solidFill>
              </a:rPr>
              <a:t>▶</a:t>
            </a:r>
          </a:p>
        </p:txBody>
      </p:sp>
      <p:sp>
        <p:nvSpPr>
          <p:cNvPr id="24" name="Rectangle 23"/>
          <p:cNvSpPr/>
          <p:nvPr/>
        </p:nvSpPr>
        <p:spPr>
          <a:xfrm>
            <a:off x="5212079" y="1417320"/>
            <a:ext cx="2194560" cy="82296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19" y="1463040"/>
            <a:ext cx="2057400" cy="749808"/>
          </a:xfrm>
          <a:prstGeom prst="rect">
            <a:avLst/>
          </a:prstGeom>
          <a:noFill/>
        </p:spPr>
        <p:txBody>
          <a:bodyPr wrap="square">
            <a:spAutoFit/>
          </a:bodyPr>
          <a:lstStyle/>
          <a:p>
            <a:pPr algn="ctr"/>
            <a:r>
              <a:rPr sz="1100" b="1" i="0">
                <a:solidFill>
                  <a:srgbClr val="FFFFFF"/>
                </a:solidFill>
              </a:rPr>
              <a:t>Phase 2
May 30–Jun 3</a:t>
            </a:r>
          </a:p>
        </p:txBody>
      </p:sp>
      <p:sp>
        <p:nvSpPr>
          <p:cNvPr id="26" name="Rectangle 25"/>
          <p:cNvSpPr/>
          <p:nvPr/>
        </p:nvSpPr>
        <p:spPr>
          <a:xfrm>
            <a:off x="5212079" y="2240280"/>
            <a:ext cx="2194560" cy="502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19" y="2286000"/>
            <a:ext cx="2057400" cy="411480"/>
          </a:xfrm>
          <a:prstGeom prst="rect">
            <a:avLst/>
          </a:prstGeom>
          <a:noFill/>
        </p:spPr>
        <p:txBody>
          <a:bodyPr wrap="square">
            <a:spAutoFit/>
          </a:bodyPr>
          <a:lstStyle/>
          <a:p>
            <a:pPr algn="l"/>
            <a:r>
              <a:rPr sz="1000" b="1" i="0">
                <a:solidFill>
                  <a:srgbClr val="E86B00"/>
                </a:solidFill>
              </a:rPr>
              <a:t>Detection Model</a:t>
            </a:r>
          </a:p>
        </p:txBody>
      </p:sp>
      <p:sp>
        <p:nvSpPr>
          <p:cNvPr id="28" name="TextBox 27"/>
          <p:cNvSpPr txBox="1"/>
          <p:nvPr/>
        </p:nvSpPr>
        <p:spPr>
          <a:xfrm>
            <a:off x="5303519" y="2816352"/>
            <a:ext cx="2057400" cy="365760"/>
          </a:xfrm>
          <a:prstGeom prst="rect">
            <a:avLst/>
          </a:prstGeom>
          <a:noFill/>
        </p:spPr>
        <p:txBody>
          <a:bodyPr wrap="square">
            <a:spAutoFit/>
          </a:bodyPr>
          <a:lstStyle/>
          <a:p>
            <a:pPr algn="l"/>
            <a:r>
              <a:rPr sz="900" b="0" i="0">
                <a:solidFill>
                  <a:srgbClr val="333333"/>
                </a:solidFill>
              </a:rPr>
              <a:t>▸ Train ResNet50 tiger/no-tiger classifier</a:t>
            </a:r>
          </a:p>
        </p:txBody>
      </p:sp>
      <p:sp>
        <p:nvSpPr>
          <p:cNvPr id="29" name="TextBox 28"/>
          <p:cNvSpPr txBox="1"/>
          <p:nvPr/>
        </p:nvSpPr>
        <p:spPr>
          <a:xfrm>
            <a:off x="5303519" y="3200400"/>
            <a:ext cx="2057400" cy="365760"/>
          </a:xfrm>
          <a:prstGeom prst="rect">
            <a:avLst/>
          </a:prstGeom>
          <a:noFill/>
        </p:spPr>
        <p:txBody>
          <a:bodyPr wrap="square">
            <a:spAutoFit/>
          </a:bodyPr>
          <a:lstStyle/>
          <a:p>
            <a:pPr algn="l"/>
            <a:r>
              <a:rPr sz="900" b="0" i="0">
                <a:solidFill>
                  <a:srgbClr val="333333"/>
                </a:solidFill>
              </a:rPr>
              <a:t>▸ Grad-CAM heatmap — visual proof</a:t>
            </a:r>
          </a:p>
        </p:txBody>
      </p:sp>
      <p:sp>
        <p:nvSpPr>
          <p:cNvPr id="30" name="TextBox 29"/>
          <p:cNvSpPr txBox="1"/>
          <p:nvPr/>
        </p:nvSpPr>
        <p:spPr>
          <a:xfrm>
            <a:off x="5303519" y="3584448"/>
            <a:ext cx="2057400" cy="365760"/>
          </a:xfrm>
          <a:prstGeom prst="rect">
            <a:avLst/>
          </a:prstGeom>
          <a:noFill/>
        </p:spPr>
        <p:txBody>
          <a:bodyPr wrap="square">
            <a:spAutoFit/>
          </a:bodyPr>
          <a:lstStyle/>
          <a:p>
            <a:pPr algn="l"/>
            <a:r>
              <a:rPr sz="900" b="0" i="0">
                <a:solidFill>
                  <a:srgbClr val="333333"/>
                </a:solidFill>
              </a:rPr>
              <a:t>▸ Target: &gt;90% accuracy, FNR &lt;5%</a:t>
            </a:r>
          </a:p>
        </p:txBody>
      </p:sp>
      <p:sp>
        <p:nvSpPr>
          <p:cNvPr id="31" name="TextBox 30"/>
          <p:cNvSpPr txBox="1"/>
          <p:nvPr/>
        </p:nvSpPr>
        <p:spPr>
          <a:xfrm>
            <a:off x="7424927" y="1691640"/>
            <a:ext cx="256032" cy="457200"/>
          </a:xfrm>
          <a:prstGeom prst="rect">
            <a:avLst/>
          </a:prstGeom>
          <a:noFill/>
        </p:spPr>
        <p:txBody>
          <a:bodyPr wrap="square">
            <a:spAutoFit/>
          </a:bodyPr>
          <a:lstStyle/>
          <a:p>
            <a:pPr algn="ctr"/>
            <a:r>
              <a:rPr sz="1400" b="0" i="0">
                <a:solidFill>
                  <a:srgbClr val="333333"/>
                </a:solidFill>
              </a:rPr>
              <a:t>▶</a:t>
            </a:r>
          </a:p>
        </p:txBody>
      </p:sp>
      <p:sp>
        <p:nvSpPr>
          <p:cNvPr id="32" name="Rectangle 31"/>
          <p:cNvSpPr/>
          <p:nvPr/>
        </p:nvSpPr>
        <p:spPr>
          <a:xfrm>
            <a:off x="7680959" y="1417320"/>
            <a:ext cx="2194560" cy="8229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399" y="1463040"/>
            <a:ext cx="2057400" cy="749808"/>
          </a:xfrm>
          <a:prstGeom prst="rect">
            <a:avLst/>
          </a:prstGeom>
          <a:noFill/>
        </p:spPr>
        <p:txBody>
          <a:bodyPr wrap="square">
            <a:spAutoFit/>
          </a:bodyPr>
          <a:lstStyle/>
          <a:p>
            <a:pPr algn="ctr"/>
            <a:r>
              <a:rPr sz="1100" b="1" i="0">
                <a:solidFill>
                  <a:srgbClr val="FFFFFF"/>
                </a:solidFill>
              </a:rPr>
              <a:t>Phase 3
Jun 4–7</a:t>
            </a:r>
          </a:p>
        </p:txBody>
      </p:sp>
      <p:sp>
        <p:nvSpPr>
          <p:cNvPr id="34" name="Rectangle 33"/>
          <p:cNvSpPr/>
          <p:nvPr/>
        </p:nvSpPr>
        <p:spPr>
          <a:xfrm>
            <a:off x="7680959" y="2240280"/>
            <a:ext cx="2194560" cy="502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399" y="2286000"/>
            <a:ext cx="2057400" cy="411480"/>
          </a:xfrm>
          <a:prstGeom prst="rect">
            <a:avLst/>
          </a:prstGeom>
          <a:noFill/>
        </p:spPr>
        <p:txBody>
          <a:bodyPr wrap="square">
            <a:spAutoFit/>
          </a:bodyPr>
          <a:lstStyle/>
          <a:p>
            <a:pPr algn="l"/>
            <a:r>
              <a:rPr sz="1000" b="1" i="0">
                <a:solidFill>
                  <a:srgbClr val="2E7D32"/>
                </a:solidFill>
              </a:rPr>
              <a:t>ID + Count + Metadata</a:t>
            </a:r>
          </a:p>
        </p:txBody>
      </p:sp>
      <p:sp>
        <p:nvSpPr>
          <p:cNvPr id="36" name="TextBox 35"/>
          <p:cNvSpPr txBox="1"/>
          <p:nvPr/>
        </p:nvSpPr>
        <p:spPr>
          <a:xfrm>
            <a:off x="7772399" y="2816352"/>
            <a:ext cx="2057400" cy="365760"/>
          </a:xfrm>
          <a:prstGeom prst="rect">
            <a:avLst/>
          </a:prstGeom>
          <a:noFill/>
        </p:spPr>
        <p:txBody>
          <a:bodyPr wrap="square">
            <a:spAutoFit/>
          </a:bodyPr>
          <a:lstStyle/>
          <a:p>
            <a:pPr algn="l"/>
            <a:r>
              <a:rPr sz="900" b="0" i="0">
                <a:solidFill>
                  <a:srgbClr val="333333"/>
                </a:solidFill>
              </a:rPr>
              <a:t>▸ EfficientNetB3 + ArcFace individual ID</a:t>
            </a:r>
          </a:p>
        </p:txBody>
      </p:sp>
      <p:sp>
        <p:nvSpPr>
          <p:cNvPr id="37" name="TextBox 36"/>
          <p:cNvSpPr txBox="1"/>
          <p:nvPr/>
        </p:nvSpPr>
        <p:spPr>
          <a:xfrm>
            <a:off x="7772399" y="3200400"/>
            <a:ext cx="2057400" cy="365760"/>
          </a:xfrm>
          <a:prstGeom prst="rect">
            <a:avLst/>
          </a:prstGeom>
          <a:noFill/>
        </p:spPr>
        <p:txBody>
          <a:bodyPr wrap="square">
            <a:spAutoFit/>
          </a:bodyPr>
          <a:lstStyle/>
          <a:p>
            <a:pPr algn="l"/>
            <a:r>
              <a:rPr sz="900" b="0" i="0">
                <a:solidFill>
                  <a:srgbClr val="333333"/>
                </a:solidFill>
              </a:rPr>
              <a:t>▸ YOLOv8 tiger counter per frame</a:t>
            </a:r>
          </a:p>
        </p:txBody>
      </p:sp>
      <p:sp>
        <p:nvSpPr>
          <p:cNvPr id="38" name="TextBox 37"/>
          <p:cNvSpPr txBox="1"/>
          <p:nvPr/>
        </p:nvSpPr>
        <p:spPr>
          <a:xfrm>
            <a:off x="7772399" y="3584448"/>
            <a:ext cx="2057400" cy="365760"/>
          </a:xfrm>
          <a:prstGeom prst="rect">
            <a:avLst/>
          </a:prstGeom>
          <a:noFill/>
        </p:spPr>
        <p:txBody>
          <a:bodyPr wrap="square">
            <a:spAutoFit/>
          </a:bodyPr>
          <a:lstStyle/>
          <a:p>
            <a:pPr algn="l"/>
            <a:r>
              <a:rPr sz="900" b="0" i="0">
                <a:solidFill>
                  <a:srgbClr val="333333"/>
                </a:solidFill>
              </a:rPr>
              <a:t>▸ GPS metadata → habitat zone mapping</a:t>
            </a:r>
          </a:p>
        </p:txBody>
      </p:sp>
      <p:sp>
        <p:nvSpPr>
          <p:cNvPr id="39" name="TextBox 38"/>
          <p:cNvSpPr txBox="1"/>
          <p:nvPr/>
        </p:nvSpPr>
        <p:spPr>
          <a:xfrm>
            <a:off x="9893807" y="1691640"/>
            <a:ext cx="256032" cy="457200"/>
          </a:xfrm>
          <a:prstGeom prst="rect">
            <a:avLst/>
          </a:prstGeom>
          <a:noFill/>
        </p:spPr>
        <p:txBody>
          <a:bodyPr wrap="square">
            <a:spAutoFit/>
          </a:bodyPr>
          <a:lstStyle/>
          <a:p>
            <a:pPr algn="ctr"/>
            <a:r>
              <a:rPr sz="1400" b="0" i="0">
                <a:solidFill>
                  <a:srgbClr val="333333"/>
                </a:solidFill>
              </a:rPr>
              <a:t>▶</a:t>
            </a:r>
          </a:p>
        </p:txBody>
      </p:sp>
      <p:sp>
        <p:nvSpPr>
          <p:cNvPr id="40" name="Rectangle 39"/>
          <p:cNvSpPr/>
          <p:nvPr/>
        </p:nvSpPr>
        <p:spPr>
          <a:xfrm>
            <a:off x="10149839" y="1417320"/>
            <a:ext cx="2194560" cy="82296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41279" y="1463040"/>
            <a:ext cx="2057400" cy="749808"/>
          </a:xfrm>
          <a:prstGeom prst="rect">
            <a:avLst/>
          </a:prstGeom>
          <a:noFill/>
        </p:spPr>
        <p:txBody>
          <a:bodyPr wrap="square">
            <a:spAutoFit/>
          </a:bodyPr>
          <a:lstStyle/>
          <a:p>
            <a:pPr algn="ctr"/>
            <a:r>
              <a:rPr sz="1100" b="1" i="0">
                <a:solidFill>
                  <a:srgbClr val="FFFFFF"/>
                </a:solidFill>
              </a:rPr>
              <a:t>Phase 4
Jun 8–10</a:t>
            </a:r>
          </a:p>
        </p:txBody>
      </p:sp>
      <p:sp>
        <p:nvSpPr>
          <p:cNvPr id="42" name="Rectangle 41"/>
          <p:cNvSpPr/>
          <p:nvPr/>
        </p:nvSpPr>
        <p:spPr>
          <a:xfrm>
            <a:off x="10149839" y="2240280"/>
            <a:ext cx="2194560" cy="502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41279" y="2286000"/>
            <a:ext cx="2057400" cy="411480"/>
          </a:xfrm>
          <a:prstGeom prst="rect">
            <a:avLst/>
          </a:prstGeom>
          <a:noFill/>
        </p:spPr>
        <p:txBody>
          <a:bodyPr wrap="square">
            <a:spAutoFit/>
          </a:bodyPr>
          <a:lstStyle/>
          <a:p>
            <a:pPr algn="l"/>
            <a:r>
              <a:rPr sz="1000" b="1" i="0">
                <a:solidFill>
                  <a:srgbClr val="E86B00"/>
                </a:solidFill>
              </a:rPr>
              <a:t>Evaluation &amp; Submission</a:t>
            </a:r>
          </a:p>
        </p:txBody>
      </p:sp>
      <p:sp>
        <p:nvSpPr>
          <p:cNvPr id="44" name="TextBox 43"/>
          <p:cNvSpPr txBox="1"/>
          <p:nvPr/>
        </p:nvSpPr>
        <p:spPr>
          <a:xfrm>
            <a:off x="10241279" y="2816352"/>
            <a:ext cx="2057400" cy="365760"/>
          </a:xfrm>
          <a:prstGeom prst="rect">
            <a:avLst/>
          </a:prstGeom>
          <a:noFill/>
        </p:spPr>
        <p:txBody>
          <a:bodyPr wrap="square">
            <a:spAutoFit/>
          </a:bodyPr>
          <a:lstStyle/>
          <a:p>
            <a:pPr algn="l"/>
            <a:r>
              <a:rPr sz="900" b="0" i="0">
                <a:solidFill>
                  <a:srgbClr val="333333"/>
                </a:solidFill>
              </a:rPr>
              <a:t>▸ Notebook 04 — full evaluation + conservation insights</a:t>
            </a:r>
          </a:p>
        </p:txBody>
      </p:sp>
      <p:sp>
        <p:nvSpPr>
          <p:cNvPr id="45" name="TextBox 44"/>
          <p:cNvSpPr txBox="1"/>
          <p:nvPr/>
        </p:nvSpPr>
        <p:spPr>
          <a:xfrm>
            <a:off x="10241279" y="3200400"/>
            <a:ext cx="2057400" cy="365760"/>
          </a:xfrm>
          <a:prstGeom prst="rect">
            <a:avLst/>
          </a:prstGeom>
          <a:noFill/>
        </p:spPr>
        <p:txBody>
          <a:bodyPr wrap="square">
            <a:spAutoFit/>
          </a:bodyPr>
          <a:lstStyle/>
          <a:p>
            <a:pPr algn="l"/>
            <a:r>
              <a:rPr sz="900" b="0" i="0">
                <a:solidFill>
                  <a:srgbClr val="333333"/>
                </a:solidFill>
              </a:rPr>
              <a:t>▸ Team presentation preparation</a:t>
            </a:r>
          </a:p>
        </p:txBody>
      </p:sp>
      <p:sp>
        <p:nvSpPr>
          <p:cNvPr id="46" name="TextBox 45"/>
          <p:cNvSpPr txBox="1"/>
          <p:nvPr/>
        </p:nvSpPr>
        <p:spPr>
          <a:xfrm>
            <a:off x="10241279" y="3584448"/>
            <a:ext cx="2057400" cy="365760"/>
          </a:xfrm>
          <a:prstGeom prst="rect">
            <a:avLst/>
          </a:prstGeom>
          <a:noFill/>
        </p:spPr>
        <p:txBody>
          <a:bodyPr wrap="square">
            <a:spAutoFit/>
          </a:bodyPr>
          <a:lstStyle/>
          <a:p>
            <a:pPr algn="l"/>
            <a:r>
              <a:rPr sz="900" b="0" i="0">
                <a:solidFill>
                  <a:srgbClr val="333333"/>
                </a:solidFill>
              </a:rPr>
              <a:t>▸ GitHub repo final push + IIM submission</a:t>
            </a:r>
          </a:p>
        </p:txBody>
      </p:sp>
      <p:sp>
        <p:nvSpPr>
          <p:cNvPr id="47" name="TextBox 46"/>
          <p:cNvSpPr txBox="1"/>
          <p:nvPr/>
        </p:nvSpPr>
        <p:spPr>
          <a:xfrm>
            <a:off x="12362687" y="1691640"/>
            <a:ext cx="256032" cy="457200"/>
          </a:xfrm>
          <a:prstGeom prst="rect">
            <a:avLst/>
          </a:prstGeom>
          <a:noFill/>
        </p:spPr>
        <p:txBody>
          <a:bodyPr wrap="square">
            <a:spAutoFit/>
          </a:bodyPr>
          <a:lstStyle/>
          <a:p>
            <a:pPr algn="ctr"/>
            <a:r>
              <a:rPr sz="1400" b="0" i="0">
                <a:solidFill>
                  <a:srgbClr val="333333"/>
                </a:solidFill>
              </a:rPr>
              <a:t>▶</a:t>
            </a:r>
          </a:p>
        </p:txBody>
      </p:sp>
      <p:sp>
        <p:nvSpPr>
          <p:cNvPr id="48" name="Rectangle 47"/>
          <p:cNvSpPr/>
          <p:nvPr/>
        </p:nvSpPr>
        <p:spPr>
          <a:xfrm>
            <a:off x="274320" y="5074920"/>
            <a:ext cx="11612880" cy="548640"/>
          </a:xfrm>
          <a:prstGeom prst="rect">
            <a:avLst/>
          </a:prstGeom>
          <a:solidFill>
            <a:srgbClr val="F4F4F4"/>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5138928"/>
            <a:ext cx="2286000" cy="365760"/>
          </a:xfrm>
          <a:prstGeom prst="rect">
            <a:avLst/>
          </a:prstGeom>
          <a:noFill/>
        </p:spPr>
        <p:txBody>
          <a:bodyPr wrap="square">
            <a:spAutoFit/>
          </a:bodyPr>
          <a:lstStyle/>
          <a:p>
            <a:pPr algn="l"/>
            <a:r>
              <a:rPr sz="1200" b="1" i="0">
                <a:solidFill>
                  <a:srgbClr val="1A295A"/>
                </a:solidFill>
              </a:rPr>
              <a:t>Success Metrics:</a:t>
            </a:r>
          </a:p>
        </p:txBody>
      </p:sp>
      <p:sp>
        <p:nvSpPr>
          <p:cNvPr id="50" name="TextBox 49"/>
          <p:cNvSpPr txBox="1"/>
          <p:nvPr/>
        </p:nvSpPr>
        <p:spPr>
          <a:xfrm>
            <a:off x="2743200" y="5157216"/>
            <a:ext cx="9144000" cy="365760"/>
          </a:xfrm>
          <a:prstGeom prst="rect">
            <a:avLst/>
          </a:prstGeom>
          <a:noFill/>
        </p:spPr>
        <p:txBody>
          <a:bodyPr wrap="square">
            <a:spAutoFit/>
          </a:bodyPr>
          <a:lstStyle/>
          <a:p>
            <a:pPr algn="l"/>
            <a:r>
              <a:rPr sz="1200" b="0" i="0">
                <a:solidFill>
                  <a:srgbClr val="333333"/>
                </a:solidFill>
              </a:rPr>
              <a:t>Detection accuracy &gt; 90%   |   False Negative Rate &lt; 5%   |   Individual ID accuracy &gt; 80%   |   Processing &lt; 2 sec/image</a:t>
            </a:r>
          </a:p>
        </p:txBody>
      </p:sp>
      <p:sp>
        <p:nvSpPr>
          <p:cNvPr id="51" name="Rectangle 50"/>
          <p:cNvSpPr/>
          <p:nvPr/>
        </p:nvSpPr>
        <p:spPr>
          <a:xfrm>
            <a:off x="274320" y="5742432"/>
            <a:ext cx="11612880" cy="54864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5815584"/>
            <a:ext cx="11247120" cy="384048"/>
          </a:xfrm>
          <a:prstGeom prst="rect">
            <a:avLst/>
          </a:prstGeom>
          <a:noFill/>
        </p:spPr>
        <p:txBody>
          <a:bodyPr wrap="square">
            <a:spAutoFit/>
          </a:bodyPr>
          <a:lstStyle/>
          <a:p>
            <a:pPr algn="ctr"/>
            <a:r>
              <a:rPr sz="1300" b="1" i="0">
                <a:solidFill>
                  <a:srgbClr val="FFFFFF"/>
                </a:solidFill>
              </a:rPr>
              <a:t>🚀  If this works in Sundarbans, it works across all 50+ tiger reserves in India — national scale impact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0840"/>
            <a:ext cx="12188952" cy="13716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0" y="914400"/>
            <a:ext cx="1371600" cy="1097280"/>
          </a:xfrm>
          <a:prstGeom prst="rect">
            <a:avLst/>
          </a:prstGeom>
          <a:noFill/>
        </p:spPr>
        <p:txBody>
          <a:bodyPr wrap="square">
            <a:spAutoFit/>
          </a:bodyPr>
          <a:lstStyle/>
          <a:p>
            <a:pPr algn="ctr"/>
            <a:r>
              <a:rPr sz="6000" b="0" i="0">
                <a:solidFill>
                  <a:srgbClr val="FFFFFF"/>
                </a:solidFill>
              </a:rPr>
              <a:t>🐯</a:t>
            </a:r>
          </a:p>
        </p:txBody>
      </p:sp>
      <p:sp>
        <p:nvSpPr>
          <p:cNvPr id="6" name="TextBox 5"/>
          <p:cNvSpPr txBox="1"/>
          <p:nvPr/>
        </p:nvSpPr>
        <p:spPr>
          <a:xfrm>
            <a:off x="914400" y="2103120"/>
            <a:ext cx="10360152" cy="640080"/>
          </a:xfrm>
          <a:prstGeom prst="rect">
            <a:avLst/>
          </a:prstGeom>
          <a:noFill/>
        </p:spPr>
        <p:txBody>
          <a:bodyPr wrap="square">
            <a:spAutoFit/>
          </a:bodyPr>
          <a:lstStyle/>
          <a:p>
            <a:pPr algn="ctr"/>
            <a:r>
              <a:rPr sz="3000" b="1" i="0">
                <a:solidFill>
                  <a:srgbClr val="FFFFFF"/>
                </a:solidFill>
              </a:rPr>
              <a:t>Built with purpose —</a:t>
            </a:r>
          </a:p>
        </p:txBody>
      </p:sp>
      <p:sp>
        <p:nvSpPr>
          <p:cNvPr id="7" name="TextBox 6"/>
          <p:cNvSpPr txBox="1"/>
          <p:nvPr/>
        </p:nvSpPr>
        <p:spPr>
          <a:xfrm>
            <a:off x="914400" y="2697480"/>
            <a:ext cx="10360152" cy="548640"/>
          </a:xfrm>
          <a:prstGeom prst="rect">
            <a:avLst/>
          </a:prstGeom>
          <a:noFill/>
        </p:spPr>
        <p:txBody>
          <a:bodyPr wrap="square">
            <a:spAutoFit/>
          </a:bodyPr>
          <a:lstStyle/>
          <a:p>
            <a:pPr algn="ctr"/>
            <a:r>
              <a:rPr sz="1800" b="0" i="0">
                <a:solidFill>
                  <a:srgbClr val="FFC107"/>
                </a:solidFill>
              </a:rPr>
              <a:t>for the tigers of Sundarbans and the future of AI-driven conservation.</a:t>
            </a:r>
          </a:p>
        </p:txBody>
      </p:sp>
      <p:sp>
        <p:nvSpPr>
          <p:cNvPr id="8" name="Rectangle 7"/>
          <p:cNvSpPr/>
          <p:nvPr/>
        </p:nvSpPr>
        <p:spPr>
          <a:xfrm>
            <a:off x="3200400" y="3383280"/>
            <a:ext cx="5788152" cy="4572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20440"/>
            <a:ext cx="10360152" cy="457200"/>
          </a:xfrm>
          <a:prstGeom prst="rect">
            <a:avLst/>
          </a:prstGeom>
          <a:noFill/>
        </p:spPr>
        <p:txBody>
          <a:bodyPr wrap="square">
            <a:spAutoFit/>
          </a:bodyPr>
          <a:lstStyle/>
          <a:p>
            <a:pPr algn="ctr"/>
            <a:r>
              <a:rPr sz="1600" b="0" i="1">
                <a:solidFill>
                  <a:srgbClr val="FFFFFF"/>
                </a:solidFill>
              </a:rPr>
              <a:t>If this works in Sundarbans, it works everywhere.</a:t>
            </a:r>
          </a:p>
        </p:txBody>
      </p:sp>
      <p:sp>
        <p:nvSpPr>
          <p:cNvPr id="10" name="TextBox 9"/>
          <p:cNvSpPr txBox="1"/>
          <p:nvPr/>
        </p:nvSpPr>
        <p:spPr>
          <a:xfrm>
            <a:off x="914400" y="4754880"/>
            <a:ext cx="10360152" cy="457200"/>
          </a:xfrm>
          <a:prstGeom prst="rect">
            <a:avLst/>
          </a:prstGeom>
          <a:noFill/>
        </p:spPr>
        <p:txBody>
          <a:bodyPr wrap="square">
            <a:spAutoFit/>
          </a:bodyPr>
          <a:lstStyle/>
          <a:p>
            <a:pPr algn="ctr"/>
            <a:r>
              <a:rPr sz="1500" b="0" i="0">
                <a:solidFill>
                  <a:srgbClr val="FFC107"/>
                </a:solidFill>
              </a:rPr>
              <a:t>EPAIB Batch 05  |  Group 4  |  IIM Lucknow</a:t>
            </a:r>
          </a:p>
        </p:txBody>
      </p:sp>
      <p:sp>
        <p:nvSpPr>
          <p:cNvPr id="11" name="TextBox 10"/>
          <p:cNvSpPr txBox="1"/>
          <p:nvPr/>
        </p:nvSpPr>
        <p:spPr>
          <a:xfrm>
            <a:off x="914400" y="5193792"/>
            <a:ext cx="10360152" cy="365760"/>
          </a:xfrm>
          <a:prstGeom prst="rect">
            <a:avLst/>
          </a:prstGeom>
          <a:noFill/>
        </p:spPr>
        <p:txBody>
          <a:bodyPr wrap="square">
            <a:spAutoFit/>
          </a:bodyPr>
          <a:lstStyle/>
          <a:p>
            <a:pPr algn="ctr"/>
            <a:r>
              <a:rPr sz="1300" b="0" i="0">
                <a:solidFill>
                  <a:srgbClr val="FFFFFF"/>
                </a:solidFill>
              </a:rPr>
              <a:t>Faculty: Dr. Sowmya S  |  sowmya@iiml.ac.in</a:t>
            </a:r>
          </a:p>
        </p:txBody>
      </p:sp>
      <p:sp>
        <p:nvSpPr>
          <p:cNvPr id="12" name="TextBox 11"/>
          <p:cNvSpPr txBox="1"/>
          <p:nvPr/>
        </p:nvSpPr>
        <p:spPr>
          <a:xfrm>
            <a:off x="914400" y="5559552"/>
            <a:ext cx="10360152" cy="365760"/>
          </a:xfrm>
          <a:prstGeom prst="rect">
            <a:avLst/>
          </a:prstGeom>
          <a:noFill/>
        </p:spPr>
        <p:txBody>
          <a:bodyPr wrap="square">
            <a:spAutoFit/>
          </a:bodyPr>
          <a:lstStyle/>
          <a:p>
            <a:pPr algn="ctr"/>
            <a:r>
              <a:rPr sz="1200" b="0" i="0">
                <a:solidFill>
                  <a:srgbClr val="FFFFFF"/>
                </a:solidFill>
              </a:rPr>
              <a:t>Data Partner: Directorate of Forests, Wildlife Wing, Govt of West Bengal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