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64592" y="5806440"/>
            <a:ext cx="12024360" cy="54864"/>
          </a:xfrm>
          <a:prstGeom prst="rect">
            <a:avLst/>
          </a:prstGeom>
          <a:solidFill>
            <a:srgbClr val="FFA7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640080"/>
            <a:ext cx="11274552" cy="3657600"/>
          </a:xfrm>
          <a:prstGeom prst="rect">
            <a:avLst/>
          </a:prstGeom>
          <a:solidFill>
            <a:srgbClr val="1B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640080"/>
            <a:ext cx="73152" cy="36576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713232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</a:rPr>
              <a:t>TRACE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7830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FFA726"/>
                </a:solidFill>
              </a:rPr>
              <a:t>Tiger Recognition And Census Engine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377440"/>
            <a:ext cx="5943600" cy="4572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0C4DE"/>
                </a:solidFill>
              </a:rPr>
              <a:t>AI-Driven Tiger Enumeration  |  Sundarbans Tiger Reserve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0175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7897B0"/>
                </a:solidFill>
              </a:rPr>
              <a:t>Project Review — Approach &amp; Progress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4592" y="5870448"/>
            <a:ext cx="12024360" cy="987552"/>
          </a:xfrm>
          <a:prstGeom prst="rect">
            <a:avLst/>
          </a:prstGeom>
          <a:solidFill>
            <a:srgbClr val="07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5925312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B0C4DE"/>
                </a:solidFill>
              </a:rPr>
              <a:t>EPAIB Batch 05   |   Group 4   |   IIM Lucknow</a:t>
            </a:r>
          </a:p>
          <a:p>
            <a:pPr algn="l"/>
            <a:r>
              <a:rPr sz="1400" b="0">
                <a:solidFill>
                  <a:srgbClr val="B0C4DE"/>
                </a:solidFill>
              </a:rPr>
              <a:t>Faculty Supervisor: Dr. Sowmya Subramaniam          Submission: June 10,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Meet the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21792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0CAF9"/>
                </a:solidFill>
              </a:rPr>
              <a:t>EPAIB Batch 05 | Group 4 | IIM Lucknow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280160"/>
            <a:ext cx="356616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280160"/>
            <a:ext cx="3566160" cy="73152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737360" y="1444751"/>
            <a:ext cx="914400" cy="914400"/>
          </a:xfrm>
          <a:prstGeom prst="ellipse">
            <a:avLst/>
          </a:prstGeom>
          <a:solidFill>
            <a:srgbClr val="E3F2FD"/>
          </a:solidFill>
          <a:ln w="19050">
            <a:solidFill>
              <a:srgbClr val="0D2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37360" y="1627631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D2B55"/>
                </a:solidFill>
              </a:rPr>
              <a:t>BM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450591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2B55"/>
                </a:solidFill>
              </a:rPr>
              <a:t>Bhargavi Meduri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81635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16161"/>
                </a:solidFill>
              </a:rPr>
              <a:t>Senior QA Engineer
P&amp;C Insurance Domain Expert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3400" y="1280160"/>
            <a:ext cx="356616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1280160"/>
            <a:ext cx="3566160" cy="73152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669280" y="1444751"/>
            <a:ext cx="914400" cy="914400"/>
          </a:xfrm>
          <a:prstGeom prst="ellipse">
            <a:avLst/>
          </a:prstGeom>
          <a:solidFill>
            <a:srgbClr val="E3F2FD"/>
          </a:solidFill>
          <a:ln w="19050">
            <a:solidFill>
              <a:srgbClr val="0D2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0" y="1627631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D2B55"/>
                </a:solidFill>
              </a:rPr>
              <a:t>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2450591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2B55"/>
                </a:solidFill>
              </a:rPr>
              <a:t>Anamitra Lahiri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281635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16161"/>
                </a:solidFill>
              </a:rPr>
              <a:t>[ Designation 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75319" y="1280160"/>
            <a:ext cx="356616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75319" y="1280160"/>
            <a:ext cx="3566160" cy="73152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601199" y="1444751"/>
            <a:ext cx="914400" cy="914400"/>
          </a:xfrm>
          <a:prstGeom prst="ellipse">
            <a:avLst/>
          </a:prstGeom>
          <a:solidFill>
            <a:srgbClr val="E3F2FD"/>
          </a:solidFill>
          <a:ln w="19050">
            <a:solidFill>
              <a:srgbClr val="0D2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199" y="1627631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D2B55"/>
                </a:solidFill>
              </a:rPr>
              <a:t>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59" y="2450591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2B55"/>
                </a:solidFill>
              </a:rPr>
              <a:t>Yeshvir [ Last 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59" y="2816352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16161"/>
                </a:solidFill>
              </a:rPr>
              <a:t>[ Designation ]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3749039"/>
            <a:ext cx="356616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1480" y="3749039"/>
            <a:ext cx="3566160" cy="73152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737360" y="3913631"/>
            <a:ext cx="914400" cy="914400"/>
          </a:xfrm>
          <a:prstGeom prst="ellipse">
            <a:avLst/>
          </a:prstGeom>
          <a:solidFill>
            <a:srgbClr val="E3F2FD"/>
          </a:solidFill>
          <a:ln w="19050">
            <a:solidFill>
              <a:srgbClr val="0D2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737360" y="4096511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D2B55"/>
                </a:solidFill>
              </a:rPr>
              <a:t>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4919472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2B55"/>
                </a:solidFill>
              </a:rPr>
              <a:t>[ Team Member 4 ]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5285231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16161"/>
                </a:solidFill>
              </a:rPr>
              <a:t>[ Designation ]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400" y="3749039"/>
            <a:ext cx="3566160" cy="2148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43400" y="3749039"/>
            <a:ext cx="3566160" cy="73152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669280" y="3913631"/>
            <a:ext cx="914400" cy="914400"/>
          </a:xfrm>
          <a:prstGeom prst="ellipse">
            <a:avLst/>
          </a:prstGeom>
          <a:solidFill>
            <a:srgbClr val="E3F2FD"/>
          </a:solidFill>
          <a:ln w="19050">
            <a:solidFill>
              <a:srgbClr val="0D2B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69280" y="4096511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D2B55"/>
                </a:solidFill>
              </a:rPr>
              <a:t>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34840" y="4919472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2B55"/>
                </a:solidFill>
              </a:rPr>
              <a:t>[ Team Member 5 ]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34840" y="5285231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16161"/>
                </a:solidFill>
              </a:rPr>
              <a:t>[ Designation ]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5943600"/>
            <a:ext cx="12188952" cy="6858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598932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Faculty Supervisor: Dr. Sowmya Subramaniam, Associate Professor, IIM Lucknow  |  sowmya@iiml.ac.in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21792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0CAF9"/>
                </a:solidFill>
              </a:rPr>
              <a:t>India's tiger census — manual, slow, and unreliable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4114800" cy="44805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207008"/>
            <a:ext cx="3840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65100"/>
                </a:solidFill>
              </a:rPr>
              <a:t>The Current Reality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1664208"/>
            <a:ext cx="38404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BBDEFB"/>
                </a:solidFill>
              </a:rPr>
              <a:t>Forest departments across India install motion-detection camera traps across reserve areas.</a:t>
            </a:r>
          </a:p>
          <a:p>
            <a:pPr algn="l"/>
            <a:r>
              <a:rPr sz="1200" b="0">
                <a:solidFill>
                  <a:srgbClr val="BBDEFB"/>
                </a:solidFill>
              </a:rPr>
              <a:t/>
            </a:r>
          </a:p>
          <a:p>
            <a:pPr algn="l"/>
            <a:r>
              <a:rPr sz="1200" b="0">
                <a:solidFill>
                  <a:srgbClr val="BBDEFB"/>
                </a:solidFill>
              </a:rPr>
              <a:t>Every movement triggers a photo — animals, birds, reptiles, even leaves in wind.</a:t>
            </a:r>
          </a:p>
          <a:p>
            <a:pPr algn="l"/>
            <a:r>
              <a:rPr sz="1200" b="0">
                <a:solidFill>
                  <a:srgbClr val="BBDEFB"/>
                </a:solidFill>
              </a:rPr>
              <a:t/>
            </a:r>
          </a:p>
          <a:p>
            <a:pPr algn="l"/>
            <a:r>
              <a:rPr sz="1200" b="0">
                <a:solidFill>
                  <a:srgbClr val="BBDEFB"/>
                </a:solidFill>
              </a:rPr>
              <a:t>A human expert then manually reviews EVERY image to count tigers and identify individuals.</a:t>
            </a:r>
          </a:p>
          <a:p>
            <a:pPr algn="l"/>
            <a:r>
              <a:rPr sz="1200" b="0">
                <a:solidFill>
                  <a:srgbClr val="BBDEFB"/>
                </a:solidFill>
              </a:rPr>
              <a:t/>
            </a:r>
          </a:p>
          <a:p>
            <a:pPr algn="l"/>
            <a:r>
              <a:rPr sz="1200" b="0">
                <a:solidFill>
                  <a:srgbClr val="BBDEFB"/>
                </a:solidFill>
              </a:rPr>
              <a:t>For Sundarbans alone: ~1TB of images per census cycle.</a:t>
            </a:r>
          </a:p>
          <a:p>
            <a:pPr algn="l"/>
            <a:r>
              <a:rPr sz="1200" b="0">
                <a:solidFill>
                  <a:srgbClr val="BBDEFB"/>
                </a:solidFill>
              </a:rPr>
              <a:t/>
            </a:r>
          </a:p>
          <a:p>
            <a:pPr algn="l"/>
            <a:r>
              <a:rPr sz="1200" b="0">
                <a:solidFill>
                  <a:srgbClr val="BBDEFB"/>
                </a:solidFill>
              </a:rPr>
              <a:t>This process takes WEEKS and is prone to fatigue errors.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1170432"/>
            <a:ext cx="7223760" cy="841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63440" y="1170432"/>
            <a:ext cx="164592" cy="841248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19472" y="1216152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B55"/>
                </a:solidFill>
              </a:rPr>
              <a:t>Volume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19472" y="1591056"/>
            <a:ext cx="6766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16161"/>
                </a:solidFill>
              </a:rPr>
              <a:t>1TB+ images per census — impossible to review manually in time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63440" y="2121408"/>
            <a:ext cx="7223760" cy="841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663440" y="2121408"/>
            <a:ext cx="164592" cy="841248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19472" y="216712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B55"/>
                </a:solidFill>
              </a:rPr>
              <a:t>Speed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19472" y="2542032"/>
            <a:ext cx="6766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16161"/>
                </a:solidFill>
              </a:rPr>
              <a:t>Manual review takes weeks — census results are always delayed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63440" y="3072384"/>
            <a:ext cx="7223760" cy="841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663440" y="3072384"/>
            <a:ext cx="164592" cy="841248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19472" y="3118104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B55"/>
                </a:solidFill>
              </a:rPr>
              <a:t>Human Error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19472" y="3493008"/>
            <a:ext cx="6766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16161"/>
                </a:solidFill>
              </a:rPr>
              <a:t>Fatigue causes missed tigers and duplicate counts in field conditions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63440" y="4023360"/>
            <a:ext cx="7223760" cy="841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663440" y="4023360"/>
            <a:ext cx="164592" cy="841248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19472" y="406908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B55"/>
                </a:solidFill>
              </a:rPr>
              <a:t>Individual ID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19472" y="4443984"/>
            <a:ext cx="6766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16161"/>
                </a:solidFill>
              </a:rPr>
              <a:t>Identifying WHICH tiger is which requires rare specialist expertise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63440" y="4974336"/>
            <a:ext cx="7223760" cy="841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663440" y="4974336"/>
            <a:ext cx="164592" cy="841248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19472" y="5020056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B55"/>
                </a:solidFill>
              </a:rPr>
              <a:t>No Automation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19472" y="5394960"/>
            <a:ext cx="6766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16161"/>
                </a:solidFill>
              </a:rPr>
              <a:t>Zero alerts for poaching events or unusual animal behaviour patterns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5833872"/>
            <a:ext cx="12188952" cy="65836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5870448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Real-world partner: Wildlife Department, Government of West Bengal  |  ~1TB historical camera trap data available  |  Contact: Mr. Anamitra Lahiri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Camera Trap Challenges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21792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0CAF9"/>
                </a:solidFill>
              </a:rPr>
              <a:t>What makes automated tiger detection hard in the wild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70432"/>
            <a:ext cx="2743200" cy="65836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1887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Environmental
&amp; Weather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883664"/>
            <a:ext cx="27432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79" y="1975104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B55"/>
                </a:solidFill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79" y="2359152"/>
            <a:ext cx="24688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16161"/>
                </a:solidFill>
              </a:rPr>
              <a:t>False triggers — wind moves leaves,
  grass, branches → empty images</a:t>
            </a:r>
          </a:p>
          <a:p>
            <a:pPr algn="l"/>
            <a:r>
              <a:rPr sz="1100" b="0">
                <a:solidFill>
                  <a:srgbClr val="616161"/>
                </a:solidFill>
              </a:rPr>
              <a:t>Atmospheric haze &amp; fog — low
  contrast, washed-out subjects</a:t>
            </a:r>
          </a:p>
          <a:p>
            <a:pPr algn="l"/>
            <a:r>
              <a:rPr sz="1100" b="0">
                <a:solidFill>
                  <a:srgbClr val="616161"/>
                </a:solidFill>
              </a:rPr>
              <a:t>Lens obstruction — spiderwebs,
  mud, dust, frost on lens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0" y="1170432"/>
            <a:ext cx="2743200" cy="658368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0" y="11887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Lighting
&amp; Exposure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0" y="1883664"/>
            <a:ext cx="27432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37560" y="1975104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B55"/>
                </a:solidFill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2359152"/>
            <a:ext cx="24688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16161"/>
                </a:solidFill>
              </a:rPr>
              <a:t>IR night shots → Black &amp; White
  images, no colour data</a:t>
            </a:r>
          </a:p>
          <a:p>
            <a:pPr algn="l"/>
            <a:r>
              <a:rPr sz="1100" b="0">
                <a:solidFill>
                  <a:srgbClr val="616161"/>
                </a:solidFill>
              </a:rPr>
              <a:t>Overexposure / whiteout — animal
  too close to IR flash</a:t>
            </a:r>
          </a:p>
          <a:p>
            <a:pPr algn="l"/>
            <a:r>
              <a:rPr sz="1100" b="0">
                <a:solidFill>
                  <a:srgbClr val="616161"/>
                </a:solidFill>
              </a:rPr>
              <a:t>Dappled light — bright spots &amp;
  deep shadows simultaneously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1170432"/>
            <a:ext cx="2743200" cy="658368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11887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Motion
&amp; Blur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1883664"/>
            <a:ext cx="27432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40" y="1975104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B55"/>
                </a:solidFill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2359152"/>
            <a:ext cx="24688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16161"/>
                </a:solidFill>
              </a:rPr>
              <a:t>Motion blur — fast animal +
  slow shutter = streaky image</a:t>
            </a:r>
          </a:p>
          <a:p>
            <a:pPr algn="l"/>
            <a:r>
              <a:rPr sz="1100" b="0">
                <a:solidFill>
                  <a:srgbClr val="616161"/>
                </a:solidFill>
              </a:rPr>
              <a:t>Out of focus — fixed lens camera,
  animal too close or too far</a:t>
            </a:r>
          </a:p>
          <a:p>
            <a:pPr algn="l"/>
            <a:r>
              <a:rPr sz="1100" b="0">
                <a:solidFill>
                  <a:srgbClr val="616161"/>
                </a:solidFill>
              </a:rPr>
              <a:t>Multiple animals overlapping
  in single frame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52560" y="1170432"/>
            <a:ext cx="2743200" cy="658368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52560" y="118872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Framing &amp;
Partial Capture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52560" y="1883664"/>
            <a:ext cx="27432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89720" y="1975104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B55"/>
                </a:solidFill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20" y="2359152"/>
            <a:ext cx="24688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16161"/>
                </a:solidFill>
              </a:rPr>
              <a:t>Trigger delay → only tail/rear
  captured as animal exits frame</a:t>
            </a:r>
          </a:p>
          <a:p>
            <a:pPr algn="l"/>
            <a:r>
              <a:rPr sz="1100" b="0">
                <a:solidFill>
                  <a:srgbClr val="616161"/>
                </a:solidFill>
              </a:rPr>
              <a:t>Scale issues — elephant too close
  = just a wall of grey skin</a:t>
            </a:r>
          </a:p>
          <a:p>
            <a:pPr algn="l"/>
            <a:r>
              <a:rPr sz="1100" b="0">
                <a:solidFill>
                  <a:srgbClr val="616161"/>
                </a:solidFill>
              </a:rPr>
              <a:t>Half-body shots — not enough
  stripe data to identify individual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5715000"/>
            <a:ext cx="12188952" cy="5943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576072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Every one of these challenges is addressed explicitly in the TRACE preprocessing and filtering pipeline.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Our Solution: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21792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0CAF9"/>
                </a:solidFill>
              </a:rPr>
              <a:t>3 specialised models — industry best practice for complex AI problems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143000"/>
            <a:ext cx="11640312" cy="56692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1188720"/>
            <a:ext cx="113385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One big model trying to do everything fails badly. We build 3 focused models, each solving one problem precisely.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874519"/>
            <a:ext cx="3749039" cy="4572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" y="1901952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MODEL 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63040" y="1874519"/>
            <a:ext cx="2468880" cy="457200"/>
          </a:xfrm>
          <a:prstGeom prst="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36192" y="19202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Challenge Solved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" y="2395728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2B55"/>
                </a:solidFill>
              </a:rPr>
              <a:t>Image Triage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944368"/>
            <a:ext cx="3749039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79" y="303580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B55"/>
                </a:solidFill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79" y="3419856"/>
            <a:ext cx="3474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16161"/>
                </a:solidFill>
              </a:rPr>
              <a:t>Rejects unusable images BEFORE
any ML processing runs</a:t>
            </a:r>
          </a:p>
          <a:p>
            <a:pPr algn="l"/>
            <a:r>
              <a:rPr sz="1100" b="0">
                <a:solidFill>
                  <a:srgbClr val="616161"/>
                </a:solidFill>
              </a:rPr>
              <a:t>4 quality buckets:
  Clean / Partial / Unusable / False Positive</a:t>
            </a:r>
          </a:p>
          <a:p>
            <a:pPr algn="l"/>
            <a:r>
              <a:rPr sz="1100" b="0">
                <a:solidFill>
                  <a:srgbClr val="616161"/>
                </a:solidFill>
              </a:rPr>
              <a:t>Handles: fog, blur, whiteout,
  blackout, empty frames</a:t>
            </a:r>
          </a:p>
          <a:p>
            <a:pPr algn="l"/>
            <a:r>
              <a:rPr sz="1100" b="0">
                <a:solidFill>
                  <a:srgbClr val="616161"/>
                </a:solidFill>
              </a:rPr>
              <a:t>Algorithm: MobileNetV2
  (fast, lightweight classifier)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51959" y="1874519"/>
            <a:ext cx="3749039" cy="45720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25112" y="1901952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MODEL 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40679" y="1874519"/>
            <a:ext cx="2468880" cy="457200"/>
          </a:xfrm>
          <a:prstGeom prst="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13831" y="19202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Core Deliverable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25112" y="2395728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4F8A"/>
                </a:solidFill>
              </a:rPr>
              <a:t>Tiger Detection
&amp; Counting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51959" y="2944368"/>
            <a:ext cx="3749039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9120" y="303580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B55"/>
                </a:solidFill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3419856"/>
            <a:ext cx="3474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16161"/>
                </a:solidFill>
              </a:rPr>
              <a:t>Detects ALL tigers in each frame</a:t>
            </a:r>
          </a:p>
          <a:p>
            <a:pPr algn="l"/>
            <a:r>
              <a:rPr sz="1100" b="0">
                <a:solidFill>
                  <a:srgbClr val="616161"/>
                </a:solidFill>
              </a:rPr>
              <a:t>Draws bounding boxes around
  each individual tiger body</a:t>
            </a:r>
          </a:p>
          <a:p>
            <a:pPr algn="l"/>
            <a:r>
              <a:rPr sz="1100" b="0">
                <a:solidFill>
                  <a:srgbClr val="616161"/>
                </a:solidFill>
              </a:rPr>
              <a:t>Counts tigers per image accurately</a:t>
            </a:r>
          </a:p>
          <a:p>
            <a:pPr algn="l"/>
            <a:r>
              <a:rPr sz="1100" b="0">
                <a:solidFill>
                  <a:srgbClr val="616161"/>
                </a:solidFill>
              </a:rPr>
              <a:t>Handles: multiple tigers, partial
  bodies, other animals</a:t>
            </a:r>
          </a:p>
          <a:p>
            <a:pPr algn="l"/>
            <a:r>
              <a:rPr sz="1100" b="0">
                <a:solidFill>
                  <a:srgbClr val="616161"/>
                </a:solidFill>
              </a:rPr>
              <a:t>Algorithm: YOLOv8 (fine-tuned
  on tiger-labelled data)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1874519"/>
            <a:ext cx="3749039" cy="4572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02752" y="1901952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MODEL 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418320" y="1874519"/>
            <a:ext cx="2468880" cy="457200"/>
          </a:xfrm>
          <a:prstGeom prst="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91472" y="192024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Core Deliverable 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02752" y="2395728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65100"/>
                </a:solidFill>
              </a:rPr>
              <a:t>Individual ID
&amp; Classification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29600" y="2944368"/>
            <a:ext cx="3749039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66760" y="303580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2B55"/>
                </a:solidFill>
              </a:rPr>
              <a:t/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6760" y="3419856"/>
            <a:ext cx="3474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16161"/>
                </a:solidFill>
              </a:rPr>
              <a:t>Identifies WHICH tiger is in frame
  using stripe fingerprint</a:t>
            </a:r>
          </a:p>
          <a:p>
            <a:pPr algn="l"/>
            <a:r>
              <a:rPr sz="1100" b="0">
                <a:solidFill>
                  <a:srgbClr val="616161"/>
                </a:solidFill>
              </a:rPr>
              <a:t>Classifies tiger TYPE:
  Orange / White / Golden / Black</a:t>
            </a:r>
          </a:p>
          <a:p>
            <a:pPr algn="l"/>
            <a:r>
              <a:rPr sz="1100" b="0">
                <a:solidFill>
                  <a:srgbClr val="616161"/>
                </a:solidFill>
              </a:rPr>
              <a:t>Classifies subspecies:
  Bengal / Sumatran / Siberian</a:t>
            </a:r>
          </a:p>
          <a:p>
            <a:pPr algn="l"/>
            <a:r>
              <a:rPr sz="1100" b="0">
                <a:solidFill>
                  <a:srgbClr val="616161"/>
                </a:solidFill>
              </a:rPr>
              <a:t>2048-dim ResNet50 embedding
  + cosine similarity matching</a:t>
            </a:r>
          </a:p>
          <a:p>
            <a:pPr algn="l"/>
            <a:r>
              <a:rPr sz="1100" b="0">
                <a:solidFill>
                  <a:srgbClr val="616161"/>
                </a:solidFill>
              </a:rPr>
              <a:t>Persistent database across
  all census sessions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5760720"/>
            <a:ext cx="12188952" cy="566928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5797296"/>
            <a:ext cx="11430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Output: Forest officials upload images → TRACE returns: tiger count + individual IDs + tiger types → CSV report. Zero manual effort.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Our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21792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0CAF9"/>
                </a:solidFill>
              </a:rPr>
              <a:t>3-Stage AI Pipeline — end to 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3383280" cy="9144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61872"/>
            <a:ext cx="3383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Stage 1
DETECTION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240280"/>
            <a:ext cx="2468880" cy="41148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249424"/>
            <a:ext cx="24688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YOLOv8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743200"/>
            <a:ext cx="338328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28346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2B55"/>
                </a:solidFill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218688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16161"/>
                </a:solidFill>
              </a:rPr>
              <a:t>Scans full image</a:t>
            </a:r>
          </a:p>
          <a:p>
            <a:pPr algn="l"/>
            <a:r>
              <a:rPr sz="1300" b="0">
                <a:solidFill>
                  <a:srgbClr val="616161"/>
                </a:solidFill>
              </a:rPr>
              <a:t>Draws bounding boxes</a:t>
            </a:r>
          </a:p>
          <a:p>
            <a:pPr algn="l"/>
            <a:r>
              <a:rPr sz="1300" b="0">
                <a:solidFill>
                  <a:srgbClr val="616161"/>
                </a:solidFill>
              </a:rPr>
              <a:t>Counts animals per frame</a:t>
            </a:r>
          </a:p>
          <a:p>
            <a:pPr algn="l"/>
            <a:r>
              <a:rPr sz="1300" b="0">
                <a:solidFill>
                  <a:srgbClr val="616161"/>
                </a:solidFill>
              </a:rPr>
              <a:t>Output: N crops + count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58768" y="1600200"/>
            <a:ext cx="320040" cy="2286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58768" y="157276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06240" y="1234440"/>
            <a:ext cx="3383280" cy="9144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06240" y="1261872"/>
            <a:ext cx="3383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Stage 2
FINGERPRINT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63440" y="2240280"/>
            <a:ext cx="2468880" cy="41148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63440" y="2249424"/>
            <a:ext cx="24688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ResNet50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06240" y="2743200"/>
            <a:ext cx="338328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43400" y="28346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2B55"/>
                </a:solidFill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3218688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16161"/>
                </a:solidFill>
              </a:rPr>
              <a:t>Takes each tiger crop</a:t>
            </a:r>
          </a:p>
          <a:p>
            <a:pPr algn="l"/>
            <a:r>
              <a:rPr sz="1300" b="0">
                <a:solidFill>
                  <a:srgbClr val="616161"/>
                </a:solidFill>
              </a:rPr>
              <a:t>50-layer deep CNN</a:t>
            </a:r>
          </a:p>
          <a:p>
            <a:pPr algn="l"/>
            <a:r>
              <a:rPr sz="1300" b="0">
                <a:solidFill>
                  <a:srgbClr val="616161"/>
                </a:solidFill>
              </a:rPr>
              <a:t>Extracts 2048-dim vector</a:t>
            </a:r>
          </a:p>
          <a:p>
            <a:pPr algn="l"/>
            <a:r>
              <a:rPr sz="1300" b="0">
                <a:solidFill>
                  <a:srgbClr val="616161"/>
                </a:solidFill>
              </a:rPr>
              <a:t>Output: Stripe fingerprint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07808" y="1600200"/>
            <a:ext cx="320040" cy="2286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07808" y="157276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55279" y="1234440"/>
            <a:ext cx="3383280" cy="9144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55279" y="1261872"/>
            <a:ext cx="33832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Stage 3
IDENTITY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12480" y="2240280"/>
            <a:ext cx="2468880" cy="41148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0" y="2249424"/>
            <a:ext cx="246888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Cosine
Similarity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55279" y="2743200"/>
            <a:ext cx="338328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92440" y="28346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2B55"/>
                </a:solidFill>
              </a:rPr>
              <a:t/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92440" y="3218688"/>
            <a:ext cx="31089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16161"/>
                </a:solidFill>
              </a:rPr>
              <a:t>Compares fingerprint</a:t>
            </a:r>
          </a:p>
          <a:p>
            <a:pPr algn="l"/>
            <a:r>
              <a:rPr sz="1300" b="0">
                <a:solidFill>
                  <a:srgbClr val="616161"/>
                </a:solidFill>
              </a:rPr>
              <a:t>Against tiger database</a:t>
            </a:r>
          </a:p>
          <a:p>
            <a:pPr algn="l"/>
            <a:r>
              <a:rPr sz="1300" b="0">
                <a:solidFill>
                  <a:srgbClr val="616161"/>
                </a:solidFill>
              </a:rPr>
              <a:t>Score ≥ 0.83 → known tiger</a:t>
            </a:r>
          </a:p>
          <a:p>
            <a:pPr algn="l"/>
            <a:r>
              <a:rPr sz="1300" b="0">
                <a:solidFill>
                  <a:srgbClr val="616161"/>
                </a:solidFill>
              </a:rPr>
              <a:t>Score &lt; 0.83 → new individual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Preprocessing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21792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0CAF9"/>
                </a:solidFill>
              </a:rPr>
              <a:t>Handling all Sundarbans field conditions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280160"/>
            <a:ext cx="2103120" cy="41148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3716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Raw Image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194560"/>
            <a:ext cx="19202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Camera trap JPG/PNG/WebP
Any size, day or night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95727" y="2926080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D2B55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06039" y="1280160"/>
            <a:ext cx="2103120" cy="411480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06039" y="13716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CLAHE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97479" y="2194560"/>
            <a:ext cx="19202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Contrast Limited Adaptive
Histogram Equalisation
Fixes: Night / low-light images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27448" y="2926080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D2B55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37759" y="1280160"/>
            <a:ext cx="2103120" cy="411480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37759" y="13716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Dark Channel
Prior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199" y="2194560"/>
            <a:ext cx="19202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Atmospheric light estimation
+ transmission map recovery
Fixes: Fog / haze / rain scatter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59167" y="2926080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D2B55"/>
                </a:solidFill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69479" y="1280160"/>
            <a:ext cx="2103120" cy="411480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69479" y="13716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Resize → CenterCrop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19" y="2194560"/>
            <a:ext cx="19202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Resize to 256px → CenterCrop 224px
Standard ImageNet preprocessing
Preserves aspect ratio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90888" y="2926080"/>
            <a:ext cx="20116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D2B55"/>
                </a:solidFill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601200" y="1280160"/>
            <a:ext cx="2103120" cy="41148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0" y="13716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Model Ready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0" y="2194560"/>
            <a:ext cx="19202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224×224×3 tensor
Normalised to ImageNet mean/std
Fed to ResNet50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5760720"/>
            <a:ext cx="12188952" cy="54864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5779008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16161"/>
                </a:solidFill>
              </a:rPr>
              <a:t>Sundarbans conditions: ~60-70% night images (CLAHE critical) | Heavy monsoon fog (Dehazing critical) | Camera angles vary (CenterCrop preserves tiger body)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21792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0CAF9"/>
                </a:solidFill>
              </a:rPr>
              <a:t>Tools and frameworks used in this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365760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280160"/>
            <a:ext cx="3657600" cy="41148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32588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Detection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755648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D2B55"/>
                </a:solidFill>
              </a:rPr>
              <a:t>YOLOv8n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17627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E65100"/>
                </a:solidFill>
              </a:rPr>
              <a:t>Ultralytics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542032"/>
            <a:ext cx="3474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16161"/>
                </a:solidFill>
              </a:rPr>
              <a:t>Object detection
+ counting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280160"/>
            <a:ext cx="365760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280160"/>
            <a:ext cx="3657600" cy="41148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132588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Feature Extractor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1755648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D2B55"/>
                </a:solidFill>
              </a:rPr>
              <a:t>ResNet50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17627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E65100"/>
                </a:solidFill>
              </a:rPr>
              <a:t>PyTorch /
TorchVision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542032"/>
            <a:ext cx="3474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16161"/>
                </a:solidFill>
              </a:rPr>
              <a:t>2048-dim stripe
fingerprint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1280160"/>
            <a:ext cx="365760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1280160"/>
            <a:ext cx="3657600" cy="41148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132588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Similarity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1755648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D2B55"/>
                </a:solidFill>
              </a:rPr>
              <a:t>Cosine Similarity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217627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E65100"/>
                </a:solidFill>
              </a:rPr>
              <a:t>scikit-learn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2542032"/>
            <a:ext cx="3474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16161"/>
                </a:solidFill>
              </a:rPr>
              <a:t>Individual tiger
identity match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657600"/>
            <a:ext cx="365760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3657600"/>
            <a:ext cx="3657600" cy="41148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370332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Image Ops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133087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D2B55"/>
                </a:solidFill>
              </a:rPr>
              <a:t>OpenCV + PIL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55371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E65100"/>
                </a:solidFill>
              </a:rPr>
              <a:t>cv2 / Pillow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919472"/>
            <a:ext cx="3474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16161"/>
                </a:solidFill>
              </a:rPr>
              <a:t>CLAHE, dehazing,
format handling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97680" y="3657600"/>
            <a:ext cx="365760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297680" y="3657600"/>
            <a:ext cx="3657600" cy="41148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0" y="370332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Data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20" y="4133087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D2B55"/>
                </a:solidFill>
              </a:rPr>
              <a:t>NumPy + Pandas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89120" y="455371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E65100"/>
                </a:solidFill>
              </a:rPr>
              <a:t>numpy / pandas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389120" y="4919472"/>
            <a:ext cx="3474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16161"/>
                </a:solidFill>
              </a:rPr>
              <a:t>Embeddings +
CSV reporting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29600" y="3657600"/>
            <a:ext cx="365760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229600" y="3657600"/>
            <a:ext cx="3657600" cy="41148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21040" y="370332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Persistence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21040" y="4133087"/>
            <a:ext cx="3474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D2B55"/>
                </a:solidFill>
              </a:rPr>
              <a:t>JSON Database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21040" y="455371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E65100"/>
                </a:solidFill>
              </a:rPr>
              <a:t>Built-in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21040" y="4919472"/>
            <a:ext cx="34747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16161"/>
                </a:solidFill>
              </a:rPr>
              <a:t>Tiger registry
across sessions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Pipeline Results — Sample Run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21792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0CAF9"/>
                </a:solidFill>
              </a:rPr>
              <a:t>Train split | 187 images | Sundarbans Tiger Reserve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347472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3474720" cy="73152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17319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0D2B55"/>
                </a:solidFill>
              </a:rPr>
              <a:t>187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6032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16161"/>
                </a:solidFill>
              </a:rPr>
              <a:t>Images
Processed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1280160"/>
            <a:ext cx="347472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06240" y="1280160"/>
            <a:ext cx="3474720" cy="73152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06240" y="1417319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0D2B55"/>
                </a:solidFill>
              </a:rPr>
              <a:t>154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256032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16161"/>
                </a:solidFill>
              </a:rPr>
              <a:t>Valid
Detections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55279" y="1280160"/>
            <a:ext cx="347472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955279" y="1280160"/>
            <a:ext cx="3474720" cy="73152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79" y="1417319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0D2B55"/>
                </a:solidFill>
              </a:rPr>
              <a:t>36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256032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16161"/>
                </a:solidFill>
              </a:rPr>
              <a:t>Filtered
(noise/partial)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749039"/>
            <a:ext cx="347472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3749039"/>
            <a:ext cx="3474720" cy="73152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388620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0D2B55"/>
                </a:solidFill>
              </a:rPr>
              <a:t>51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02920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16161"/>
                </a:solidFill>
              </a:rPr>
              <a:t>Unique Tigers
Identified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6240" y="3749039"/>
            <a:ext cx="347472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06240" y="3749039"/>
            <a:ext cx="3474720" cy="73152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06240" y="388620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0D2B55"/>
                </a:solidFill>
              </a:rPr>
              <a:t>103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06240" y="502920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16161"/>
                </a:solidFill>
              </a:rPr>
              <a:t>Recapture
Matches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55279" y="3749039"/>
            <a:ext cx="3474720" cy="2103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955279" y="3749039"/>
            <a:ext cx="3474720" cy="73152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955279" y="388620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0D2B55"/>
                </a:solidFill>
              </a:rPr>
              <a:t>2+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5279" y="502920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616161"/>
                </a:solidFill>
              </a:rPr>
              <a:t>Images with
Multiple Tigers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Key Finding: Why We Need a Tiger-Trained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21792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0CAF9"/>
                </a:solidFill>
              </a:rPr>
              <a:t>Stock YOLOv8 has no 'tiger' class — it uses the closest COCO match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5486400" cy="43891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8016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2B55"/>
                </a:solidFill>
              </a:rPr>
              <a:t>How Stock YOLO Labels Our Tigers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1097280" cy="5029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901952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Zebra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4208" y="1901952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12121"/>
                </a:solidFill>
              </a:rPr>
              <a:t>24 detections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901952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16161"/>
                </a:solidFill>
              </a:rPr>
              <a:t>Stripe pattern similarity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487168"/>
            <a:ext cx="1097280" cy="50292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560320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Bird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64208" y="2560320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12121"/>
                </a:solidFill>
              </a:rPr>
              <a:t>14 detections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560320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16161"/>
                </a:solidFill>
              </a:rPr>
              <a:t>Partial body / movement blur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145536"/>
            <a:ext cx="1097280" cy="502920"/>
          </a:xfrm>
          <a:prstGeom prst="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218688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Horse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4208" y="3218688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12121"/>
                </a:solidFill>
              </a:rPr>
              <a:t>5 detections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3218688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16161"/>
                </a:solidFill>
              </a:rPr>
              <a:t>Body size / posture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803904"/>
            <a:ext cx="1097280" cy="502920"/>
          </a:xfrm>
          <a:prstGeom prst="rect">
            <a:avLst/>
          </a:prstGeom>
          <a:solidFill>
            <a:srgbClr val="FF8F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877056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Giraffe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64208" y="3877056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12121"/>
                </a:solidFill>
              </a:rPr>
              <a:t>3 detections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877056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16161"/>
                </a:solidFill>
              </a:rPr>
              <a:t>Height / neck in frame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462272"/>
            <a:ext cx="1097280" cy="50292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4535424"/>
            <a:ext cx="1097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Cat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64208" y="4535424"/>
            <a:ext cx="1828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12121"/>
                </a:solidFill>
              </a:rPr>
              <a:t>3 detections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4535424"/>
            <a:ext cx="2103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16161"/>
                </a:solidFill>
              </a:rPr>
              <a:t>Body shape match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35040" y="1188720"/>
            <a:ext cx="5760720" cy="201168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72200" y="1261872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Why This Matters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72200" y="1719072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BDEFB"/>
                </a:solidFill>
              </a:rPr>
              <a:t>• Tigers detected as zebras = wrong class label</a:t>
            </a:r>
          </a:p>
          <a:p>
            <a:pPr algn="l"/>
            <a:r>
              <a:rPr sz="1300" b="0">
                <a:solidFill>
                  <a:srgbClr val="BBDEFB"/>
                </a:solidFill>
              </a:rPr>
              <a:t>• Many tigers MISSED entirely (no detection)</a:t>
            </a:r>
          </a:p>
          <a:p>
            <a:pPr algn="l"/>
            <a:r>
              <a:rPr sz="1300" b="0">
                <a:solidFill>
                  <a:srgbClr val="BBDEFB"/>
                </a:solidFill>
              </a:rPr>
              <a:t>• Pipeline still works — we don't filter by class</a:t>
            </a:r>
          </a:p>
          <a:p>
            <a:pPr algn="l"/>
            <a:r>
              <a:rPr sz="1300" b="0">
                <a:solidFill>
                  <a:srgbClr val="BBDEFB"/>
                </a:solidFill>
              </a:rPr>
              <a:t>• But missed detections = false negatives</a:t>
            </a:r>
          </a:p>
          <a:p>
            <a:pPr algn="l"/>
            <a:r>
              <a:rPr sz="1300" b="0">
                <a:solidFill>
                  <a:srgbClr val="BBDEFB"/>
                </a:solidFill>
              </a:rPr>
              <a:t>• FNR target: &lt; 5% — currently unmeasured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3337560"/>
            <a:ext cx="576072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72200" y="3401568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65100"/>
                </a:solidFill>
              </a:rPr>
              <a:t>The Fix — Phase 2 Day 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72200" y="3886200"/>
            <a:ext cx="54864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16161"/>
                </a:solidFill>
              </a:rPr>
              <a:t>Fine-tune YOLOv8 on labelled tiger images:</a:t>
            </a:r>
          </a:p>
          <a:p>
            <a:pPr algn="l"/>
            <a:r>
              <a:rPr sz="1300" b="0">
                <a:solidFill>
                  <a:srgbClr val="616161"/>
                </a:solidFill>
              </a:rPr>
              <a:t>• Annotate 100+ images using LabelImg</a:t>
            </a:r>
          </a:p>
          <a:p>
            <a:pPr algn="l"/>
            <a:r>
              <a:rPr sz="1300" b="0">
                <a:solidFill>
                  <a:srgbClr val="616161"/>
                </a:solidFill>
              </a:rPr>
              <a:t>• YOLO format: class_id cx cy w h (normalised)</a:t>
            </a:r>
          </a:p>
          <a:p>
            <a:pPr algn="l"/>
            <a:r>
              <a:rPr sz="1300" b="0">
                <a:solidFill>
                  <a:srgbClr val="616161"/>
                </a:solidFill>
              </a:rPr>
              <a:t>• Fine-tune YOLOv8m (medium) — 50 epochs</a:t>
            </a:r>
          </a:p>
          <a:p>
            <a:pPr algn="l"/>
            <a:r>
              <a:rPr sz="1300" b="0">
                <a:solidFill>
                  <a:srgbClr val="616161"/>
                </a:solidFill>
              </a:rPr>
              <a:t>• Expected: tiger detection accuracy &gt; 90%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5715000"/>
            <a:ext cx="11430000" cy="685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5760720"/>
            <a:ext cx="11155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16161"/>
                </a:solidFill>
              </a:rPr>
              <a:t>This finding is a feature, not a bug. It demonstrates exactly why domain-specific model training is required for wildlife AI — and validates the project's need.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Data Quality Filters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21792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0CAF9"/>
                </a:solidFill>
              </a:rPr>
              <a:t>Removing noise before identity matching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3657600" cy="59436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6187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Confidence Filter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847088"/>
            <a:ext cx="3657600" cy="384048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874519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4F8A"/>
                </a:solidFill>
              </a:rPr>
              <a:t>Threshold: 0.35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286000"/>
            <a:ext cx="36576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3774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2B55"/>
                </a:solidFill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761488"/>
            <a:ext cx="3383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16161"/>
                </a:solidFill>
              </a:rPr>
              <a:t>Removes squirrels, birds, background noise</a:t>
            </a:r>
          </a:p>
          <a:p>
            <a:pPr algn="l"/>
            <a:r>
              <a:rPr sz="1200" b="0">
                <a:solidFill>
                  <a:srgbClr val="616161"/>
                </a:solidFill>
              </a:rPr>
              <a:t>Weak detections = wrong animal or partial miss</a:t>
            </a:r>
          </a:p>
          <a:p>
            <a:pPr algn="l"/>
            <a:r>
              <a:rPr sz="1200" b="0">
                <a:solidFill>
                  <a:srgbClr val="616161"/>
                </a:solidFill>
              </a:rPr>
              <a:t>35 low-confidence detections removed this run</a:t>
            </a:r>
          </a:p>
          <a:p>
            <a:pPr algn="l"/>
            <a:r>
              <a:rPr sz="1200" b="0">
                <a:solidFill>
                  <a:srgbClr val="616161"/>
                </a:solidFill>
              </a:rPr>
              <a:t>Logged in CSV with exact confidence score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1234440"/>
            <a:ext cx="3657600" cy="59436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0" y="126187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Box Size Filter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1847088"/>
            <a:ext cx="3657600" cy="384048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1874519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65100"/>
                </a:solidFill>
              </a:rPr>
              <a:t>Min: 5% of frame area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0" y="2286000"/>
            <a:ext cx="36576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4840" y="23774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2B55"/>
                </a:solidFill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2761488"/>
            <a:ext cx="3383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16161"/>
                </a:solidFill>
              </a:rPr>
              <a:t>Removes tails, legs, edge clips</a:t>
            </a:r>
          </a:p>
          <a:p>
            <a:pPr algn="l"/>
            <a:r>
              <a:rPr sz="1200" b="0">
                <a:solidFill>
                  <a:srgbClr val="616161"/>
                </a:solidFill>
              </a:rPr>
              <a:t>Partial body → meaningless stripe embedding</a:t>
            </a:r>
          </a:p>
          <a:p>
            <a:pPr algn="l"/>
            <a:r>
              <a:rPr sz="1200" b="0">
                <a:solidFill>
                  <a:srgbClr val="616161"/>
                </a:solidFill>
              </a:rPr>
              <a:t>1 partial body removed this run</a:t>
            </a:r>
          </a:p>
          <a:p>
            <a:pPr algn="l"/>
            <a:r>
              <a:rPr sz="1200" b="0">
                <a:solidFill>
                  <a:srgbClr val="616161"/>
                </a:solidFill>
              </a:rPr>
              <a:t>Logged in CSV with % of frame coverage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1234440"/>
            <a:ext cx="3657600" cy="59436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126187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Degenerate Box Guard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0" y="1847088"/>
            <a:ext cx="3657600" cy="384048"/>
          </a:xfrm>
          <a:prstGeom prst="rect">
            <a:avLst/>
          </a:prstGeom>
          <a:solidFill>
            <a:srgbClr val="BBDE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0" y="1874519"/>
            <a:ext cx="3474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12121"/>
                </a:solidFill>
              </a:rPr>
              <a:t>crop.size == 0 check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2286000"/>
            <a:ext cx="36576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BBDE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66760" y="237744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2B55"/>
                </a:solidFill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2761488"/>
            <a:ext cx="33832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16161"/>
                </a:solidFill>
              </a:rPr>
              <a:t>Catches boxes at image boundary</a:t>
            </a:r>
          </a:p>
          <a:p>
            <a:pPr algn="l"/>
            <a:r>
              <a:rPr sz="1200" b="0">
                <a:solidFill>
                  <a:srgbClr val="616161"/>
                </a:solidFill>
              </a:rPr>
              <a:t>Prevents zero-dimension crop crash</a:t>
            </a:r>
          </a:p>
          <a:p>
            <a:pPr algn="l"/>
            <a:r>
              <a:rPr sz="1200" b="0">
                <a:solidFill>
                  <a:srgbClr val="616161"/>
                </a:solidFill>
              </a:rPr>
              <a:t>Silent skip — no database impact</a:t>
            </a:r>
          </a:p>
          <a:p>
            <a:pPr algn="l"/>
            <a:r>
              <a:rPr sz="1200" b="0">
                <a:solidFill>
                  <a:srgbClr val="616161"/>
                </a:solidFill>
              </a:rPr>
              <a:t>Defensive programming for edge cases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5715000"/>
            <a:ext cx="12188952" cy="59436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5760" y="5742432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Result: 190 raw detections → 36 filtered → 154 valid detections → 51 unique tiger identities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Known Limitations &amp; Planned Fixes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21792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0CAF9"/>
                </a:solidFill>
              </a:rPr>
              <a:t>Honest assessment — current state vs. target state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2560320" cy="4572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61872"/>
            <a:ext cx="237743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Limitation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1234440"/>
            <a:ext cx="3840480" cy="4572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08960" y="1261872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Current Impact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49440" y="1234440"/>
            <a:ext cx="5029200" cy="4572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79" y="1261872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Planned Fix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783080"/>
            <a:ext cx="256032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1856231"/>
            <a:ext cx="237743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Stock YOLO Model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1783080"/>
            <a:ext cx="384048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08960" y="1856231"/>
            <a:ext cx="3657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62828"/>
                </a:solidFill>
              </a:rPr>
              <a:t>Tigers labelled as zebra/cat. Unknown miss rate.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49440" y="1783080"/>
            <a:ext cx="50292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79" y="1856231"/>
            <a:ext cx="4846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4F8A"/>
                </a:solidFill>
              </a:rPr>
              <a:t>Fine-tune YOLOv8m on 100+ tiger-annotated images (Day 9)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651760"/>
            <a:ext cx="2560320" cy="8046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2724912"/>
            <a:ext cx="237743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Threshold Uncalibrated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2651760"/>
            <a:ext cx="3840480" cy="8046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08960" y="2724912"/>
            <a:ext cx="3657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62828"/>
                </a:solidFill>
              </a:rPr>
              <a:t>0.83 similarity threshold is not derived from data.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49440" y="2651760"/>
            <a:ext cx="5029200" cy="8046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40879" y="2724912"/>
            <a:ext cx="4846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4F8A"/>
                </a:solidFill>
              </a:rPr>
              <a:t>ROC curve analysis once ground truth labels exist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520439"/>
            <a:ext cx="256032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3593591"/>
            <a:ext cx="237743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No Ground Truth Labels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3520439"/>
            <a:ext cx="384048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08960" y="3593591"/>
            <a:ext cx="3657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62828"/>
                </a:solidFill>
              </a:rPr>
              <a:t>Cannot compute accuracy, FNR, or mAP yet.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949440" y="3520439"/>
            <a:ext cx="50292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40879" y="3593591"/>
            <a:ext cx="4846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4F8A"/>
                </a:solidFill>
              </a:rPr>
              <a:t>Annotate 50 images with known tiger IDs → confusion matrix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4389120"/>
            <a:ext cx="2560320" cy="8046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4462272"/>
            <a:ext cx="237743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Partial Bodies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017520" y="4389120"/>
            <a:ext cx="3840480" cy="8046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108960" y="4462272"/>
            <a:ext cx="3657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62828"/>
                </a:solidFill>
              </a:rPr>
              <a:t>Tails, legs still present in dataset — some may pass size filter.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949440" y="4389120"/>
            <a:ext cx="5029200" cy="80467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40879" y="4462272"/>
            <a:ext cx="4846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4F8A"/>
                </a:solidFill>
              </a:rPr>
              <a:t>Increase box size threshold after annotation review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5257800"/>
            <a:ext cx="256032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5330952"/>
            <a:ext cx="2377439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</a:rPr>
              <a:t>Scale Limitation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017520" y="5257800"/>
            <a:ext cx="384048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108960" y="5330952"/>
            <a:ext cx="36576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62828"/>
                </a:solidFill>
              </a:rPr>
              <a:t>JSON database will break at 1TB scale (slow load).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949440" y="5257800"/>
            <a:ext cx="5029200" cy="8046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040879" y="5330952"/>
            <a:ext cx="48463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4F8A"/>
                </a:solidFill>
              </a:rPr>
              <a:t>Replace with FAISS vector index for production deployment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914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Next Steps — Remaining 13 Days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621792"/>
            <a:ext cx="10058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0CAF9"/>
                </a:solidFill>
              </a:rPr>
              <a:t>Project Plan: Days 6–20 | Submission: June 10,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005840"/>
            <a:ext cx="12188952" cy="4572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3657600" cy="5029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35024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Day 6
Today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353312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YOLO Annotation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801367"/>
            <a:ext cx="3657600" cy="1783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874519"/>
            <a:ext cx="33832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16161"/>
                </a:solidFill>
              </a:rPr>
              <a:t>Annotate 100+ images using LabelImg
YOLO format bounding boxes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280160"/>
            <a:ext cx="3657600" cy="502920"/>
          </a:xfrm>
          <a:prstGeom prst="rect">
            <a:avLst/>
          </a:prstGeom>
          <a:solidFill>
            <a:srgbClr val="1A4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1335024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Day 7–8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40680" y="1353312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ResNet50 Training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1801367"/>
            <a:ext cx="3657600" cy="1783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40" y="1874519"/>
            <a:ext cx="33832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16161"/>
                </a:solidFill>
              </a:rPr>
              <a:t>Train detection model
Fine-tune + Grad-CAM heatmap validation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1280160"/>
            <a:ext cx="3657600" cy="50292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1335024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Day 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600" y="1353312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YOLOv8 Fine-Tune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1801367"/>
            <a:ext cx="3657600" cy="1783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60" y="1874519"/>
            <a:ext cx="33832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16161"/>
                </a:solidFill>
              </a:rPr>
              <a:t>Fine-tune on tiger annotations
Target: mAP@0.5 &gt; 0.75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703320"/>
            <a:ext cx="3657600" cy="502920"/>
          </a:xfrm>
          <a:prstGeom prst="rect">
            <a:avLst/>
          </a:prstGeom>
          <a:solidFill>
            <a:srgbClr val="1A2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758183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Day 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3776472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Individual ID Model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224528"/>
            <a:ext cx="3657600" cy="1783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4297680"/>
            <a:ext cx="33832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16161"/>
                </a:solidFill>
              </a:rPr>
              <a:t>Per-tiger labelled data
Embedding + t-SNE cluster validation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97680" y="3703320"/>
            <a:ext cx="3657600" cy="502920"/>
          </a:xfrm>
          <a:prstGeom prst="rect">
            <a:avLst/>
          </a:prstGeom>
          <a:solidFill>
            <a:srgbClr val="4A14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89120" y="3758183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Day 11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40680" y="3776472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Pipeline Integration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97680" y="4224528"/>
            <a:ext cx="3657600" cy="1783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34840" y="4297680"/>
            <a:ext cx="33832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16161"/>
                </a:solidFill>
              </a:rPr>
              <a:t>Connect all 3 stages end-to-end
Measure: &lt; 2 sec/image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9600" y="3703320"/>
            <a:ext cx="3657600" cy="50292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21040" y="3758183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Day 12–16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72600" y="3776472"/>
            <a:ext cx="2377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Evaluation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29600" y="4224528"/>
            <a:ext cx="3657600" cy="1783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66760" y="4297680"/>
            <a:ext cx="33832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16161"/>
                </a:solidFill>
              </a:rPr>
              <a:t>Confusion matrix, FNR, mAP
Conservation insights + error analysis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263640"/>
            <a:ext cx="12188952" cy="4572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629107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</a:rPr>
              <a:t>Days 17–20: Presentation build → Code cleanup → Final GitHub push → Submit June 10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88952" cy="54864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Conservation Impact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2560320" cy="16459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98448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E65100"/>
                </a:solidFill>
              </a:rPr>
              <a:t>500+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402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0CAF9"/>
                </a:solidFill>
              </a:rPr>
              <a:t>Bengal Tigers
in Sundarbans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1234440"/>
            <a:ext cx="2560320" cy="16459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1298448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E65100"/>
                </a:solidFill>
              </a:rPr>
              <a:t>1 TB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22402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0CAF9"/>
                </a:solidFill>
              </a:rPr>
              <a:t>Camera Trap
Images Available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234440"/>
            <a:ext cx="2560320" cy="16459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298448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E65100"/>
                </a:solidFill>
              </a:rPr>
              <a:t>Weeks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2402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0CAF9"/>
                </a:solidFill>
              </a:rPr>
              <a:t>Saved per
Census Cycle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052560" y="1234440"/>
            <a:ext cx="2560320" cy="1645920"/>
          </a:xfrm>
          <a:prstGeom prst="rect">
            <a:avLst/>
          </a:prstGeom>
          <a:solidFill>
            <a:srgbClr val="0D2B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0" y="1298448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E65100"/>
                </a:solidFill>
              </a:rPr>
              <a:t>India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22402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0CAF9"/>
                </a:solidFill>
              </a:rPr>
              <a:t>All Tiger Reserves
Deployment Potential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154680"/>
            <a:ext cx="54864" cy="64008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20040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FFFFFF"/>
                </a:solidFill>
              </a:rPr>
              <a:t>Every tiger not counted is a data point lost for conservation.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977640"/>
            <a:ext cx="54864" cy="64008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402336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FFFFFF"/>
                </a:solidFill>
              </a:rPr>
              <a:t>Every poaching event not detected is a tiger at risk.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800600"/>
            <a:ext cx="54864" cy="640080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84632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FFFFFF"/>
                </a:solidFill>
              </a:rPr>
              <a:t>AI does not get tired. AI does not miss an image.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5989320"/>
            <a:ext cx="12188952" cy="868680"/>
          </a:xfrm>
          <a:prstGeom prst="rect">
            <a:avLst/>
          </a:prstGeom>
          <a:solidFill>
            <a:srgbClr val="071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603504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0CAF9"/>
                </a:solidFill>
              </a:rPr>
              <a:t>Real-world partnership: Wildlife Department, Government of West Bengal  |  Contact: Mr. Anamitra Lahiri  |  Group 4, EPAIB Batch 05, IIM Lucknow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